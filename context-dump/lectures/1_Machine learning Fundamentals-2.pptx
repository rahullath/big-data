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1433" r:id="rId2"/>
    <p:sldId id="1434" r:id="rId3"/>
    <p:sldId id="1047" r:id="rId4"/>
    <p:sldId id="1048" r:id="rId5"/>
    <p:sldId id="1049" r:id="rId6"/>
    <p:sldId id="1050" r:id="rId7"/>
    <p:sldId id="1051" r:id="rId8"/>
    <p:sldId id="1052" r:id="rId9"/>
    <p:sldId id="1053" r:id="rId10"/>
    <p:sldId id="1054" r:id="rId11"/>
    <p:sldId id="1055" r:id="rId12"/>
    <p:sldId id="1459" r:id="rId13"/>
    <p:sldId id="1451" r:id="rId14"/>
    <p:sldId id="1456" r:id="rId15"/>
    <p:sldId id="1452" r:id="rId16"/>
    <p:sldId id="1453" r:id="rId17"/>
    <p:sldId id="1458" r:id="rId18"/>
    <p:sldId id="1454" r:id="rId19"/>
    <p:sldId id="1440" r:id="rId20"/>
    <p:sldId id="1082" r:id="rId21"/>
    <p:sldId id="1085" r:id="rId22"/>
    <p:sldId id="1430" r:id="rId23"/>
    <p:sldId id="1084" r:id="rId24"/>
    <p:sldId id="289" r:id="rId25"/>
    <p:sldId id="1086" r:id="rId26"/>
    <p:sldId id="1087" r:id="rId27"/>
    <p:sldId id="292" r:id="rId28"/>
    <p:sldId id="294" r:id="rId29"/>
    <p:sldId id="1089" r:id="rId30"/>
    <p:sldId id="1088" r:id="rId31"/>
    <p:sldId id="1431" r:id="rId32"/>
    <p:sldId id="1427" r:id="rId33"/>
    <p:sldId id="1428" r:id="rId34"/>
    <p:sldId id="1164" r:id="rId35"/>
    <p:sldId id="1179" r:id="rId36"/>
    <p:sldId id="1180" r:id="rId37"/>
    <p:sldId id="1181" r:id="rId38"/>
    <p:sldId id="1182" r:id="rId39"/>
    <p:sldId id="1183" r:id="rId40"/>
    <p:sldId id="1184" r:id="rId41"/>
    <p:sldId id="1185" r:id="rId42"/>
    <p:sldId id="1186" r:id="rId43"/>
    <p:sldId id="1187" r:id="rId44"/>
    <p:sldId id="1188" r:id="rId45"/>
    <p:sldId id="1189" r:id="rId46"/>
    <p:sldId id="1190" r:id="rId47"/>
    <p:sldId id="1192" r:id="rId48"/>
    <p:sldId id="1193" r:id="rId49"/>
    <p:sldId id="1194" r:id="rId50"/>
    <p:sldId id="1195" r:id="rId51"/>
    <p:sldId id="1196" r:id="rId52"/>
    <p:sldId id="1197" r:id="rId53"/>
    <p:sldId id="1198" r:id="rId54"/>
    <p:sldId id="1199" r:id="rId55"/>
    <p:sldId id="1200" r:id="rId56"/>
    <p:sldId id="1201" r:id="rId57"/>
    <p:sldId id="1202" r:id="rId58"/>
    <p:sldId id="1203" r:id="rId59"/>
    <p:sldId id="1204" r:id="rId60"/>
    <p:sldId id="1205" r:id="rId61"/>
    <p:sldId id="1206" r:id="rId62"/>
    <p:sldId id="1207" r:id="rId63"/>
    <p:sldId id="1208" r:id="rId64"/>
    <p:sldId id="1460" r:id="rId65"/>
    <p:sldId id="1448" r:id="rId66"/>
    <p:sldId id="1449" r:id="rId67"/>
    <p:sldId id="1450" r:id="rId68"/>
    <p:sldId id="266" r:id="rId69"/>
    <p:sldId id="259" r:id="rId70"/>
    <p:sldId id="258" r:id="rId71"/>
    <p:sldId id="260" r:id="rId72"/>
    <p:sldId id="261" r:id="rId73"/>
    <p:sldId id="262" r:id="rId74"/>
    <p:sldId id="263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864B7-2301-4AEA-AD71-7E7CA9287097}" v="5" dt="2026-03-04T21:08:42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mesh Acharjee (Cancer and Genomic Sciences)" userId="741ffd9d-c2e9-4fd9-a7c9-58f136dbe157" providerId="ADAL" clId="{79C5313B-F540-4B8D-BF48-6BFFABA0ED79}"/>
    <pc:docChg chg="addSld delSld modSld">
      <pc:chgData name="Animesh Acharjee (Cancer and Genomic Sciences)" userId="741ffd9d-c2e9-4fd9-a7c9-58f136dbe157" providerId="ADAL" clId="{79C5313B-F540-4B8D-BF48-6BFFABA0ED79}" dt="2026-03-04T21:08:42.958" v="32"/>
      <pc:docMkLst>
        <pc:docMk/>
      </pc:docMkLst>
      <pc:sldChg chg="add">
        <pc:chgData name="Animesh Acharjee (Cancer and Genomic Sciences)" userId="741ffd9d-c2e9-4fd9-a7c9-58f136dbe157" providerId="ADAL" clId="{79C5313B-F540-4B8D-BF48-6BFFABA0ED79}" dt="2026-03-04T21:08:42.958" v="32"/>
        <pc:sldMkLst>
          <pc:docMk/>
          <pc:sldMk cId="1145149721" sldId="258"/>
        </pc:sldMkLst>
      </pc:sldChg>
      <pc:sldChg chg="add">
        <pc:chgData name="Animesh Acharjee (Cancer and Genomic Sciences)" userId="741ffd9d-c2e9-4fd9-a7c9-58f136dbe157" providerId="ADAL" clId="{79C5313B-F540-4B8D-BF48-6BFFABA0ED79}" dt="2026-03-04T21:08:42.958" v="32"/>
        <pc:sldMkLst>
          <pc:docMk/>
          <pc:sldMk cId="1722238378" sldId="259"/>
        </pc:sldMkLst>
      </pc:sldChg>
      <pc:sldChg chg="add">
        <pc:chgData name="Animesh Acharjee (Cancer and Genomic Sciences)" userId="741ffd9d-c2e9-4fd9-a7c9-58f136dbe157" providerId="ADAL" clId="{79C5313B-F540-4B8D-BF48-6BFFABA0ED79}" dt="2026-03-04T21:08:42.958" v="32"/>
        <pc:sldMkLst>
          <pc:docMk/>
          <pc:sldMk cId="1617604787" sldId="260"/>
        </pc:sldMkLst>
      </pc:sldChg>
      <pc:sldChg chg="add">
        <pc:chgData name="Animesh Acharjee (Cancer and Genomic Sciences)" userId="741ffd9d-c2e9-4fd9-a7c9-58f136dbe157" providerId="ADAL" clId="{79C5313B-F540-4B8D-BF48-6BFFABA0ED79}" dt="2026-03-04T21:08:42.958" v="32"/>
        <pc:sldMkLst>
          <pc:docMk/>
          <pc:sldMk cId="4096149745" sldId="261"/>
        </pc:sldMkLst>
      </pc:sldChg>
      <pc:sldChg chg="add">
        <pc:chgData name="Animesh Acharjee (Cancer and Genomic Sciences)" userId="741ffd9d-c2e9-4fd9-a7c9-58f136dbe157" providerId="ADAL" clId="{79C5313B-F540-4B8D-BF48-6BFFABA0ED79}" dt="2026-03-04T21:08:42.958" v="32"/>
        <pc:sldMkLst>
          <pc:docMk/>
          <pc:sldMk cId="288261973" sldId="262"/>
        </pc:sldMkLst>
      </pc:sldChg>
      <pc:sldChg chg="add">
        <pc:chgData name="Animesh Acharjee (Cancer and Genomic Sciences)" userId="741ffd9d-c2e9-4fd9-a7c9-58f136dbe157" providerId="ADAL" clId="{79C5313B-F540-4B8D-BF48-6BFFABA0ED79}" dt="2026-03-04T21:08:42.958" v="32"/>
        <pc:sldMkLst>
          <pc:docMk/>
          <pc:sldMk cId="1211555440" sldId="263"/>
        </pc:sldMkLst>
      </pc:sldChg>
      <pc:sldChg chg="add">
        <pc:chgData name="Animesh Acharjee (Cancer and Genomic Sciences)" userId="741ffd9d-c2e9-4fd9-a7c9-58f136dbe157" providerId="ADAL" clId="{79C5313B-F540-4B8D-BF48-6BFFABA0ED79}" dt="2026-03-04T21:08:42.958" v="32"/>
        <pc:sldMkLst>
          <pc:docMk/>
          <pc:sldMk cId="933040549" sldId="266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893466692" sldId="1164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666426171" sldId="1179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061085950" sldId="1180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671325446" sldId="1181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747424226" sldId="1182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857044479" sldId="1183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687703915" sldId="1184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545409202" sldId="1185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559678235" sldId="1186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535486076" sldId="1187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089726318" sldId="1188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366509136" sldId="1189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45414378" sldId="1190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425516917" sldId="1192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936826458" sldId="1193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816350851" sldId="1194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223903284" sldId="1195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742389184" sldId="1196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124389279" sldId="1197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737477511" sldId="1198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221877961" sldId="1199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882583428" sldId="1200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880422495" sldId="1201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135419656" sldId="1202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4079021518" sldId="1203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118876251" sldId="1204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497762257" sldId="1205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039886160" sldId="1206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2340132385" sldId="1207"/>
        </pc:sldMkLst>
      </pc:sldChg>
      <pc:sldChg chg="add">
        <pc:chgData name="Animesh Acharjee (Cancer and Genomic Sciences)" userId="741ffd9d-c2e9-4fd9-a7c9-58f136dbe157" providerId="ADAL" clId="{79C5313B-F540-4B8D-BF48-6BFFABA0ED79}" dt="2026-03-04T21:06:30.062" v="17"/>
        <pc:sldMkLst>
          <pc:docMk/>
          <pc:sldMk cId="3824532668" sldId="1208"/>
        </pc:sldMkLst>
      </pc:sldChg>
      <pc:sldChg chg="add del">
        <pc:chgData name="Animesh Acharjee (Cancer and Genomic Sciences)" userId="741ffd9d-c2e9-4fd9-a7c9-58f136dbe157" providerId="ADAL" clId="{79C5313B-F540-4B8D-BF48-6BFFABA0ED79}" dt="2026-03-04T21:06:34.358" v="18" actId="47"/>
        <pc:sldMkLst>
          <pc:docMk/>
          <pc:sldMk cId="2715601650" sldId="1419"/>
        </pc:sldMkLst>
      </pc:sldChg>
      <pc:sldChg chg="del">
        <pc:chgData name="Animesh Acharjee (Cancer and Genomic Sciences)" userId="741ffd9d-c2e9-4fd9-a7c9-58f136dbe157" providerId="ADAL" clId="{79C5313B-F540-4B8D-BF48-6BFFABA0ED79}" dt="2026-03-04T21:05:37.896" v="14" actId="47"/>
        <pc:sldMkLst>
          <pc:docMk/>
          <pc:sldMk cId="932414729" sldId="1424"/>
        </pc:sldMkLst>
      </pc:sldChg>
      <pc:sldChg chg="del">
        <pc:chgData name="Animesh Acharjee (Cancer and Genomic Sciences)" userId="741ffd9d-c2e9-4fd9-a7c9-58f136dbe157" providerId="ADAL" clId="{79C5313B-F540-4B8D-BF48-6BFFABA0ED79}" dt="2026-03-04T21:05:37.298" v="13" actId="47"/>
        <pc:sldMkLst>
          <pc:docMk/>
          <pc:sldMk cId="1006698194" sldId="1426"/>
        </pc:sldMkLst>
      </pc:sldChg>
      <pc:sldChg chg="del">
        <pc:chgData name="Animesh Acharjee (Cancer and Genomic Sciences)" userId="741ffd9d-c2e9-4fd9-a7c9-58f136dbe157" providerId="ADAL" clId="{79C5313B-F540-4B8D-BF48-6BFFABA0ED79}" dt="2026-03-04T21:05:39.636" v="15" actId="2696"/>
        <pc:sldMkLst>
          <pc:docMk/>
          <pc:sldMk cId="984967167" sldId="1440"/>
        </pc:sldMkLst>
      </pc:sldChg>
      <pc:sldChg chg="add">
        <pc:chgData name="Animesh Acharjee (Cancer and Genomic Sciences)" userId="741ffd9d-c2e9-4fd9-a7c9-58f136dbe157" providerId="ADAL" clId="{79C5313B-F540-4B8D-BF48-6BFFABA0ED79}" dt="2026-03-04T21:05:48.008" v="16"/>
        <pc:sldMkLst>
          <pc:docMk/>
          <pc:sldMk cId="2944169278" sldId="1440"/>
        </pc:sldMkLst>
      </pc:sldChg>
      <pc:sldChg chg="add">
        <pc:chgData name="Animesh Acharjee (Cancer and Genomic Sciences)" userId="741ffd9d-c2e9-4fd9-a7c9-58f136dbe157" providerId="ADAL" clId="{79C5313B-F540-4B8D-BF48-6BFFABA0ED79}" dt="2026-03-04T21:07:36.408" v="19"/>
        <pc:sldMkLst>
          <pc:docMk/>
          <pc:sldMk cId="681231046" sldId="1448"/>
        </pc:sldMkLst>
      </pc:sldChg>
      <pc:sldChg chg="add">
        <pc:chgData name="Animesh Acharjee (Cancer and Genomic Sciences)" userId="741ffd9d-c2e9-4fd9-a7c9-58f136dbe157" providerId="ADAL" clId="{79C5313B-F540-4B8D-BF48-6BFFABA0ED79}" dt="2026-03-04T21:07:36.408" v="19"/>
        <pc:sldMkLst>
          <pc:docMk/>
          <pc:sldMk cId="2609160216" sldId="1449"/>
        </pc:sldMkLst>
      </pc:sldChg>
      <pc:sldChg chg="add">
        <pc:chgData name="Animesh Acharjee (Cancer and Genomic Sciences)" userId="741ffd9d-c2e9-4fd9-a7c9-58f136dbe157" providerId="ADAL" clId="{79C5313B-F540-4B8D-BF48-6BFFABA0ED79}" dt="2026-03-04T21:07:36.408" v="19"/>
        <pc:sldMkLst>
          <pc:docMk/>
          <pc:sldMk cId="741993914" sldId="1450"/>
        </pc:sldMkLst>
      </pc:sldChg>
      <pc:sldChg chg="add">
        <pc:chgData name="Animesh Acharjee (Cancer and Genomic Sciences)" userId="741ffd9d-c2e9-4fd9-a7c9-58f136dbe157" providerId="ADAL" clId="{79C5313B-F540-4B8D-BF48-6BFFABA0ED79}" dt="2026-03-04T21:04:40.304" v="0"/>
        <pc:sldMkLst>
          <pc:docMk/>
          <pc:sldMk cId="649588490" sldId="1451"/>
        </pc:sldMkLst>
      </pc:sldChg>
      <pc:sldChg chg="add">
        <pc:chgData name="Animesh Acharjee (Cancer and Genomic Sciences)" userId="741ffd9d-c2e9-4fd9-a7c9-58f136dbe157" providerId="ADAL" clId="{79C5313B-F540-4B8D-BF48-6BFFABA0ED79}" dt="2026-03-04T21:04:40.304" v="0"/>
        <pc:sldMkLst>
          <pc:docMk/>
          <pc:sldMk cId="2563203930" sldId="1452"/>
        </pc:sldMkLst>
      </pc:sldChg>
      <pc:sldChg chg="add">
        <pc:chgData name="Animesh Acharjee (Cancer and Genomic Sciences)" userId="741ffd9d-c2e9-4fd9-a7c9-58f136dbe157" providerId="ADAL" clId="{79C5313B-F540-4B8D-BF48-6BFFABA0ED79}" dt="2026-03-04T21:04:40.304" v="0"/>
        <pc:sldMkLst>
          <pc:docMk/>
          <pc:sldMk cId="665788116" sldId="1453"/>
        </pc:sldMkLst>
      </pc:sldChg>
      <pc:sldChg chg="add">
        <pc:chgData name="Animesh Acharjee (Cancer and Genomic Sciences)" userId="741ffd9d-c2e9-4fd9-a7c9-58f136dbe157" providerId="ADAL" clId="{79C5313B-F540-4B8D-BF48-6BFFABA0ED79}" dt="2026-03-04T21:04:40.304" v="0"/>
        <pc:sldMkLst>
          <pc:docMk/>
          <pc:sldMk cId="2322708820" sldId="1454"/>
        </pc:sldMkLst>
      </pc:sldChg>
      <pc:sldChg chg="add">
        <pc:chgData name="Animesh Acharjee (Cancer and Genomic Sciences)" userId="741ffd9d-c2e9-4fd9-a7c9-58f136dbe157" providerId="ADAL" clId="{79C5313B-F540-4B8D-BF48-6BFFABA0ED79}" dt="2026-03-04T21:04:40.304" v="0"/>
        <pc:sldMkLst>
          <pc:docMk/>
          <pc:sldMk cId="754958438" sldId="1456"/>
        </pc:sldMkLst>
      </pc:sldChg>
      <pc:sldChg chg="add">
        <pc:chgData name="Animesh Acharjee (Cancer and Genomic Sciences)" userId="741ffd9d-c2e9-4fd9-a7c9-58f136dbe157" providerId="ADAL" clId="{79C5313B-F540-4B8D-BF48-6BFFABA0ED79}" dt="2026-03-04T21:04:40.304" v="0"/>
        <pc:sldMkLst>
          <pc:docMk/>
          <pc:sldMk cId="2961555491" sldId="1458"/>
        </pc:sldMkLst>
      </pc:sldChg>
      <pc:sldChg chg="modSp new mod">
        <pc:chgData name="Animesh Acharjee (Cancer and Genomic Sciences)" userId="741ffd9d-c2e9-4fd9-a7c9-58f136dbe157" providerId="ADAL" clId="{79C5313B-F540-4B8D-BF48-6BFFABA0ED79}" dt="2026-03-04T21:05:06.927" v="12" actId="2711"/>
        <pc:sldMkLst>
          <pc:docMk/>
          <pc:sldMk cId="2223901805" sldId="1459"/>
        </pc:sldMkLst>
        <pc:spChg chg="mod">
          <ac:chgData name="Animesh Acharjee (Cancer and Genomic Sciences)" userId="741ffd9d-c2e9-4fd9-a7c9-58f136dbe157" providerId="ADAL" clId="{79C5313B-F540-4B8D-BF48-6BFFABA0ED79}" dt="2026-03-04T21:05:06.927" v="12" actId="2711"/>
          <ac:spMkLst>
            <pc:docMk/>
            <pc:sldMk cId="2223901805" sldId="1459"/>
            <ac:spMk id="2" creationId="{7ADFDA73-8669-9C7F-CA42-971855D45223}"/>
          </ac:spMkLst>
        </pc:spChg>
      </pc:sldChg>
      <pc:sldChg chg="modSp new mod">
        <pc:chgData name="Animesh Acharjee (Cancer and Genomic Sciences)" userId="741ffd9d-c2e9-4fd9-a7c9-58f136dbe157" providerId="ADAL" clId="{79C5313B-F540-4B8D-BF48-6BFFABA0ED79}" dt="2026-03-04T21:07:50.290" v="31" actId="113"/>
        <pc:sldMkLst>
          <pc:docMk/>
          <pc:sldMk cId="3187592366" sldId="1460"/>
        </pc:sldMkLst>
        <pc:spChg chg="mod">
          <ac:chgData name="Animesh Acharjee (Cancer and Genomic Sciences)" userId="741ffd9d-c2e9-4fd9-a7c9-58f136dbe157" providerId="ADAL" clId="{79C5313B-F540-4B8D-BF48-6BFFABA0ED79}" dt="2026-03-04T21:07:50.290" v="31" actId="113"/>
          <ac:spMkLst>
            <pc:docMk/>
            <pc:sldMk cId="3187592366" sldId="1460"/>
            <ac:spMk id="2" creationId="{3089FD9A-1F55-8475-DEB9-A603FCEA7A3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Sheet1!$E$2:$E$11</c:f>
              <c:numCache>
                <c:formatCode>General</c:formatCode>
                <c:ptCount val="10"/>
                <c:pt idx="0">
                  <c:v>3.4</c:v>
                </c:pt>
                <c:pt idx="1">
                  <c:v>4.0999999999999996</c:v>
                </c:pt>
                <c:pt idx="2">
                  <c:v>4.9000000000000004</c:v>
                </c:pt>
                <c:pt idx="3">
                  <c:v>5.3</c:v>
                </c:pt>
                <c:pt idx="4">
                  <c:v>6.5</c:v>
                </c:pt>
                <c:pt idx="5">
                  <c:v>6.8</c:v>
                </c:pt>
                <c:pt idx="6">
                  <c:v>7.8</c:v>
                </c:pt>
                <c:pt idx="7">
                  <c:v>8.1</c:v>
                </c:pt>
                <c:pt idx="8">
                  <c:v>8.1999999999999993</c:v>
                </c:pt>
                <c:pt idx="9">
                  <c:v>9.6999999999999993</c:v>
                </c:pt>
              </c:numCache>
            </c:numRef>
          </c:xVal>
          <c:yVal>
            <c:numRef>
              <c:f>Sheet1!$F$2:$F$11</c:f>
              <c:numCache>
                <c:formatCode>General</c:formatCode>
                <c:ptCount val="10"/>
                <c:pt idx="0">
                  <c:v>3.8</c:v>
                </c:pt>
                <c:pt idx="1">
                  <c:v>4.7</c:v>
                </c:pt>
                <c:pt idx="2">
                  <c:v>4.3</c:v>
                </c:pt>
                <c:pt idx="3">
                  <c:v>5.8</c:v>
                </c:pt>
                <c:pt idx="4">
                  <c:v>7</c:v>
                </c:pt>
                <c:pt idx="5">
                  <c:v>6.1</c:v>
                </c:pt>
                <c:pt idx="6">
                  <c:v>7.2</c:v>
                </c:pt>
                <c:pt idx="7">
                  <c:v>8.6999999999999993</c:v>
                </c:pt>
                <c:pt idx="8">
                  <c:v>7.3</c:v>
                </c:pt>
                <c:pt idx="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FF6-4FCC-814F-10CF1A018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4341528"/>
        <c:axId val="224343096"/>
      </c:scatterChart>
      <c:valAx>
        <c:axId val="2243415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400" b="1">
                    <a:solidFill>
                      <a:sysClr val="windowText" lastClr="000000"/>
                    </a:solidFill>
                  </a:rPr>
                  <a:t>Independent</a:t>
                </a:r>
                <a:r>
                  <a:rPr lang="en-GB" sz="1400" b="1" baseline="0">
                    <a:solidFill>
                      <a:sysClr val="windowText" lastClr="000000"/>
                    </a:solidFill>
                  </a:rPr>
                  <a:t> Variable (</a:t>
                </a:r>
                <a:r>
                  <a:rPr lang="en-GB" sz="1400" b="1">
                    <a:solidFill>
                      <a:sysClr val="windowText" lastClr="000000"/>
                    </a:solidFill>
                  </a:rPr>
                  <a:t>X)</a:t>
                </a:r>
                <a:r>
                  <a:rPr lang="en-GB" sz="1400" b="1" baseline="0">
                    <a:solidFill>
                      <a:sysClr val="windowText" lastClr="000000"/>
                    </a:solidFill>
                  </a:rPr>
                  <a:t> </a:t>
                </a:r>
                <a:endParaRPr lang="en-GB" sz="1400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4343096"/>
        <c:crosses val="autoZero"/>
        <c:crossBetween val="midCat"/>
      </c:valAx>
      <c:valAx>
        <c:axId val="22434309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400" b="1" dirty="0">
                    <a:solidFill>
                      <a:sysClr val="windowText" lastClr="000000"/>
                    </a:solidFill>
                  </a:rPr>
                  <a:t>Dependent</a:t>
                </a:r>
                <a:r>
                  <a:rPr lang="en-GB" sz="1400" b="1" baseline="0" dirty="0">
                    <a:solidFill>
                      <a:sysClr val="windowText" lastClr="000000"/>
                    </a:solidFill>
                  </a:rPr>
                  <a:t> Variable(y)</a:t>
                </a:r>
                <a:endParaRPr lang="en-GB" sz="1400" b="1" dirty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434152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Sheet1!$E$2:$E$11</c:f>
              <c:numCache>
                <c:formatCode>General</c:formatCode>
                <c:ptCount val="10"/>
                <c:pt idx="0">
                  <c:v>3.4</c:v>
                </c:pt>
                <c:pt idx="1">
                  <c:v>4.0999999999999996</c:v>
                </c:pt>
                <c:pt idx="2">
                  <c:v>4.9000000000000004</c:v>
                </c:pt>
                <c:pt idx="3">
                  <c:v>5.3</c:v>
                </c:pt>
                <c:pt idx="4">
                  <c:v>6.5</c:v>
                </c:pt>
                <c:pt idx="5">
                  <c:v>6.8</c:v>
                </c:pt>
                <c:pt idx="6">
                  <c:v>7.8</c:v>
                </c:pt>
                <c:pt idx="7">
                  <c:v>8.1</c:v>
                </c:pt>
                <c:pt idx="8">
                  <c:v>8.1999999999999993</c:v>
                </c:pt>
                <c:pt idx="9">
                  <c:v>9.6999999999999993</c:v>
                </c:pt>
              </c:numCache>
            </c:numRef>
          </c:xVal>
          <c:yVal>
            <c:numRef>
              <c:f>Sheet1!$F$2:$F$11</c:f>
              <c:numCache>
                <c:formatCode>General</c:formatCode>
                <c:ptCount val="10"/>
                <c:pt idx="0">
                  <c:v>3.8</c:v>
                </c:pt>
                <c:pt idx="1">
                  <c:v>4.7</c:v>
                </c:pt>
                <c:pt idx="2">
                  <c:v>4.3</c:v>
                </c:pt>
                <c:pt idx="3">
                  <c:v>5.8</c:v>
                </c:pt>
                <c:pt idx="4">
                  <c:v>7</c:v>
                </c:pt>
                <c:pt idx="5">
                  <c:v>6.1</c:v>
                </c:pt>
                <c:pt idx="6">
                  <c:v>7.2</c:v>
                </c:pt>
                <c:pt idx="7">
                  <c:v>8.6999999999999993</c:v>
                </c:pt>
                <c:pt idx="8">
                  <c:v>7.3</c:v>
                </c:pt>
                <c:pt idx="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3F3-4D34-A5DC-B2DB6B635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6072144"/>
        <c:axId val="226072928"/>
      </c:scatterChart>
      <c:valAx>
        <c:axId val="2260721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400" b="1" baseline="0" dirty="0">
                    <a:solidFill>
                      <a:sysClr val="windowText" lastClr="000000"/>
                    </a:solidFill>
                  </a:rPr>
                  <a:t>(</a:t>
                </a:r>
                <a:r>
                  <a:rPr lang="en-GB" sz="1400" b="1" dirty="0">
                    <a:solidFill>
                      <a:sysClr val="windowText" lastClr="000000"/>
                    </a:solidFill>
                  </a:rPr>
                  <a:t>X</a:t>
                </a:r>
                <a:r>
                  <a:rPr lang="en-GB" sz="1400" b="1" baseline="-25000" dirty="0">
                    <a:solidFill>
                      <a:sysClr val="windowText" lastClr="000000"/>
                    </a:solidFill>
                  </a:rPr>
                  <a:t>1</a:t>
                </a:r>
                <a:r>
                  <a:rPr lang="en-GB" sz="1400" b="1" dirty="0">
                    <a:solidFill>
                      <a:sysClr val="windowText" lastClr="000000"/>
                    </a:solidFill>
                  </a:rPr>
                  <a:t>)</a:t>
                </a:r>
                <a:r>
                  <a:rPr lang="en-GB" sz="1400" b="1" baseline="0" dirty="0">
                    <a:solidFill>
                      <a:sysClr val="windowText" lastClr="000000"/>
                    </a:solidFill>
                  </a:rPr>
                  <a:t> </a:t>
                </a:r>
                <a:endParaRPr lang="en-GB" sz="1400" b="1" dirty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072928"/>
        <c:crosses val="autoZero"/>
        <c:crossBetween val="midCat"/>
      </c:valAx>
      <c:valAx>
        <c:axId val="2260729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 dirty="0">
                    <a:solidFill>
                      <a:schemeClr val="tx1"/>
                    </a:solidFill>
                  </a:rPr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07214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31D9A-BB73-4012-87FD-85A349F9D66F}" type="doc">
      <dgm:prSet loTypeId="urn:microsoft.com/office/officeart/2005/8/layout/orgChart1" loCatId="hierarchy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6450B6E7-7CF2-4BD5-A8BC-65550E8EF0C3}">
      <dgm:prSet phldrT="[Text]" custT="1"/>
      <dgm:spPr/>
      <dgm:t>
        <a:bodyPr/>
        <a:lstStyle/>
        <a:p>
          <a:r>
            <a:rPr lang="en-GB" sz="2400" dirty="0">
              <a:latin typeface="Abadi" panose="020B0604020104020204" pitchFamily="34" charset="0"/>
            </a:rPr>
            <a:t>Machine learning methods</a:t>
          </a:r>
        </a:p>
      </dgm:t>
    </dgm:pt>
    <dgm:pt modelId="{4E5110BB-1019-4C4F-A5AE-31DA76EA1336}" type="parTrans" cxnId="{5E2F6803-9607-47F4-88A8-4F65597E9F7E}">
      <dgm:prSet/>
      <dgm:spPr/>
      <dgm:t>
        <a:bodyPr/>
        <a:lstStyle/>
        <a:p>
          <a:endParaRPr lang="en-GB"/>
        </a:p>
      </dgm:t>
    </dgm:pt>
    <dgm:pt modelId="{2D7B3271-352E-4235-9728-A978BBB4E8BC}" type="sibTrans" cxnId="{5E2F6803-9607-47F4-88A8-4F65597E9F7E}">
      <dgm:prSet/>
      <dgm:spPr/>
      <dgm:t>
        <a:bodyPr/>
        <a:lstStyle/>
        <a:p>
          <a:endParaRPr lang="en-GB"/>
        </a:p>
      </dgm:t>
    </dgm:pt>
    <dgm:pt modelId="{6219936C-01E5-4E03-8C77-48D95B5740FC}">
      <dgm:prSet phldrT="[Text]" custT="1"/>
      <dgm:spPr/>
      <dgm:t>
        <a:bodyPr/>
        <a:lstStyle/>
        <a:p>
          <a:pPr algn="ctr">
            <a:buNone/>
          </a:pPr>
          <a:endParaRPr lang="en-GB" sz="1800" dirty="0">
            <a:latin typeface="Abadi" panose="020B0604020104020204" pitchFamily="34" charset="0"/>
          </a:endParaRPr>
        </a:p>
        <a:p>
          <a:pPr algn="ctr">
            <a:buNone/>
          </a:pPr>
          <a:r>
            <a:rPr lang="en-GB" sz="1800" dirty="0">
              <a:solidFill>
                <a:srgbClr val="FF0000"/>
              </a:solidFill>
              <a:latin typeface="Abadi" panose="020B0604020104020204" pitchFamily="34" charset="0"/>
            </a:rPr>
            <a:t>Regularization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Abadi" panose="020B0604020104020204" pitchFamily="34" charset="0"/>
            </a:rPr>
            <a:t>LASSO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Abadi" panose="020B0604020104020204" pitchFamily="34" charset="0"/>
            </a:rPr>
            <a:t>Elastic Net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GB" sz="1800" dirty="0">
              <a:latin typeface="Abadi" panose="020B0604020104020204" pitchFamily="34" charset="0"/>
            </a:rPr>
            <a:t>Ridge</a:t>
          </a:r>
        </a:p>
        <a:p>
          <a:pPr algn="ctr">
            <a:buNone/>
          </a:pPr>
          <a:r>
            <a:rPr lang="en-GB" sz="1600" dirty="0"/>
            <a:t> </a:t>
          </a:r>
        </a:p>
      </dgm:t>
    </dgm:pt>
    <dgm:pt modelId="{76C23C45-CFA4-40FD-9D6B-6C361C2017A6}" type="parTrans" cxnId="{5A1A3001-8072-4835-A08B-E5322CBB660E}">
      <dgm:prSet/>
      <dgm:spPr/>
      <dgm:t>
        <a:bodyPr/>
        <a:lstStyle/>
        <a:p>
          <a:endParaRPr lang="en-GB"/>
        </a:p>
      </dgm:t>
    </dgm:pt>
    <dgm:pt modelId="{CBA3A2CB-01E8-44EF-9BB5-2A6E4761C238}" type="sibTrans" cxnId="{5A1A3001-8072-4835-A08B-E5322CBB660E}">
      <dgm:prSet/>
      <dgm:spPr/>
      <dgm:t>
        <a:bodyPr/>
        <a:lstStyle/>
        <a:p>
          <a:endParaRPr lang="en-GB"/>
        </a:p>
      </dgm:t>
    </dgm:pt>
    <dgm:pt modelId="{6B5320EB-D880-42E9-9C07-AA9B178E1B33}">
      <dgm:prSet phldrT="[Text]" custT="1"/>
      <dgm:spPr/>
      <dgm:t>
        <a:bodyPr/>
        <a:lstStyle/>
        <a:p>
          <a:r>
            <a:rPr lang="en-GB" sz="1800" dirty="0">
              <a:solidFill>
                <a:srgbClr val="FF0000"/>
              </a:solidFill>
              <a:latin typeface="Abadi" panose="020B0604020104020204" pitchFamily="34" charset="0"/>
            </a:rPr>
            <a:t>Decision tree</a:t>
          </a:r>
        </a:p>
        <a:p>
          <a:r>
            <a:rPr lang="en-GB" sz="1800" dirty="0">
              <a:latin typeface="Abadi" panose="020B0604020104020204" pitchFamily="34" charset="0"/>
            </a:rPr>
            <a:t>Random Forest </a:t>
          </a:r>
        </a:p>
        <a:p>
          <a:r>
            <a:rPr lang="en-GB" sz="1800" dirty="0" err="1">
              <a:latin typeface="Abadi" panose="020B0604020104020204" pitchFamily="34" charset="0"/>
            </a:rPr>
            <a:t>XGBoost</a:t>
          </a:r>
          <a:r>
            <a:rPr lang="en-GB" sz="1800" dirty="0">
              <a:latin typeface="Abadi" panose="020B0604020104020204" pitchFamily="34" charset="0"/>
            </a:rPr>
            <a:t> </a:t>
          </a:r>
        </a:p>
      </dgm:t>
    </dgm:pt>
    <dgm:pt modelId="{0F64C0DA-F157-45C3-984D-B77CAB20F86D}" type="parTrans" cxnId="{9EE1CAE8-FB47-4E3D-888C-99CDA57C6F1F}">
      <dgm:prSet/>
      <dgm:spPr/>
      <dgm:t>
        <a:bodyPr/>
        <a:lstStyle/>
        <a:p>
          <a:endParaRPr lang="en-GB"/>
        </a:p>
      </dgm:t>
    </dgm:pt>
    <dgm:pt modelId="{D128F8AD-DA6F-4A9E-A9FF-0D3AE02DDCF7}" type="sibTrans" cxnId="{9EE1CAE8-FB47-4E3D-888C-99CDA57C6F1F}">
      <dgm:prSet/>
      <dgm:spPr/>
      <dgm:t>
        <a:bodyPr/>
        <a:lstStyle/>
        <a:p>
          <a:endParaRPr lang="en-GB"/>
        </a:p>
      </dgm:t>
    </dgm:pt>
    <dgm:pt modelId="{8E9924AE-70F3-424C-BD67-FF6BE4F690CC}">
      <dgm:prSet phldrT="[Text]" custT="1"/>
      <dgm:spPr/>
      <dgm:t>
        <a:bodyPr/>
        <a:lstStyle/>
        <a:p>
          <a:r>
            <a:rPr lang="en-GB" sz="1800" dirty="0">
              <a:solidFill>
                <a:srgbClr val="FF0000"/>
              </a:solidFill>
              <a:latin typeface="Abadi" panose="020B0604020104020204" pitchFamily="34" charset="0"/>
            </a:rPr>
            <a:t>Kernel Based</a:t>
          </a:r>
        </a:p>
        <a:p>
          <a:r>
            <a:rPr lang="en-GB" sz="1800" dirty="0">
              <a:latin typeface="Abadi" panose="020B0604020104020204" pitchFamily="34" charset="0"/>
            </a:rPr>
            <a:t>SVM</a:t>
          </a:r>
        </a:p>
      </dgm:t>
    </dgm:pt>
    <dgm:pt modelId="{56EAA160-41FD-4A92-A678-A69B3DD2A2DD}" type="parTrans" cxnId="{3F360BBA-434A-4E5A-90D9-3C869682B588}">
      <dgm:prSet/>
      <dgm:spPr/>
      <dgm:t>
        <a:bodyPr/>
        <a:lstStyle/>
        <a:p>
          <a:endParaRPr lang="en-GB"/>
        </a:p>
      </dgm:t>
    </dgm:pt>
    <dgm:pt modelId="{EE0848EF-1B9A-4D42-9DC4-1C8A113CA28D}" type="sibTrans" cxnId="{3F360BBA-434A-4E5A-90D9-3C869682B588}">
      <dgm:prSet/>
      <dgm:spPr/>
      <dgm:t>
        <a:bodyPr/>
        <a:lstStyle/>
        <a:p>
          <a:endParaRPr lang="en-GB"/>
        </a:p>
      </dgm:t>
    </dgm:pt>
    <dgm:pt modelId="{75068E3C-1E0A-4F20-A5E4-1928D7EC44F6}">
      <dgm:prSet phldrT="[Text]" custT="1"/>
      <dgm:spPr/>
      <dgm:t>
        <a:bodyPr/>
        <a:lstStyle/>
        <a:p>
          <a:r>
            <a:rPr lang="en-GB" sz="1800" dirty="0">
              <a:solidFill>
                <a:srgbClr val="FF0000"/>
              </a:solidFill>
              <a:latin typeface="Abadi" panose="020B0604020104020204" pitchFamily="34" charset="0"/>
            </a:rPr>
            <a:t>Neural Network based</a:t>
          </a:r>
        </a:p>
        <a:p>
          <a:r>
            <a:rPr lang="en-GB" sz="1800" dirty="0">
              <a:latin typeface="Abadi" panose="020B0604020104020204" pitchFamily="34" charset="0"/>
            </a:rPr>
            <a:t>ANN</a:t>
          </a:r>
        </a:p>
        <a:p>
          <a:r>
            <a:rPr lang="en-GB" sz="1800" dirty="0">
              <a:latin typeface="Abadi" panose="020B0604020104020204" pitchFamily="34" charset="0"/>
            </a:rPr>
            <a:t>Deep learning </a:t>
          </a:r>
        </a:p>
        <a:p>
          <a:r>
            <a:rPr lang="en-GB" sz="1800" dirty="0">
              <a:latin typeface="Abadi" panose="020B0604020104020204" pitchFamily="34" charset="0"/>
            </a:rPr>
            <a:t>LSTM </a:t>
          </a:r>
        </a:p>
      </dgm:t>
    </dgm:pt>
    <dgm:pt modelId="{65C80777-C28B-4706-A6D2-2A92D68FB1EE}" type="parTrans" cxnId="{FAF9257C-28BA-4030-904B-6004E0E4512F}">
      <dgm:prSet/>
      <dgm:spPr/>
      <dgm:t>
        <a:bodyPr/>
        <a:lstStyle/>
        <a:p>
          <a:endParaRPr lang="en-GB"/>
        </a:p>
      </dgm:t>
    </dgm:pt>
    <dgm:pt modelId="{20D056E5-1C39-4184-83C8-6344437C5D7E}" type="sibTrans" cxnId="{FAF9257C-28BA-4030-904B-6004E0E4512F}">
      <dgm:prSet/>
      <dgm:spPr/>
      <dgm:t>
        <a:bodyPr/>
        <a:lstStyle/>
        <a:p>
          <a:endParaRPr lang="en-GB"/>
        </a:p>
      </dgm:t>
    </dgm:pt>
    <dgm:pt modelId="{9362B65E-B104-4189-BA7B-4AF63640F0B4}" type="pres">
      <dgm:prSet presAssocID="{CB931D9A-BB73-4012-87FD-85A349F9D6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1D1AB36-06E6-462F-9B7D-DE5F5617C685}" type="pres">
      <dgm:prSet presAssocID="{6450B6E7-7CF2-4BD5-A8BC-65550E8EF0C3}" presName="hierRoot1" presStyleCnt="0">
        <dgm:presLayoutVars>
          <dgm:hierBranch val="init"/>
        </dgm:presLayoutVars>
      </dgm:prSet>
      <dgm:spPr/>
    </dgm:pt>
    <dgm:pt modelId="{E1A94AF8-3A80-452F-BB96-5729FC64C116}" type="pres">
      <dgm:prSet presAssocID="{6450B6E7-7CF2-4BD5-A8BC-65550E8EF0C3}" presName="rootComposite1" presStyleCnt="0"/>
      <dgm:spPr/>
    </dgm:pt>
    <dgm:pt modelId="{61AE04A0-B44B-41B1-B533-B907F2FFD5BB}" type="pres">
      <dgm:prSet presAssocID="{6450B6E7-7CF2-4BD5-A8BC-65550E8EF0C3}" presName="rootText1" presStyleLbl="node0" presStyleIdx="0" presStyleCnt="1">
        <dgm:presLayoutVars>
          <dgm:chPref val="3"/>
        </dgm:presLayoutVars>
      </dgm:prSet>
      <dgm:spPr/>
    </dgm:pt>
    <dgm:pt modelId="{5DE89BB1-56AA-4059-82A8-4BEE28145EAB}" type="pres">
      <dgm:prSet presAssocID="{6450B6E7-7CF2-4BD5-A8BC-65550E8EF0C3}" presName="rootConnector1" presStyleLbl="node1" presStyleIdx="0" presStyleCnt="0"/>
      <dgm:spPr/>
    </dgm:pt>
    <dgm:pt modelId="{D03F1031-C0C5-4B26-B036-621FF9E532AC}" type="pres">
      <dgm:prSet presAssocID="{6450B6E7-7CF2-4BD5-A8BC-65550E8EF0C3}" presName="hierChild2" presStyleCnt="0"/>
      <dgm:spPr/>
    </dgm:pt>
    <dgm:pt modelId="{82E8D05C-71CD-49B3-914A-BC01B0859463}" type="pres">
      <dgm:prSet presAssocID="{76C23C45-CFA4-40FD-9D6B-6C361C2017A6}" presName="Name37" presStyleLbl="parChTrans1D2" presStyleIdx="0" presStyleCnt="4"/>
      <dgm:spPr/>
    </dgm:pt>
    <dgm:pt modelId="{B7B9221C-B178-4842-B28F-B966B56C951C}" type="pres">
      <dgm:prSet presAssocID="{6219936C-01E5-4E03-8C77-48D95B5740FC}" presName="hierRoot2" presStyleCnt="0">
        <dgm:presLayoutVars>
          <dgm:hierBranch val="init"/>
        </dgm:presLayoutVars>
      </dgm:prSet>
      <dgm:spPr/>
    </dgm:pt>
    <dgm:pt modelId="{A093FBE0-221F-4FAB-B1BC-E160E8D7D5A2}" type="pres">
      <dgm:prSet presAssocID="{6219936C-01E5-4E03-8C77-48D95B5740FC}" presName="rootComposite" presStyleCnt="0"/>
      <dgm:spPr/>
    </dgm:pt>
    <dgm:pt modelId="{B41CBAF2-9D15-42EB-97EA-21F13B2C0777}" type="pres">
      <dgm:prSet presAssocID="{6219936C-01E5-4E03-8C77-48D95B5740FC}" presName="rootText" presStyleLbl="node2" presStyleIdx="0" presStyleCnt="4" custScaleY="127674">
        <dgm:presLayoutVars>
          <dgm:chPref val="3"/>
        </dgm:presLayoutVars>
      </dgm:prSet>
      <dgm:spPr/>
    </dgm:pt>
    <dgm:pt modelId="{103422B0-4E05-4D2A-9AFC-0B486B48C77D}" type="pres">
      <dgm:prSet presAssocID="{6219936C-01E5-4E03-8C77-48D95B5740FC}" presName="rootConnector" presStyleLbl="node2" presStyleIdx="0" presStyleCnt="4"/>
      <dgm:spPr/>
    </dgm:pt>
    <dgm:pt modelId="{4A2F4521-FDF7-4282-BBA3-EE1DFF9E995F}" type="pres">
      <dgm:prSet presAssocID="{6219936C-01E5-4E03-8C77-48D95B5740FC}" presName="hierChild4" presStyleCnt="0"/>
      <dgm:spPr/>
    </dgm:pt>
    <dgm:pt modelId="{A2D84EA5-F0D3-4C20-AE3B-A96D5726980F}" type="pres">
      <dgm:prSet presAssocID="{6219936C-01E5-4E03-8C77-48D95B5740FC}" presName="hierChild5" presStyleCnt="0"/>
      <dgm:spPr/>
    </dgm:pt>
    <dgm:pt modelId="{160389C1-0D45-4E6E-9C3F-37D7893DAFC3}" type="pres">
      <dgm:prSet presAssocID="{0F64C0DA-F157-45C3-984D-B77CAB20F86D}" presName="Name37" presStyleLbl="parChTrans1D2" presStyleIdx="1" presStyleCnt="4"/>
      <dgm:spPr/>
    </dgm:pt>
    <dgm:pt modelId="{FF62818D-B868-4741-81E3-C67E5240BC0D}" type="pres">
      <dgm:prSet presAssocID="{6B5320EB-D880-42E9-9C07-AA9B178E1B33}" presName="hierRoot2" presStyleCnt="0">
        <dgm:presLayoutVars>
          <dgm:hierBranch val="init"/>
        </dgm:presLayoutVars>
      </dgm:prSet>
      <dgm:spPr/>
    </dgm:pt>
    <dgm:pt modelId="{9078C799-94A7-4273-AECD-8C2835DA1DB9}" type="pres">
      <dgm:prSet presAssocID="{6B5320EB-D880-42E9-9C07-AA9B178E1B33}" presName="rootComposite" presStyleCnt="0"/>
      <dgm:spPr/>
    </dgm:pt>
    <dgm:pt modelId="{B6AFBDD3-ED1B-414C-B338-A84FC14B3247}" type="pres">
      <dgm:prSet presAssocID="{6B5320EB-D880-42E9-9C07-AA9B178E1B33}" presName="rootText" presStyleLbl="node2" presStyleIdx="1" presStyleCnt="4">
        <dgm:presLayoutVars>
          <dgm:chPref val="3"/>
        </dgm:presLayoutVars>
      </dgm:prSet>
      <dgm:spPr/>
    </dgm:pt>
    <dgm:pt modelId="{2C6503C3-13FD-4CFD-BC38-F827F95E2C30}" type="pres">
      <dgm:prSet presAssocID="{6B5320EB-D880-42E9-9C07-AA9B178E1B33}" presName="rootConnector" presStyleLbl="node2" presStyleIdx="1" presStyleCnt="4"/>
      <dgm:spPr/>
    </dgm:pt>
    <dgm:pt modelId="{3EFAF44E-18E7-4C28-A0C4-E10626D885AE}" type="pres">
      <dgm:prSet presAssocID="{6B5320EB-D880-42E9-9C07-AA9B178E1B33}" presName="hierChild4" presStyleCnt="0"/>
      <dgm:spPr/>
    </dgm:pt>
    <dgm:pt modelId="{CBB95CD6-F001-4CC1-9389-D18529A9BB25}" type="pres">
      <dgm:prSet presAssocID="{6B5320EB-D880-42E9-9C07-AA9B178E1B33}" presName="hierChild5" presStyleCnt="0"/>
      <dgm:spPr/>
    </dgm:pt>
    <dgm:pt modelId="{9C13B5A4-4194-465F-9199-D0453724504B}" type="pres">
      <dgm:prSet presAssocID="{56EAA160-41FD-4A92-A678-A69B3DD2A2DD}" presName="Name37" presStyleLbl="parChTrans1D2" presStyleIdx="2" presStyleCnt="4"/>
      <dgm:spPr/>
    </dgm:pt>
    <dgm:pt modelId="{7F02932C-7035-4160-ABD0-5D51493C2E64}" type="pres">
      <dgm:prSet presAssocID="{8E9924AE-70F3-424C-BD67-FF6BE4F690CC}" presName="hierRoot2" presStyleCnt="0">
        <dgm:presLayoutVars>
          <dgm:hierBranch val="init"/>
        </dgm:presLayoutVars>
      </dgm:prSet>
      <dgm:spPr/>
    </dgm:pt>
    <dgm:pt modelId="{AE72AAAB-AB94-4FDD-A59C-F306B21305F2}" type="pres">
      <dgm:prSet presAssocID="{8E9924AE-70F3-424C-BD67-FF6BE4F690CC}" presName="rootComposite" presStyleCnt="0"/>
      <dgm:spPr/>
    </dgm:pt>
    <dgm:pt modelId="{B5C51D1C-228A-4B23-9361-D717B6A7152B}" type="pres">
      <dgm:prSet presAssocID="{8E9924AE-70F3-424C-BD67-FF6BE4F690CC}" presName="rootText" presStyleLbl="node2" presStyleIdx="2" presStyleCnt="4">
        <dgm:presLayoutVars>
          <dgm:chPref val="3"/>
        </dgm:presLayoutVars>
      </dgm:prSet>
      <dgm:spPr/>
    </dgm:pt>
    <dgm:pt modelId="{96C113FB-7DE5-410A-A127-482B83578894}" type="pres">
      <dgm:prSet presAssocID="{8E9924AE-70F3-424C-BD67-FF6BE4F690CC}" presName="rootConnector" presStyleLbl="node2" presStyleIdx="2" presStyleCnt="4"/>
      <dgm:spPr/>
    </dgm:pt>
    <dgm:pt modelId="{BD9C68AD-1DAF-46BD-93AD-24F72103DAA0}" type="pres">
      <dgm:prSet presAssocID="{8E9924AE-70F3-424C-BD67-FF6BE4F690CC}" presName="hierChild4" presStyleCnt="0"/>
      <dgm:spPr/>
    </dgm:pt>
    <dgm:pt modelId="{819FC781-7A2C-4381-9740-E846516DDF28}" type="pres">
      <dgm:prSet presAssocID="{8E9924AE-70F3-424C-BD67-FF6BE4F690CC}" presName="hierChild5" presStyleCnt="0"/>
      <dgm:spPr/>
    </dgm:pt>
    <dgm:pt modelId="{AFBCA6E8-2694-43B3-A087-A8AC6BBBF5FE}" type="pres">
      <dgm:prSet presAssocID="{65C80777-C28B-4706-A6D2-2A92D68FB1EE}" presName="Name37" presStyleLbl="parChTrans1D2" presStyleIdx="3" presStyleCnt="4"/>
      <dgm:spPr/>
    </dgm:pt>
    <dgm:pt modelId="{82641FC6-C0E8-4FA9-A04B-3A2E256B911C}" type="pres">
      <dgm:prSet presAssocID="{75068E3C-1E0A-4F20-A5E4-1928D7EC44F6}" presName="hierRoot2" presStyleCnt="0">
        <dgm:presLayoutVars>
          <dgm:hierBranch val="init"/>
        </dgm:presLayoutVars>
      </dgm:prSet>
      <dgm:spPr/>
    </dgm:pt>
    <dgm:pt modelId="{4B9760DA-0385-41AE-A687-355A94220D59}" type="pres">
      <dgm:prSet presAssocID="{75068E3C-1E0A-4F20-A5E4-1928D7EC44F6}" presName="rootComposite" presStyleCnt="0"/>
      <dgm:spPr/>
    </dgm:pt>
    <dgm:pt modelId="{FC9E5436-F165-46FF-B4CA-5112263F2CD6}" type="pres">
      <dgm:prSet presAssocID="{75068E3C-1E0A-4F20-A5E4-1928D7EC44F6}" presName="rootText" presStyleLbl="node2" presStyleIdx="3" presStyleCnt="4" custLinFactNeighborX="-1348" custLinFactNeighborY="5394">
        <dgm:presLayoutVars>
          <dgm:chPref val="3"/>
        </dgm:presLayoutVars>
      </dgm:prSet>
      <dgm:spPr/>
    </dgm:pt>
    <dgm:pt modelId="{709B3824-964F-489C-9C40-FEBF6CACFBFE}" type="pres">
      <dgm:prSet presAssocID="{75068E3C-1E0A-4F20-A5E4-1928D7EC44F6}" presName="rootConnector" presStyleLbl="node2" presStyleIdx="3" presStyleCnt="4"/>
      <dgm:spPr/>
    </dgm:pt>
    <dgm:pt modelId="{31B1412C-149D-4847-A6A5-AA4FA41DD21F}" type="pres">
      <dgm:prSet presAssocID="{75068E3C-1E0A-4F20-A5E4-1928D7EC44F6}" presName="hierChild4" presStyleCnt="0"/>
      <dgm:spPr/>
    </dgm:pt>
    <dgm:pt modelId="{C1D4192F-92D1-410F-B41E-C4E2527F5DAD}" type="pres">
      <dgm:prSet presAssocID="{75068E3C-1E0A-4F20-A5E4-1928D7EC44F6}" presName="hierChild5" presStyleCnt="0"/>
      <dgm:spPr/>
    </dgm:pt>
    <dgm:pt modelId="{C440E21C-FA5B-4523-AAA6-4C1EB6548433}" type="pres">
      <dgm:prSet presAssocID="{6450B6E7-7CF2-4BD5-A8BC-65550E8EF0C3}" presName="hierChild3" presStyleCnt="0"/>
      <dgm:spPr/>
    </dgm:pt>
  </dgm:ptLst>
  <dgm:cxnLst>
    <dgm:cxn modelId="{5A1A3001-8072-4835-A08B-E5322CBB660E}" srcId="{6450B6E7-7CF2-4BD5-A8BC-65550E8EF0C3}" destId="{6219936C-01E5-4E03-8C77-48D95B5740FC}" srcOrd="0" destOrd="0" parTransId="{76C23C45-CFA4-40FD-9D6B-6C361C2017A6}" sibTransId="{CBA3A2CB-01E8-44EF-9BB5-2A6E4761C238}"/>
    <dgm:cxn modelId="{5E2F6803-9607-47F4-88A8-4F65597E9F7E}" srcId="{CB931D9A-BB73-4012-87FD-85A349F9D66F}" destId="{6450B6E7-7CF2-4BD5-A8BC-65550E8EF0C3}" srcOrd="0" destOrd="0" parTransId="{4E5110BB-1019-4C4F-A5AE-31DA76EA1336}" sibTransId="{2D7B3271-352E-4235-9728-A978BBB4E8BC}"/>
    <dgm:cxn modelId="{24C5CD09-0598-4D61-8247-87054216A933}" type="presOf" srcId="{8E9924AE-70F3-424C-BD67-FF6BE4F690CC}" destId="{B5C51D1C-228A-4B23-9361-D717B6A7152B}" srcOrd="0" destOrd="0" presId="urn:microsoft.com/office/officeart/2005/8/layout/orgChart1"/>
    <dgm:cxn modelId="{E4A7D519-23FD-4D05-AED6-6B426F0B95C9}" type="presOf" srcId="{0F64C0DA-F157-45C3-984D-B77CAB20F86D}" destId="{160389C1-0D45-4E6E-9C3F-37D7893DAFC3}" srcOrd="0" destOrd="0" presId="urn:microsoft.com/office/officeart/2005/8/layout/orgChart1"/>
    <dgm:cxn modelId="{CFCDDB2A-6D70-4E2F-82D6-4B6F0FCBB0C6}" type="presOf" srcId="{6450B6E7-7CF2-4BD5-A8BC-65550E8EF0C3}" destId="{5DE89BB1-56AA-4059-82A8-4BEE28145EAB}" srcOrd="1" destOrd="0" presId="urn:microsoft.com/office/officeart/2005/8/layout/orgChart1"/>
    <dgm:cxn modelId="{34639B2D-6878-4A7A-9C8E-C91B8D06C378}" type="presOf" srcId="{56EAA160-41FD-4A92-A678-A69B3DD2A2DD}" destId="{9C13B5A4-4194-465F-9199-D0453724504B}" srcOrd="0" destOrd="0" presId="urn:microsoft.com/office/officeart/2005/8/layout/orgChart1"/>
    <dgm:cxn modelId="{01E2213B-82DB-487C-B124-8B98BC080D63}" type="presOf" srcId="{8E9924AE-70F3-424C-BD67-FF6BE4F690CC}" destId="{96C113FB-7DE5-410A-A127-482B83578894}" srcOrd="1" destOrd="0" presId="urn:microsoft.com/office/officeart/2005/8/layout/orgChart1"/>
    <dgm:cxn modelId="{A221C85F-4536-4380-8D89-01CCB48FFF41}" type="presOf" srcId="{76C23C45-CFA4-40FD-9D6B-6C361C2017A6}" destId="{82E8D05C-71CD-49B3-914A-BC01B0859463}" srcOrd="0" destOrd="0" presId="urn:microsoft.com/office/officeart/2005/8/layout/orgChart1"/>
    <dgm:cxn modelId="{8AFE1644-886E-4D5C-822F-C003B95EB6FC}" type="presOf" srcId="{6B5320EB-D880-42E9-9C07-AA9B178E1B33}" destId="{2C6503C3-13FD-4CFD-BC38-F827F95E2C30}" srcOrd="1" destOrd="0" presId="urn:microsoft.com/office/officeart/2005/8/layout/orgChart1"/>
    <dgm:cxn modelId="{90B8506A-9140-4DCD-A262-EF41D5DC4510}" type="presOf" srcId="{65C80777-C28B-4706-A6D2-2A92D68FB1EE}" destId="{AFBCA6E8-2694-43B3-A087-A8AC6BBBF5FE}" srcOrd="0" destOrd="0" presId="urn:microsoft.com/office/officeart/2005/8/layout/orgChart1"/>
    <dgm:cxn modelId="{FAF9257C-28BA-4030-904B-6004E0E4512F}" srcId="{6450B6E7-7CF2-4BD5-A8BC-65550E8EF0C3}" destId="{75068E3C-1E0A-4F20-A5E4-1928D7EC44F6}" srcOrd="3" destOrd="0" parTransId="{65C80777-C28B-4706-A6D2-2A92D68FB1EE}" sibTransId="{20D056E5-1C39-4184-83C8-6344437C5D7E}"/>
    <dgm:cxn modelId="{B5C66089-0B71-4FC2-A270-8EA06959CADB}" type="presOf" srcId="{6B5320EB-D880-42E9-9C07-AA9B178E1B33}" destId="{B6AFBDD3-ED1B-414C-B338-A84FC14B3247}" srcOrd="0" destOrd="0" presId="urn:microsoft.com/office/officeart/2005/8/layout/orgChart1"/>
    <dgm:cxn modelId="{76BA4AA6-6368-41A6-9D88-F3AFB2F71BFD}" type="presOf" srcId="{CB931D9A-BB73-4012-87FD-85A349F9D66F}" destId="{9362B65E-B104-4189-BA7B-4AF63640F0B4}" srcOrd="0" destOrd="0" presId="urn:microsoft.com/office/officeart/2005/8/layout/orgChart1"/>
    <dgm:cxn modelId="{1869A6A6-0851-4609-95F9-B2C95939B471}" type="presOf" srcId="{75068E3C-1E0A-4F20-A5E4-1928D7EC44F6}" destId="{709B3824-964F-489C-9C40-FEBF6CACFBFE}" srcOrd="1" destOrd="0" presId="urn:microsoft.com/office/officeart/2005/8/layout/orgChart1"/>
    <dgm:cxn modelId="{9991F8AB-67E8-48B6-A57A-4C1F37B7BC4E}" type="presOf" srcId="{6219936C-01E5-4E03-8C77-48D95B5740FC}" destId="{B41CBAF2-9D15-42EB-97EA-21F13B2C0777}" srcOrd="0" destOrd="0" presId="urn:microsoft.com/office/officeart/2005/8/layout/orgChart1"/>
    <dgm:cxn modelId="{CDCBBFB3-D229-4275-AA6B-C2F9154DAD10}" type="presOf" srcId="{6219936C-01E5-4E03-8C77-48D95B5740FC}" destId="{103422B0-4E05-4D2A-9AFC-0B486B48C77D}" srcOrd="1" destOrd="0" presId="urn:microsoft.com/office/officeart/2005/8/layout/orgChart1"/>
    <dgm:cxn modelId="{3F360BBA-434A-4E5A-90D9-3C869682B588}" srcId="{6450B6E7-7CF2-4BD5-A8BC-65550E8EF0C3}" destId="{8E9924AE-70F3-424C-BD67-FF6BE4F690CC}" srcOrd="2" destOrd="0" parTransId="{56EAA160-41FD-4A92-A678-A69B3DD2A2DD}" sibTransId="{EE0848EF-1B9A-4D42-9DC4-1C8A113CA28D}"/>
    <dgm:cxn modelId="{4C2720BA-8EEE-4927-BB49-E95725A5BE93}" type="presOf" srcId="{6450B6E7-7CF2-4BD5-A8BC-65550E8EF0C3}" destId="{61AE04A0-B44B-41B1-B533-B907F2FFD5BB}" srcOrd="0" destOrd="0" presId="urn:microsoft.com/office/officeart/2005/8/layout/orgChart1"/>
    <dgm:cxn modelId="{824CC6BE-51E6-43F7-AF67-10A115E2E8A1}" type="presOf" srcId="{75068E3C-1E0A-4F20-A5E4-1928D7EC44F6}" destId="{FC9E5436-F165-46FF-B4CA-5112263F2CD6}" srcOrd="0" destOrd="0" presId="urn:microsoft.com/office/officeart/2005/8/layout/orgChart1"/>
    <dgm:cxn modelId="{9EE1CAE8-FB47-4E3D-888C-99CDA57C6F1F}" srcId="{6450B6E7-7CF2-4BD5-A8BC-65550E8EF0C3}" destId="{6B5320EB-D880-42E9-9C07-AA9B178E1B33}" srcOrd="1" destOrd="0" parTransId="{0F64C0DA-F157-45C3-984D-B77CAB20F86D}" sibTransId="{D128F8AD-DA6F-4A9E-A9FF-0D3AE02DDCF7}"/>
    <dgm:cxn modelId="{2FDD527D-31A0-4A55-9656-A7A24380C270}" type="presParOf" srcId="{9362B65E-B104-4189-BA7B-4AF63640F0B4}" destId="{01D1AB36-06E6-462F-9B7D-DE5F5617C685}" srcOrd="0" destOrd="0" presId="urn:microsoft.com/office/officeart/2005/8/layout/orgChart1"/>
    <dgm:cxn modelId="{3D9C94A2-37B9-428B-9A8D-076CD09F7A83}" type="presParOf" srcId="{01D1AB36-06E6-462F-9B7D-DE5F5617C685}" destId="{E1A94AF8-3A80-452F-BB96-5729FC64C116}" srcOrd="0" destOrd="0" presId="urn:microsoft.com/office/officeart/2005/8/layout/orgChart1"/>
    <dgm:cxn modelId="{2FC8B062-46A3-457F-A298-98F210F08CCE}" type="presParOf" srcId="{E1A94AF8-3A80-452F-BB96-5729FC64C116}" destId="{61AE04A0-B44B-41B1-B533-B907F2FFD5BB}" srcOrd="0" destOrd="0" presId="urn:microsoft.com/office/officeart/2005/8/layout/orgChart1"/>
    <dgm:cxn modelId="{7AE33198-E735-427C-926E-6C73B850309E}" type="presParOf" srcId="{E1A94AF8-3A80-452F-BB96-5729FC64C116}" destId="{5DE89BB1-56AA-4059-82A8-4BEE28145EAB}" srcOrd="1" destOrd="0" presId="urn:microsoft.com/office/officeart/2005/8/layout/orgChart1"/>
    <dgm:cxn modelId="{A316D86F-0C63-4EDA-973B-6C2EC3BE804D}" type="presParOf" srcId="{01D1AB36-06E6-462F-9B7D-DE5F5617C685}" destId="{D03F1031-C0C5-4B26-B036-621FF9E532AC}" srcOrd="1" destOrd="0" presId="urn:microsoft.com/office/officeart/2005/8/layout/orgChart1"/>
    <dgm:cxn modelId="{0EA7F831-560E-4A16-9A5F-CD086527BF82}" type="presParOf" srcId="{D03F1031-C0C5-4B26-B036-621FF9E532AC}" destId="{82E8D05C-71CD-49B3-914A-BC01B0859463}" srcOrd="0" destOrd="0" presId="urn:microsoft.com/office/officeart/2005/8/layout/orgChart1"/>
    <dgm:cxn modelId="{97510CDA-4D8D-4CFE-8AE2-95FEFEF079A7}" type="presParOf" srcId="{D03F1031-C0C5-4B26-B036-621FF9E532AC}" destId="{B7B9221C-B178-4842-B28F-B966B56C951C}" srcOrd="1" destOrd="0" presId="urn:microsoft.com/office/officeart/2005/8/layout/orgChart1"/>
    <dgm:cxn modelId="{0A697EC8-B59A-47E6-B421-D2438AADC7C8}" type="presParOf" srcId="{B7B9221C-B178-4842-B28F-B966B56C951C}" destId="{A093FBE0-221F-4FAB-B1BC-E160E8D7D5A2}" srcOrd="0" destOrd="0" presId="urn:microsoft.com/office/officeart/2005/8/layout/orgChart1"/>
    <dgm:cxn modelId="{18432FAD-CF25-4276-B029-F46BCC5400ED}" type="presParOf" srcId="{A093FBE0-221F-4FAB-B1BC-E160E8D7D5A2}" destId="{B41CBAF2-9D15-42EB-97EA-21F13B2C0777}" srcOrd="0" destOrd="0" presId="urn:microsoft.com/office/officeart/2005/8/layout/orgChart1"/>
    <dgm:cxn modelId="{81797D7A-91D9-4327-987B-421091E0CDDE}" type="presParOf" srcId="{A093FBE0-221F-4FAB-B1BC-E160E8D7D5A2}" destId="{103422B0-4E05-4D2A-9AFC-0B486B48C77D}" srcOrd="1" destOrd="0" presId="urn:microsoft.com/office/officeart/2005/8/layout/orgChart1"/>
    <dgm:cxn modelId="{C7A08881-5B2E-4FD7-9356-EDBA2616F8D2}" type="presParOf" srcId="{B7B9221C-B178-4842-B28F-B966B56C951C}" destId="{4A2F4521-FDF7-4282-BBA3-EE1DFF9E995F}" srcOrd="1" destOrd="0" presId="urn:microsoft.com/office/officeart/2005/8/layout/orgChart1"/>
    <dgm:cxn modelId="{0FF4367B-70CB-4DFD-9730-4FE3579C17C9}" type="presParOf" srcId="{B7B9221C-B178-4842-B28F-B966B56C951C}" destId="{A2D84EA5-F0D3-4C20-AE3B-A96D5726980F}" srcOrd="2" destOrd="0" presId="urn:microsoft.com/office/officeart/2005/8/layout/orgChart1"/>
    <dgm:cxn modelId="{C4F91029-A6B8-44DE-B28C-255538F7E3C1}" type="presParOf" srcId="{D03F1031-C0C5-4B26-B036-621FF9E532AC}" destId="{160389C1-0D45-4E6E-9C3F-37D7893DAFC3}" srcOrd="2" destOrd="0" presId="urn:microsoft.com/office/officeart/2005/8/layout/orgChart1"/>
    <dgm:cxn modelId="{5173ED7E-07DE-4432-B4E4-21C5718B9450}" type="presParOf" srcId="{D03F1031-C0C5-4B26-B036-621FF9E532AC}" destId="{FF62818D-B868-4741-81E3-C67E5240BC0D}" srcOrd="3" destOrd="0" presId="urn:microsoft.com/office/officeart/2005/8/layout/orgChart1"/>
    <dgm:cxn modelId="{0A9AE109-2CB3-4B33-83F9-22D64C37AD35}" type="presParOf" srcId="{FF62818D-B868-4741-81E3-C67E5240BC0D}" destId="{9078C799-94A7-4273-AECD-8C2835DA1DB9}" srcOrd="0" destOrd="0" presId="urn:microsoft.com/office/officeart/2005/8/layout/orgChart1"/>
    <dgm:cxn modelId="{1328E509-CBD6-4CD2-B4DF-5620CA052032}" type="presParOf" srcId="{9078C799-94A7-4273-AECD-8C2835DA1DB9}" destId="{B6AFBDD3-ED1B-414C-B338-A84FC14B3247}" srcOrd="0" destOrd="0" presId="urn:microsoft.com/office/officeart/2005/8/layout/orgChart1"/>
    <dgm:cxn modelId="{41AF9311-F2FF-49AC-ADD6-39A7FF4002B7}" type="presParOf" srcId="{9078C799-94A7-4273-AECD-8C2835DA1DB9}" destId="{2C6503C3-13FD-4CFD-BC38-F827F95E2C30}" srcOrd="1" destOrd="0" presId="urn:microsoft.com/office/officeart/2005/8/layout/orgChart1"/>
    <dgm:cxn modelId="{FDBA6A36-A0BA-4C03-8E42-98C6E2E522B4}" type="presParOf" srcId="{FF62818D-B868-4741-81E3-C67E5240BC0D}" destId="{3EFAF44E-18E7-4C28-A0C4-E10626D885AE}" srcOrd="1" destOrd="0" presId="urn:microsoft.com/office/officeart/2005/8/layout/orgChart1"/>
    <dgm:cxn modelId="{3C0A6359-4729-4354-951F-F73B834A325C}" type="presParOf" srcId="{FF62818D-B868-4741-81E3-C67E5240BC0D}" destId="{CBB95CD6-F001-4CC1-9389-D18529A9BB25}" srcOrd="2" destOrd="0" presId="urn:microsoft.com/office/officeart/2005/8/layout/orgChart1"/>
    <dgm:cxn modelId="{C0BB13F1-DDFF-4495-9EA5-4F335ACDDA82}" type="presParOf" srcId="{D03F1031-C0C5-4B26-B036-621FF9E532AC}" destId="{9C13B5A4-4194-465F-9199-D0453724504B}" srcOrd="4" destOrd="0" presId="urn:microsoft.com/office/officeart/2005/8/layout/orgChart1"/>
    <dgm:cxn modelId="{5BF96A8C-3D54-4A90-89A1-37612C700A31}" type="presParOf" srcId="{D03F1031-C0C5-4B26-B036-621FF9E532AC}" destId="{7F02932C-7035-4160-ABD0-5D51493C2E64}" srcOrd="5" destOrd="0" presId="urn:microsoft.com/office/officeart/2005/8/layout/orgChart1"/>
    <dgm:cxn modelId="{94882468-8286-4868-9DA4-90CD60CC22C3}" type="presParOf" srcId="{7F02932C-7035-4160-ABD0-5D51493C2E64}" destId="{AE72AAAB-AB94-4FDD-A59C-F306B21305F2}" srcOrd="0" destOrd="0" presId="urn:microsoft.com/office/officeart/2005/8/layout/orgChart1"/>
    <dgm:cxn modelId="{212E0306-BFDD-455A-8EDC-4F7EE865D9BB}" type="presParOf" srcId="{AE72AAAB-AB94-4FDD-A59C-F306B21305F2}" destId="{B5C51D1C-228A-4B23-9361-D717B6A7152B}" srcOrd="0" destOrd="0" presId="urn:microsoft.com/office/officeart/2005/8/layout/orgChart1"/>
    <dgm:cxn modelId="{0528682E-39C9-4E66-AF37-962723C96252}" type="presParOf" srcId="{AE72AAAB-AB94-4FDD-A59C-F306B21305F2}" destId="{96C113FB-7DE5-410A-A127-482B83578894}" srcOrd="1" destOrd="0" presId="urn:microsoft.com/office/officeart/2005/8/layout/orgChart1"/>
    <dgm:cxn modelId="{C17DA8A3-8EF3-4195-B1AE-8B7ECEB739FD}" type="presParOf" srcId="{7F02932C-7035-4160-ABD0-5D51493C2E64}" destId="{BD9C68AD-1DAF-46BD-93AD-24F72103DAA0}" srcOrd="1" destOrd="0" presId="urn:microsoft.com/office/officeart/2005/8/layout/orgChart1"/>
    <dgm:cxn modelId="{A2A7A800-E3E5-463B-B7ED-FDBCF2B7A09D}" type="presParOf" srcId="{7F02932C-7035-4160-ABD0-5D51493C2E64}" destId="{819FC781-7A2C-4381-9740-E846516DDF28}" srcOrd="2" destOrd="0" presId="urn:microsoft.com/office/officeart/2005/8/layout/orgChart1"/>
    <dgm:cxn modelId="{503C1BAA-8B30-4ED5-9C90-6A75406ABD50}" type="presParOf" srcId="{D03F1031-C0C5-4B26-B036-621FF9E532AC}" destId="{AFBCA6E8-2694-43B3-A087-A8AC6BBBF5FE}" srcOrd="6" destOrd="0" presId="urn:microsoft.com/office/officeart/2005/8/layout/orgChart1"/>
    <dgm:cxn modelId="{15D19490-1E92-4B9E-8355-3D513CD4093A}" type="presParOf" srcId="{D03F1031-C0C5-4B26-B036-621FF9E532AC}" destId="{82641FC6-C0E8-4FA9-A04B-3A2E256B911C}" srcOrd="7" destOrd="0" presId="urn:microsoft.com/office/officeart/2005/8/layout/orgChart1"/>
    <dgm:cxn modelId="{A35A7EF0-93AB-404E-B0D8-E5B30178EDE9}" type="presParOf" srcId="{82641FC6-C0E8-4FA9-A04B-3A2E256B911C}" destId="{4B9760DA-0385-41AE-A687-355A94220D59}" srcOrd="0" destOrd="0" presId="urn:microsoft.com/office/officeart/2005/8/layout/orgChart1"/>
    <dgm:cxn modelId="{9E09F747-806C-43CC-9DD4-595BFB1C63B4}" type="presParOf" srcId="{4B9760DA-0385-41AE-A687-355A94220D59}" destId="{FC9E5436-F165-46FF-B4CA-5112263F2CD6}" srcOrd="0" destOrd="0" presId="urn:microsoft.com/office/officeart/2005/8/layout/orgChart1"/>
    <dgm:cxn modelId="{02868B5D-DA17-4FAC-928C-738175F4D423}" type="presParOf" srcId="{4B9760DA-0385-41AE-A687-355A94220D59}" destId="{709B3824-964F-489C-9C40-FEBF6CACFBFE}" srcOrd="1" destOrd="0" presId="urn:microsoft.com/office/officeart/2005/8/layout/orgChart1"/>
    <dgm:cxn modelId="{81C05D5E-3B86-447B-9017-B04CDBEA4C3E}" type="presParOf" srcId="{82641FC6-C0E8-4FA9-A04B-3A2E256B911C}" destId="{31B1412C-149D-4847-A6A5-AA4FA41DD21F}" srcOrd="1" destOrd="0" presId="urn:microsoft.com/office/officeart/2005/8/layout/orgChart1"/>
    <dgm:cxn modelId="{B4492B63-00C0-4C69-B8A8-12DE952D11F5}" type="presParOf" srcId="{82641FC6-C0E8-4FA9-A04B-3A2E256B911C}" destId="{C1D4192F-92D1-410F-B41E-C4E2527F5DAD}" srcOrd="2" destOrd="0" presId="urn:microsoft.com/office/officeart/2005/8/layout/orgChart1"/>
    <dgm:cxn modelId="{B82DA490-F51F-499C-ABEB-8029F3EB3DFF}" type="presParOf" srcId="{01D1AB36-06E6-462F-9B7D-DE5F5617C685}" destId="{C440E21C-FA5B-4523-AAA6-4C1EB654843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BCA6E8-2694-43B3-A087-A8AC6BBBF5FE}">
      <dsp:nvSpPr>
        <dsp:cNvPr id="0" name=""/>
        <dsp:cNvSpPr/>
      </dsp:nvSpPr>
      <dsp:spPr>
        <a:xfrm>
          <a:off x="5219263" y="2483738"/>
          <a:ext cx="4057399" cy="533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7223"/>
              </a:lnTo>
              <a:lnTo>
                <a:pt x="4057399" y="297223"/>
              </a:lnTo>
              <a:lnTo>
                <a:pt x="4057399" y="53370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3B5A4-4194-465F-9199-D0453724504B}">
      <dsp:nvSpPr>
        <dsp:cNvPr id="0" name=""/>
        <dsp:cNvSpPr/>
      </dsp:nvSpPr>
      <dsp:spPr>
        <a:xfrm>
          <a:off x="5219263" y="2483738"/>
          <a:ext cx="1362586" cy="4729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481"/>
              </a:lnTo>
              <a:lnTo>
                <a:pt x="1362586" y="236481"/>
              </a:lnTo>
              <a:lnTo>
                <a:pt x="1362586" y="47296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0389C1-0D45-4E6E-9C3F-37D7893DAFC3}">
      <dsp:nvSpPr>
        <dsp:cNvPr id="0" name=""/>
        <dsp:cNvSpPr/>
      </dsp:nvSpPr>
      <dsp:spPr>
        <a:xfrm>
          <a:off x="3856676" y="2483738"/>
          <a:ext cx="1362586" cy="472963"/>
        </a:xfrm>
        <a:custGeom>
          <a:avLst/>
          <a:gdLst/>
          <a:ahLst/>
          <a:cxnLst/>
          <a:rect l="0" t="0" r="0" b="0"/>
          <a:pathLst>
            <a:path>
              <a:moveTo>
                <a:pt x="1362586" y="0"/>
              </a:moveTo>
              <a:lnTo>
                <a:pt x="1362586" y="236481"/>
              </a:lnTo>
              <a:lnTo>
                <a:pt x="0" y="236481"/>
              </a:lnTo>
              <a:lnTo>
                <a:pt x="0" y="47296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E8D05C-71CD-49B3-914A-BC01B0859463}">
      <dsp:nvSpPr>
        <dsp:cNvPr id="0" name=""/>
        <dsp:cNvSpPr/>
      </dsp:nvSpPr>
      <dsp:spPr>
        <a:xfrm>
          <a:off x="1131503" y="2483738"/>
          <a:ext cx="4087759" cy="472963"/>
        </a:xfrm>
        <a:custGeom>
          <a:avLst/>
          <a:gdLst/>
          <a:ahLst/>
          <a:cxnLst/>
          <a:rect l="0" t="0" r="0" b="0"/>
          <a:pathLst>
            <a:path>
              <a:moveTo>
                <a:pt x="4087759" y="0"/>
              </a:moveTo>
              <a:lnTo>
                <a:pt x="4087759" y="236481"/>
              </a:lnTo>
              <a:lnTo>
                <a:pt x="0" y="236481"/>
              </a:lnTo>
              <a:lnTo>
                <a:pt x="0" y="47296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E04A0-B44B-41B1-B533-B907F2FFD5BB}">
      <dsp:nvSpPr>
        <dsp:cNvPr id="0" name=""/>
        <dsp:cNvSpPr/>
      </dsp:nvSpPr>
      <dsp:spPr>
        <a:xfrm>
          <a:off x="4093158" y="1357634"/>
          <a:ext cx="2252208" cy="112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badi" panose="020B0604020104020204" pitchFamily="34" charset="0"/>
            </a:rPr>
            <a:t>Machine learning methods</a:t>
          </a:r>
        </a:p>
      </dsp:txBody>
      <dsp:txXfrm>
        <a:off x="4093158" y="1357634"/>
        <a:ext cx="2252208" cy="1126104"/>
      </dsp:txXfrm>
    </dsp:sp>
    <dsp:sp modelId="{B41CBAF2-9D15-42EB-97EA-21F13B2C0777}">
      <dsp:nvSpPr>
        <dsp:cNvPr id="0" name=""/>
        <dsp:cNvSpPr/>
      </dsp:nvSpPr>
      <dsp:spPr>
        <a:xfrm>
          <a:off x="5399" y="2956702"/>
          <a:ext cx="2252208" cy="143774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>
            <a:latin typeface="Abadi" panose="020B0604020104020204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rgbClr val="FF0000"/>
              </a:solidFill>
              <a:latin typeface="Abadi" panose="020B0604020104020204" pitchFamily="34" charset="0"/>
            </a:rPr>
            <a:t>Regularization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Abadi" panose="020B0604020104020204" pitchFamily="34" charset="0"/>
            </a:rPr>
            <a:t>LASSO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Abadi" panose="020B0604020104020204" pitchFamily="34" charset="0"/>
            </a:rPr>
            <a:t>Elastic Net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kern="1200" dirty="0">
              <a:latin typeface="Abadi" panose="020B0604020104020204" pitchFamily="34" charset="0"/>
            </a:rPr>
            <a:t>Ridge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 </a:t>
          </a:r>
        </a:p>
      </dsp:txBody>
      <dsp:txXfrm>
        <a:off x="5399" y="2956702"/>
        <a:ext cx="2252208" cy="1437742"/>
      </dsp:txXfrm>
    </dsp:sp>
    <dsp:sp modelId="{B6AFBDD3-ED1B-414C-B338-A84FC14B3247}">
      <dsp:nvSpPr>
        <dsp:cNvPr id="0" name=""/>
        <dsp:cNvSpPr/>
      </dsp:nvSpPr>
      <dsp:spPr>
        <a:xfrm>
          <a:off x="2730572" y="2956702"/>
          <a:ext cx="2252208" cy="112610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rgbClr val="FF0000"/>
              </a:solidFill>
              <a:latin typeface="Abadi" panose="020B0604020104020204" pitchFamily="34" charset="0"/>
            </a:rPr>
            <a:t>Decision tree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Random Forest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>
              <a:latin typeface="Abadi" panose="020B0604020104020204" pitchFamily="34" charset="0"/>
            </a:rPr>
            <a:t>XGBoost</a:t>
          </a:r>
          <a:r>
            <a:rPr lang="en-GB" sz="1800" kern="1200" dirty="0">
              <a:latin typeface="Abadi" panose="020B0604020104020204" pitchFamily="34" charset="0"/>
            </a:rPr>
            <a:t> </a:t>
          </a:r>
        </a:p>
      </dsp:txBody>
      <dsp:txXfrm>
        <a:off x="2730572" y="2956702"/>
        <a:ext cx="2252208" cy="1126104"/>
      </dsp:txXfrm>
    </dsp:sp>
    <dsp:sp modelId="{B5C51D1C-228A-4B23-9361-D717B6A7152B}">
      <dsp:nvSpPr>
        <dsp:cNvPr id="0" name=""/>
        <dsp:cNvSpPr/>
      </dsp:nvSpPr>
      <dsp:spPr>
        <a:xfrm>
          <a:off x="5455744" y="2956702"/>
          <a:ext cx="2252208" cy="112610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rgbClr val="FF0000"/>
              </a:solidFill>
              <a:latin typeface="Abadi" panose="020B0604020104020204" pitchFamily="34" charset="0"/>
            </a:rPr>
            <a:t>Kernel Based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SVM</a:t>
          </a:r>
        </a:p>
      </dsp:txBody>
      <dsp:txXfrm>
        <a:off x="5455744" y="2956702"/>
        <a:ext cx="2252208" cy="1126104"/>
      </dsp:txXfrm>
    </dsp:sp>
    <dsp:sp modelId="{FC9E5436-F165-46FF-B4CA-5112263F2CD6}">
      <dsp:nvSpPr>
        <dsp:cNvPr id="0" name=""/>
        <dsp:cNvSpPr/>
      </dsp:nvSpPr>
      <dsp:spPr>
        <a:xfrm>
          <a:off x="8150557" y="3017444"/>
          <a:ext cx="2252208" cy="112610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rgbClr val="FF0000"/>
              </a:solidFill>
              <a:latin typeface="Abadi" panose="020B0604020104020204" pitchFamily="34" charset="0"/>
            </a:rPr>
            <a:t>Neural Network based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ANN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Deep learning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badi" panose="020B0604020104020204" pitchFamily="34" charset="0"/>
            </a:rPr>
            <a:t>LSTM </a:t>
          </a:r>
        </a:p>
      </dsp:txBody>
      <dsp:txXfrm>
        <a:off x="8150557" y="3017444"/>
        <a:ext cx="2252208" cy="1126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E224C-128D-456A-A4F4-65D190DF7DD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362CC-BD67-4709-A014-638E88006A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31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CABC065-FEDA-4DB6-AB1E-48DDC45DDADE}" type="datetime1">
              <a:rPr lang="en-GB" altLang="en-US">
                <a:solidFill>
                  <a:prstClr val="black"/>
                </a:solidFill>
              </a:rPr>
              <a:pPr/>
              <a:t>04/03/2026</a:t>
            </a:fld>
            <a:endParaRPr lang="en-GB" altLang="en-US">
              <a:solidFill>
                <a:prstClr val="black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339A46-73FB-4898-A149-1B29BFFD3AE6}" type="slidenum">
              <a:rPr lang="en-GB" altLang="en-US">
                <a:solidFill>
                  <a:prstClr val="black"/>
                </a:solidFill>
              </a:rPr>
              <a:pPr/>
              <a:t>8</a:t>
            </a:fld>
            <a:endParaRPr lang="en-GB" altLang="en-US">
              <a:solidFill>
                <a:prstClr val="black"/>
              </a:solidFill>
            </a:endParaRPr>
          </a:p>
        </p:txBody>
      </p:sp>
      <p:sp>
        <p:nvSpPr>
          <p:cNvPr id="7065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957261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F7F7606-027B-4EC5-BF8D-0809F17925C5}" type="datetime1">
              <a:rPr lang="en-GB" altLang="en-US"/>
              <a:pPr/>
              <a:t>04/03/2026</a:t>
            </a:fld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77EAAC-425A-4344-A144-876F4F237C25}" type="slidenum">
              <a:rPr lang="en-GB" altLang="en-US"/>
              <a:pPr/>
              <a:t>44</a:t>
            </a:fld>
            <a:endParaRPr lang="en-GB" alt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42900" y="806450"/>
            <a:ext cx="7169150" cy="4033838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8235" y="5107267"/>
            <a:ext cx="5185881" cy="483846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9061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7602799-88E6-4B3D-B67E-EE4070A0528B}" type="datetime1">
              <a:rPr lang="en-GB" altLang="en-US"/>
              <a:pPr/>
              <a:t>04/03/2026</a:t>
            </a:fld>
            <a:endParaRPr lang="en-GB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413979-B313-4D93-AC0D-AFA69BEEBA3F}" type="slidenum">
              <a:rPr lang="en-GB" altLang="en-US"/>
              <a:pPr/>
              <a:t>45</a:t>
            </a:fld>
            <a:endParaRPr lang="en-GB" altLang="en-US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42900" y="806450"/>
            <a:ext cx="7169150" cy="4033838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819" y="5107267"/>
            <a:ext cx="4752715" cy="483846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383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D021-FA61-4DF5-9AEE-86CE54C67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56DA3-42EC-4490-A5AB-D429EC28E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109A-E55F-4A1E-BBA4-F5F9E0CC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06EC-071B-4FAC-BDFB-0CB0E2153C75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AC8E-129E-49A7-AC2F-54C6F7A7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92DB4-620E-4D61-AC13-248AD66C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66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CFF0-9A3A-44CF-9D51-38276818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E322-360A-4B6E-B893-897407749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3C2CC-8213-4458-8363-5221404B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8A3B-BDB8-444B-B2A0-9D4F0EB91944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73433-DE65-48CB-8218-5773258B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E99C2-3B97-4818-BC4D-6E404AE1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2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A91E-F0A2-4C8E-B9F8-4AEE834B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A5E67-D9FA-4C9C-AA12-C3FD44D0E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A990-87F1-4930-9DAC-42F32B5E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5590B-804C-43FE-A533-BD4DC20DC9AC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0673-D490-4784-97C2-F9443C1A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52AF9-B23D-4BD1-97F5-6BD2DF4B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00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FADB-25CF-4787-B11A-36BFBB7F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D744-0A07-45C4-A854-88E11AD7E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579A6-8114-4786-B67F-58DC7B5AE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72DF5-2AF6-4C55-9397-02196E0E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F78C-2BC2-43D4-9BE6-CEC6AAFCF5D2}" type="datetime1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DFCF5-9DA9-4C0F-8791-DE5412B4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A5AE4-F7AC-4022-ABF8-7F61FF71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5A4E-22F8-4EB9-AC08-82F204A8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76BE-B81D-4072-9748-A4DFB7048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E5E9E-C0EC-44D4-8C75-19C9C72D7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252C2-F124-4F3F-9D7A-138B4E806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BDA60-4A68-4918-9D35-022B2FFA9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B3987-FF07-4633-9DF4-76076C53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7CAB-DA9C-4E58-AE0C-4E50A23BDFE7}" type="datetime1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DDD5D-C131-472D-BA1F-D461BA73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0C21F-B0BC-464D-8E0C-B0708108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86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A3FF-5EC9-4630-B957-18BF1008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7540-2B0D-429E-9DF4-5AA355DC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3E9-0154-442D-846A-CBA72B4A3C82}" type="datetime1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CF9AA-309C-4FEA-8F31-A5D76277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09102-6437-49DB-B818-F0EA1D85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83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8B534-D509-47FF-8AFF-78F08AA4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2C03C-5254-441A-A423-94D3AAC51EDB}" type="datetime1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252AD-4B30-4AA8-985F-E31D2243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047F7-20F4-42C4-B326-3078FB1B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76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9AB6-88E4-47D5-8302-B29A0D66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3A85-EBA3-4C56-951B-5513CD4C4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EB638-C205-464C-8C2C-DCFD9CEC8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980B-B4F7-4096-9368-8EA4D0FB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AF7DC-830C-4AA7-80D5-AE86C7057FC3}" type="datetime1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00B30-951D-4770-9383-D3957446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722EC-190E-451E-831F-D78AF11C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28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CE81-6CE1-490C-8E9B-B0CD5A65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0EBF4-97DD-4E7A-A2A9-A22E8D686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137AE-2BEB-4D7D-BE02-251856542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1DFA5-5125-4AF2-A7E5-B56EFACD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6B026-4542-499F-9A1D-A721DF2FFC20}" type="datetime1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B42B2-6B0B-4CBF-8E3C-1D247832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7D182-51CD-4A84-88CC-B8EAC17D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77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CD44-5DF9-483F-9FE2-5E21B235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B9E2E-C598-42CB-85BF-92A5A0F8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AB771-2910-40A5-AF24-70696D29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616E-0D47-4B31-A704-2B6013569931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EB6F3-10A9-4F97-A55F-54DBAFCD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C9F26-88B1-4A68-81B1-9F6635C0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30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F4710-C43C-4930-98B6-3F350F9E2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C17B7-C2DF-4510-96AA-B0DF696CF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6639F-5AEE-4D67-913A-718020CC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5F61-46F7-4C03-A365-B69D6F1C2835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3CC79-9E04-4BBA-B819-73FCF614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F9845-A630-4755-AC4A-6DDE60B4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57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CC2FB-3387-4817-AA29-0AF90F95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A60DA-4AB1-4055-9BB2-8D7AA55F3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3867-B67C-43B9-9B78-ECABB505C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FB243-0F96-4CDD-8A9A-8745CC9885B4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0401-B907-4180-9E7B-7008DCEFD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F21ED-C270-4B01-B79D-992BEDAA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63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7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BE84-9302-4ACF-A44E-EB6B7C49C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508" y="2397489"/>
            <a:ext cx="11232859" cy="22919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r>
              <a:rPr lang="en-GB" sz="3200" b="1" i="0" dirty="0">
                <a:effectLst/>
                <a:latin typeface="Abadi" panose="020B0604020104020204" pitchFamily="34" charset="0"/>
              </a:rPr>
              <a:t>LM Big Data Management in Finance (36320)</a:t>
            </a:r>
            <a:br>
              <a:rPr lang="en-GB" sz="3200" b="1" i="0" dirty="0">
                <a:solidFill>
                  <a:srgbClr val="666666"/>
                </a:solidFill>
                <a:effectLst/>
                <a:latin typeface="Lato Extended"/>
              </a:rPr>
            </a:br>
            <a:r>
              <a:rPr lang="en-GB" sz="2800" b="0" i="0" dirty="0">
                <a:effectLst/>
                <a:latin typeface="Abadi" panose="020B0604020104020204" pitchFamily="34" charset="0"/>
              </a:rPr>
              <a:t>Birmingham Business School</a:t>
            </a:r>
            <a:br>
              <a:rPr lang="en-GB" sz="2800" b="0" i="0" dirty="0">
                <a:effectLst/>
                <a:latin typeface="Abadi" panose="020B0604020104020204" pitchFamily="34" charset="0"/>
              </a:rPr>
            </a:br>
            <a:br>
              <a:rPr lang="en-GB" sz="2800" b="0" i="0" dirty="0">
                <a:effectLst/>
                <a:latin typeface="Abadi" panose="020B0604020104020204" pitchFamily="34" charset="0"/>
              </a:rPr>
            </a:br>
            <a:r>
              <a:rPr lang="en-GB" sz="2800" b="0" i="0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Fundamentals of </a:t>
            </a:r>
            <a:r>
              <a:rPr lang="en-GB" sz="2800" dirty="0">
                <a:solidFill>
                  <a:srgbClr val="0070C0"/>
                </a:solidFill>
                <a:latin typeface="Abadi" panose="020B0604020104020204" pitchFamily="34" charset="0"/>
              </a:rPr>
              <a:t>M</a:t>
            </a:r>
            <a:r>
              <a:rPr lang="en-GB" sz="2800" b="0" i="0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achine </a:t>
            </a:r>
            <a:r>
              <a:rPr lang="en-GB" sz="2800" dirty="0">
                <a:solidFill>
                  <a:srgbClr val="0070C0"/>
                </a:solidFill>
                <a:latin typeface="Abadi" panose="020B0604020104020204" pitchFamily="34" charset="0"/>
              </a:rPr>
              <a:t>L</a:t>
            </a:r>
            <a:r>
              <a:rPr lang="en-GB" sz="2800" b="0" i="0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earning</a:t>
            </a:r>
            <a:endParaRPr lang="en-GB" sz="2800" dirty="0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A3B7B-82CD-44D2-AD75-A12E51C7D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4944" y="4840020"/>
            <a:ext cx="9144000" cy="1035174"/>
          </a:xfrm>
        </p:spPr>
        <p:txBody>
          <a:bodyPr>
            <a:normAutofit/>
          </a:bodyPr>
          <a:lstStyle/>
          <a:p>
            <a:r>
              <a:rPr lang="en-GB" b="0" i="0" dirty="0" err="1">
                <a:effectLst/>
                <a:latin typeface="Abadi" panose="020B0604020104020204" pitchFamily="34" charset="0"/>
              </a:rPr>
              <a:t>Dr.</a:t>
            </a:r>
            <a:r>
              <a:rPr lang="en-GB" b="0" i="0" dirty="0">
                <a:effectLst/>
                <a:latin typeface="Abadi" panose="020B0604020104020204" pitchFamily="34" charset="0"/>
              </a:rPr>
              <a:t> Animesh Acharjee </a:t>
            </a:r>
          </a:p>
        </p:txBody>
      </p:sp>
      <p:pic>
        <p:nvPicPr>
          <p:cNvPr id="1026" name="Picture 2" descr="On the Move to the University of Birmingham – Professor Fiona de Londras">
            <a:extLst>
              <a:ext uri="{FF2B5EF4-FFF2-40B4-BE49-F238E27FC236}">
                <a16:creationId xmlns:a16="http://schemas.microsoft.com/office/drawing/2014/main" id="{EE19BDDD-C5EE-4128-9385-990B24C27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124" y="118144"/>
            <a:ext cx="2403183" cy="212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68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AB568-AC3B-48CE-AB78-9B322BEE7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machine learning?</a:t>
            </a:r>
          </a:p>
          <a:p>
            <a:r>
              <a:rPr lang="en-GB" dirty="0"/>
              <a:t>Why machine learning is important in the financial technology?</a:t>
            </a:r>
          </a:p>
          <a:p>
            <a:r>
              <a:rPr lang="en-GB" dirty="0"/>
              <a:t>What is the difference between supervised vs unsupervised learning?</a:t>
            </a:r>
          </a:p>
          <a:p>
            <a:r>
              <a:rPr lang="en-GB" dirty="0"/>
              <a:t>What are the two basic ingredients for machine learning methods to learn the rules?</a:t>
            </a:r>
          </a:p>
          <a:p>
            <a:r>
              <a:rPr lang="en-GB" dirty="0"/>
              <a:t>What are the training and testing samples? </a:t>
            </a:r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A36297-D98D-49E5-A203-DCAD3E32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Review Questions </a:t>
            </a:r>
          </a:p>
        </p:txBody>
      </p:sp>
    </p:spTree>
    <p:extLst>
      <p:ext uri="{BB962C8B-B14F-4D97-AF65-F5344CB8AC3E}">
        <p14:creationId xmlns:p14="http://schemas.microsoft.com/office/powerpoint/2010/main" val="139746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777" y="2636912"/>
            <a:ext cx="4359548" cy="1029077"/>
          </a:xfrm>
        </p:spPr>
        <p:txBody>
          <a:bodyPr>
            <a:noAutofit/>
          </a:bodyPr>
          <a:lstStyle/>
          <a:p>
            <a:r>
              <a:rPr lang="en-GB" sz="4400" b="1" dirty="0">
                <a:latin typeface="Abadi" panose="020B0604020104020204" pitchFamily="34" charset="0"/>
                <a:cs typeface="Arial" panose="020B0604020202020204" pitchFamily="34" charset="0"/>
              </a:rPr>
              <a:t>Regression </a:t>
            </a:r>
          </a:p>
        </p:txBody>
      </p:sp>
    </p:spTree>
    <p:extLst>
      <p:ext uri="{BB962C8B-B14F-4D97-AF65-F5344CB8AC3E}">
        <p14:creationId xmlns:p14="http://schemas.microsoft.com/office/powerpoint/2010/main" val="37158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6395" y="406755"/>
            <a:ext cx="4539210" cy="457249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Regression: Basics 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281" y="1124744"/>
            <a:ext cx="10846965" cy="4968552"/>
          </a:xfrm>
        </p:spPr>
        <p:txBody>
          <a:bodyPr>
            <a:noAutofit/>
          </a:bodyPr>
          <a:lstStyle/>
          <a:p>
            <a:pPr marL="0" indent="0">
              <a:buSzPct val="105000"/>
              <a:buNone/>
            </a:pPr>
            <a:r>
              <a:rPr lang="en-US" alt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Why we use regression?</a:t>
            </a:r>
          </a:p>
          <a:p>
            <a:pPr lvl="1">
              <a:buSzPct val="105000"/>
            </a:pPr>
            <a:r>
              <a:rPr lang="en-US" altLang="en-US" dirty="0">
                <a:latin typeface="Abadi" panose="020B0604020104020204" pitchFamily="34" charset="0"/>
              </a:rPr>
              <a:t>Modeling  relationship between variables</a:t>
            </a:r>
          </a:p>
          <a:p>
            <a:pPr lvl="1">
              <a:buSzPct val="105000"/>
            </a:pPr>
            <a:r>
              <a:rPr lang="en-US" altLang="en-US" dirty="0">
                <a:latin typeface="Abadi" panose="020B0604020104020204" pitchFamily="34" charset="0"/>
              </a:rPr>
              <a:t>Predict outcome of one variable as a function of others</a:t>
            </a:r>
          </a:p>
          <a:p>
            <a:pPr lvl="1">
              <a:buSzPct val="105000"/>
            </a:pPr>
            <a:r>
              <a:rPr lang="en-US" altLang="en-US" dirty="0">
                <a:latin typeface="Abadi" panose="020B0604020104020204" pitchFamily="34" charset="0"/>
              </a:rPr>
              <a:t>Investigate the relative importance of the predictors</a:t>
            </a:r>
          </a:p>
          <a:p>
            <a:pPr>
              <a:buSzPct val="105000"/>
            </a:pPr>
            <a:r>
              <a:rPr lang="en-GB" sz="2400" dirty="0">
                <a:solidFill>
                  <a:srgbClr val="0070C0"/>
                </a:solidFill>
                <a:latin typeface="Abadi" panose="020B0604020104020204" pitchFamily="34" charset="0"/>
              </a:rPr>
              <a:t>Assumptions : Linearity, Homoscedasticity, Independence, Normality</a:t>
            </a:r>
            <a:endParaRPr lang="en-GB" altLang="en-US" sz="24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marL="0" indent="0">
              <a:buSzPct val="105000"/>
              <a:buNone/>
            </a:pPr>
            <a:endParaRPr lang="en-GB" altLang="en-US" sz="24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marL="0" indent="0">
              <a:buSzPct val="105000"/>
              <a:buNone/>
            </a:pPr>
            <a:r>
              <a:rPr lang="en-GB" alt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Types of regression </a:t>
            </a:r>
          </a:p>
          <a:p>
            <a:pPr lvl="1">
              <a:buSzPct val="105000"/>
              <a:buFont typeface="Arial" panose="020B0604020202020204" pitchFamily="34" charset="0"/>
              <a:buChar char="•"/>
            </a:pPr>
            <a:r>
              <a:rPr lang="en-GB" altLang="en-US" dirty="0">
                <a:latin typeface="Abadi" panose="020B0604020104020204" pitchFamily="34" charset="0"/>
              </a:rPr>
              <a:t>Linear </a:t>
            </a:r>
          </a:p>
          <a:p>
            <a:pPr lvl="2">
              <a:buSzPct val="105000"/>
            </a:pPr>
            <a:r>
              <a:rPr lang="en-GB" altLang="en-US" sz="2400" dirty="0">
                <a:latin typeface="Abadi" panose="020B0604020104020204" pitchFamily="34" charset="0"/>
              </a:rPr>
              <a:t>Simple linear </a:t>
            </a:r>
          </a:p>
          <a:p>
            <a:pPr lvl="2">
              <a:buSzPct val="105000"/>
            </a:pPr>
            <a:r>
              <a:rPr lang="en-GB" altLang="en-US" sz="2400" dirty="0">
                <a:latin typeface="Abadi" panose="020B0604020104020204" pitchFamily="34" charset="0"/>
              </a:rPr>
              <a:t>Multiple linear </a:t>
            </a:r>
          </a:p>
          <a:p>
            <a:pPr lvl="1">
              <a:buSzPct val="105000"/>
              <a:buFont typeface="Arial" panose="020B0604020202020204" pitchFamily="34" charset="0"/>
              <a:buChar char="•"/>
            </a:pPr>
            <a:r>
              <a:rPr lang="en-GB" altLang="en-US" dirty="0">
                <a:latin typeface="Abadi" panose="020B0604020104020204" pitchFamily="34" charset="0"/>
              </a:rPr>
              <a:t>Nonlinear/Curvilinear</a:t>
            </a:r>
          </a:p>
          <a:p>
            <a:pPr marL="342900" lvl="1" indent="0">
              <a:buSzPct val="105000"/>
              <a:buNone/>
            </a:pPr>
            <a:endParaRPr lang="en-GB" dirty="0"/>
          </a:p>
          <a:p>
            <a:pPr marL="0" indent="0"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1582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807968" y="1268760"/>
            <a:ext cx="6154733" cy="4337671"/>
            <a:chOff x="4148798" y="2127845"/>
            <a:chExt cx="4824536" cy="4337671"/>
          </a:xfrm>
        </p:grpSpPr>
        <p:sp>
          <p:nvSpPr>
            <p:cNvPr id="96261" name="Text Box 5"/>
            <p:cNvSpPr txBox="1">
              <a:spLocks noChangeArrowheads="1"/>
            </p:cNvSpPr>
            <p:nvPr/>
          </p:nvSpPr>
          <p:spPr bwMode="auto">
            <a:xfrm>
              <a:off x="4148798" y="2827917"/>
              <a:ext cx="4824536" cy="36375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US" altLang="en-US" sz="2000" dirty="0">
                <a:solidFill>
                  <a:prstClr val="black"/>
                </a:solidFill>
                <a:latin typeface="Abadi" panose="020B0604020104020204" pitchFamily="34" charset="0"/>
              </a:endParaRPr>
            </a:p>
            <a:p>
              <a:pPr marL="192881" indent="-192881"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y=Dependent / response / outcome </a:t>
              </a:r>
            </a:p>
            <a:p>
              <a:pPr marL="192881" indent="-192881"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X=Independent / </a:t>
              </a:r>
              <a:r>
                <a:rPr lang="en-US" altLang="en-US" sz="2000" dirty="0" err="1">
                  <a:solidFill>
                    <a:prstClr val="black"/>
                  </a:solidFill>
                  <a:latin typeface="Abadi" panose="020B0604020104020204" pitchFamily="34" charset="0"/>
                </a:rPr>
                <a:t>regressor</a:t>
              </a: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 / predictor</a:t>
              </a:r>
            </a:p>
            <a:p>
              <a:pPr marL="192881" indent="-192881"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   =Random variable representing the result of both errors in model specification and measurement. </a:t>
              </a:r>
            </a:p>
            <a:p>
              <a:pPr marL="192881" indent="-192881">
                <a:buFont typeface="Arial" panose="020B0604020202020204" pitchFamily="34" charset="0"/>
                <a:buChar char="•"/>
              </a:pPr>
              <a:endParaRPr lang="en-US" altLang="en-US" sz="2000" dirty="0">
                <a:solidFill>
                  <a:prstClr val="black"/>
                </a:solidFill>
                <a:latin typeface="Abadi" panose="020B0604020104020204" pitchFamily="34" charset="0"/>
              </a:endParaRPr>
            </a:p>
            <a:p>
              <a:pPr marL="192881" indent="-192881"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In the figure </a:t>
              </a:r>
            </a:p>
            <a:p>
              <a:pPr marL="650081" lvl="1" indent="-192881"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Number of observations (n)=10</a:t>
              </a:r>
            </a:p>
            <a:p>
              <a:pPr marL="650081" lvl="1" indent="-192881"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Number of response variables (y) =1</a:t>
              </a:r>
            </a:p>
            <a:p>
              <a:pPr marL="650081" lvl="1" indent="-192881"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prstClr val="black"/>
                  </a:solidFill>
                  <a:latin typeface="Abadi" panose="020B0604020104020204" pitchFamily="34" charset="0"/>
                </a:rPr>
                <a:t>Number of predictor variables (X) =1</a:t>
              </a:r>
            </a:p>
            <a:p>
              <a:pPr marL="192881" indent="-192881">
                <a:buFont typeface="Arial" panose="020B0604020202020204" pitchFamily="34" charset="0"/>
                <a:buChar char="•"/>
              </a:pPr>
              <a:endParaRPr lang="en-US" altLang="en-US" dirty="0">
                <a:solidFill>
                  <a:prstClr val="black"/>
                </a:solidFill>
                <a:latin typeface="Abadi" panose="020B0604020104020204" pitchFamily="34" charset="0"/>
              </a:endParaRPr>
            </a:p>
            <a:p>
              <a:endParaRPr lang="en-US" altLang="en-US" sz="1238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374579" y="2127845"/>
              <a:ext cx="2031465" cy="1938707"/>
              <a:chOff x="5745028" y="1115836"/>
              <a:chExt cx="3611494" cy="3446589"/>
            </a:xfrm>
          </p:grpSpPr>
          <p:graphicFrame>
            <p:nvGraphicFramePr>
              <p:cNvPr id="3" name="Object 2"/>
              <p:cNvGraphicFramePr>
                <a:graphicFrameLocks noChangeAspect="1"/>
              </p:cNvGraphicFramePr>
              <p:nvPr/>
            </p:nvGraphicFramePr>
            <p:xfrm>
              <a:off x="6095016" y="1115836"/>
              <a:ext cx="3261506" cy="7788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850680" imgH="203040" progId="Equation.3">
                      <p:embed/>
                    </p:oleObj>
                  </mc:Choice>
                  <mc:Fallback>
                    <p:oleObj name="Equation" r:id="rId2" imgW="850680" imgH="203040" progId="Equation.3">
                      <p:embed/>
                      <p:pic>
                        <p:nvPicPr>
                          <p:cNvPr id="3" name="Object 2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6095016" y="1115836"/>
                            <a:ext cx="3261506" cy="77886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7484312"/>
                  </p:ext>
                </p:extLst>
              </p:nvPr>
            </p:nvGraphicFramePr>
            <p:xfrm>
              <a:off x="5745028" y="4170928"/>
              <a:ext cx="310205" cy="3914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26720" imgH="139680" progId="Equation.3">
                      <p:embed/>
                    </p:oleObj>
                  </mc:Choice>
                  <mc:Fallback>
                    <p:oleObj name="Equation" r:id="rId4" imgW="126720" imgH="139680" progId="Equation.3">
                      <p:embed/>
                      <p:pic>
                        <p:nvPicPr>
                          <p:cNvPr id="4" name="Object 3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5745028" y="4170928"/>
                            <a:ext cx="310205" cy="39149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" name="Rectangle 4"/>
          <p:cNvSpPr/>
          <p:nvPr/>
        </p:nvSpPr>
        <p:spPr>
          <a:xfrm>
            <a:off x="699196" y="5016445"/>
            <a:ext cx="55081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735" indent="-160735">
              <a:spcBef>
                <a:spcPct val="20000"/>
              </a:spcBef>
              <a:buClr>
                <a:srgbClr val="44546A"/>
              </a:buClr>
              <a:buSzPct val="70000"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How one variable changes with another</a:t>
            </a:r>
          </a:p>
          <a:p>
            <a:pPr marL="160735" indent="-160735">
              <a:spcBef>
                <a:spcPct val="20000"/>
              </a:spcBef>
              <a:buClr>
                <a:srgbClr val="44546A"/>
              </a:buClr>
              <a:buSzPct val="70000"/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How “X” and “y” are behaving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5647940"/>
              </p:ext>
            </p:extLst>
          </p:nvPr>
        </p:nvGraphicFramePr>
        <p:xfrm>
          <a:off x="1631504" y="1772816"/>
          <a:ext cx="3733750" cy="2428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784450" y="238210"/>
            <a:ext cx="4623100" cy="438113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Regression: Basics </a:t>
            </a:r>
          </a:p>
        </p:txBody>
      </p:sp>
    </p:spTree>
    <p:extLst>
      <p:ext uri="{BB962C8B-B14F-4D97-AF65-F5344CB8AC3E}">
        <p14:creationId xmlns:p14="http://schemas.microsoft.com/office/powerpoint/2010/main" val="211049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849304" y="118593"/>
            <a:ext cx="6768752" cy="1322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b="1" dirty="0">
                <a:latin typeface="Abadi" panose="020B0604020104020204" pitchFamily="34" charset="0"/>
              </a:rPr>
              <a:t>Regression: </a:t>
            </a:r>
            <a:r>
              <a:rPr lang="en-US" altLang="en-US" b="1" dirty="0">
                <a:solidFill>
                  <a:prstClr val="black"/>
                </a:solidFill>
                <a:latin typeface="Abadi" panose="020B0604020104020204" pitchFamily="34" charset="0"/>
              </a:rPr>
              <a:t>One example</a:t>
            </a: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5695803"/>
              </p:ext>
            </p:extLst>
          </p:nvPr>
        </p:nvGraphicFramePr>
        <p:xfrm>
          <a:off x="1991544" y="1471883"/>
          <a:ext cx="3733750" cy="2428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992004" y="1071356"/>
            <a:ext cx="417646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Here: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y  = Response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 = Predictor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495600" y="4365105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1"/>
            <a:r>
              <a:rPr lang="en-US" altLang="en-US" sz="2400" dirty="0">
                <a:latin typeface="Abadi" panose="020B0604020104020204" pitchFamily="34" charset="0"/>
              </a:rPr>
              <a:t>y (</a:t>
            </a:r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Response</a:t>
            </a:r>
            <a:r>
              <a:rPr lang="en-US" altLang="en-US" sz="2400" dirty="0">
                <a:latin typeface="Abadi" panose="020B0604020104020204" pitchFamily="34" charset="0"/>
              </a:rPr>
              <a:t>) = </a:t>
            </a:r>
            <a:r>
              <a:rPr lang="en-AU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24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Abadi" panose="020B0604020104020204" pitchFamily="34" charset="0"/>
              </a:rPr>
              <a:t>+ </a:t>
            </a:r>
            <a:r>
              <a:rPr lang="en-AU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24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Abadi" panose="020B0604020104020204" pitchFamily="34" charset="0"/>
              </a:rPr>
              <a:t>* X</a:t>
            </a:r>
            <a:r>
              <a:rPr lang="en-US" altLang="en-US" sz="2400" baseline="-25000" dirty="0">
                <a:latin typeface="Abadi" panose="020B0604020104020204" pitchFamily="34" charset="0"/>
              </a:rPr>
              <a:t>1</a:t>
            </a:r>
            <a:r>
              <a:rPr lang="en-US" altLang="en-US" sz="2400" dirty="0">
                <a:latin typeface="Abadi" panose="020B0604020104020204" pitchFamily="34" charset="0"/>
              </a:rPr>
              <a:t> + Error</a:t>
            </a:r>
            <a:endParaRPr lang="en-US" altLang="en-US" sz="2400" baseline="-25000" dirty="0">
              <a:latin typeface="Abadi" panose="020B0604020104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5549290" y="4857310"/>
            <a:ext cx="330686" cy="659923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079776" y="5547772"/>
            <a:ext cx="4176464" cy="40150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</a:rPr>
              <a:t>Slope / Coefficient/ Weights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35760" y="2564904"/>
            <a:ext cx="1440160" cy="0"/>
          </a:xfrm>
          <a:prstGeom prst="line">
            <a:avLst/>
          </a:prstGeom>
          <a:ln w="222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>
            <a:off x="4151784" y="2420888"/>
            <a:ext cx="144016" cy="288032"/>
          </a:xfrm>
          <a:prstGeom prst="arc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98281" y="2082915"/>
            <a:ext cx="404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altLang="en-US" dirty="0">
                <a:solidFill>
                  <a:srgbClr val="FF0000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baseline="-25000" dirty="0">
                <a:solidFill>
                  <a:srgbClr val="FF0000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endParaRPr lang="en-GB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53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3755716" y="25027"/>
            <a:ext cx="5445511" cy="673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  <a:t>Multiple linear regression</a:t>
            </a: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4694962" y="2549602"/>
            <a:ext cx="5973039" cy="89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Regression Equation : Surface </a:t>
            </a:r>
          </a:p>
          <a:p>
            <a:pPr marL="257175" lvl="1" indent="0">
              <a:buNone/>
            </a:pPr>
            <a:r>
              <a:rPr lang="en-US" altLang="en-US" sz="1800" dirty="0"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latin typeface="Abadi" panose="020B0604020104020204" pitchFamily="34" charset="0"/>
              </a:rPr>
              <a:t> + Error</a:t>
            </a:r>
            <a:endParaRPr lang="en-US" altLang="en-US" sz="1800" baseline="-25000" dirty="0">
              <a:latin typeface="Abadi" panose="020B0604020104020204" pitchFamily="34" charset="0"/>
            </a:endParaRPr>
          </a:p>
          <a:p>
            <a:pPr>
              <a:buClr>
                <a:srgbClr val="0563C1"/>
              </a:buClr>
            </a:pPr>
            <a:endParaRPr lang="en-US" altLang="en-US" sz="1575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775520" y="4516954"/>
            <a:ext cx="4932998" cy="1097114"/>
          </a:xfrm>
          <a:prstGeom prst="rect">
            <a:avLst/>
          </a:prstGeom>
          <a:noFill/>
          <a:ln w="3175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More general Equation: multidimensional surface</a:t>
            </a:r>
          </a:p>
          <a:p>
            <a:pPr marL="257175" lvl="1" indent="0">
              <a:buNone/>
            </a:pP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… 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 err="1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 err="1">
                <a:solidFill>
                  <a:prstClr val="black"/>
                </a:solidFill>
                <a:latin typeface="Abadi" panose="020B0604020104020204" pitchFamily="34" charset="0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Error</a:t>
            </a:r>
            <a:endParaRPr lang="en-US" altLang="en-US" sz="18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0" indent="0">
              <a:buClr>
                <a:srgbClr val="0563C1"/>
              </a:buClr>
              <a:buNone/>
            </a:pPr>
            <a:endParaRPr lang="en-US" altLang="en-US" sz="16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631505" y="678608"/>
            <a:ext cx="2942035" cy="2506694"/>
            <a:chOff x="765869" y="789171"/>
            <a:chExt cx="2942035" cy="2506694"/>
          </a:xfrm>
        </p:grpSpPr>
        <p:sp>
          <p:nvSpPr>
            <p:cNvPr id="3" name="Rectangle 2"/>
            <p:cNvSpPr/>
            <p:nvPr/>
          </p:nvSpPr>
          <p:spPr>
            <a:xfrm rot="5400000">
              <a:off x="793921" y="1713960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y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568" y="789171"/>
              <a:ext cx="2651336" cy="2369279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 rot="21165814">
              <a:off x="2785032" y="2957311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1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992604">
              <a:off x="1333244" y="2846059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2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6888089" y="4465347"/>
            <a:ext cx="51249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Question:</a:t>
            </a:r>
          </a:p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Do you see any problem / Issue in this example?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930184" y="717707"/>
            <a:ext cx="417646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Same example but with x</a:t>
            </a:r>
            <a:r>
              <a:rPr lang="en-US" altLang="en-US" sz="24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: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y  = Response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 = Predictor 1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 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= Predictor 1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1" y="5770680"/>
            <a:ext cx="5119159" cy="919125"/>
            <a:chOff x="0" y="5770679"/>
            <a:chExt cx="5119159" cy="91912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7530" y="5770679"/>
              <a:ext cx="3031629" cy="9191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" name="Rectangle 9"/>
            <p:cNvSpPr/>
            <p:nvPr/>
          </p:nvSpPr>
          <p:spPr>
            <a:xfrm>
              <a:off x="0" y="6045576"/>
              <a:ext cx="19367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latin typeface="Abadi" panose="020B0604020104020204" pitchFamily="34" charset="0"/>
                </a:rPr>
                <a:t>Or in closed form 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800782" y="3909563"/>
            <a:ext cx="38186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If </a:t>
            </a:r>
            <a:r>
              <a:rPr lang="en-GB" sz="2400" b="1" dirty="0" err="1">
                <a:solidFill>
                  <a:srgbClr val="0070C0"/>
                </a:solidFill>
                <a:latin typeface="Abadi" panose="020B0604020104020204" pitchFamily="34" charset="0"/>
              </a:rPr>
              <a:t>nr</a:t>
            </a:r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. of variable= “p”, then  </a:t>
            </a:r>
          </a:p>
        </p:txBody>
      </p:sp>
    </p:spTree>
    <p:extLst>
      <p:ext uri="{BB962C8B-B14F-4D97-AF65-F5344CB8AC3E}">
        <p14:creationId xmlns:p14="http://schemas.microsoft.com/office/powerpoint/2010/main" val="202713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83832" y="260648"/>
            <a:ext cx="3600400" cy="72008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Multicollinearity</a:t>
            </a:r>
            <a:endParaRPr lang="nl-NL" altLang="en-US" sz="3600" b="1" dirty="0">
              <a:latin typeface="Abadi" panose="020B0604020104020204" pitchFamily="34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223" y="1124744"/>
            <a:ext cx="11752977" cy="5517232"/>
          </a:xfrm>
        </p:spPr>
        <p:txBody>
          <a:bodyPr>
            <a:noAutofit/>
          </a:bodyPr>
          <a:lstStyle/>
          <a:p>
            <a:r>
              <a:rPr lang="en-US" altLang="en-US" sz="2400" dirty="0">
                <a:latin typeface="Abadi" panose="020B0604020104020204" pitchFamily="34" charset="0"/>
              </a:rPr>
              <a:t>X</a:t>
            </a:r>
            <a:r>
              <a:rPr lang="en-US" altLang="en-US" sz="2400" b="1" baseline="-25000" dirty="0">
                <a:latin typeface="Abadi" panose="020B0604020104020204" pitchFamily="34" charset="0"/>
              </a:rPr>
              <a:t>1 </a:t>
            </a:r>
            <a:r>
              <a:rPr lang="en-US" altLang="en-US" sz="2400" dirty="0">
                <a:latin typeface="Abadi" panose="020B0604020104020204" pitchFamily="34" charset="0"/>
              </a:rPr>
              <a:t>and X</a:t>
            </a:r>
            <a:r>
              <a:rPr lang="en-US" altLang="en-US" sz="2400" b="1" baseline="-25000" dirty="0">
                <a:latin typeface="Abadi" panose="020B0604020104020204" pitchFamily="34" charset="0"/>
              </a:rPr>
              <a:t>2</a:t>
            </a:r>
            <a:r>
              <a:rPr lang="en-US" altLang="en-US" sz="2400" dirty="0">
                <a:latin typeface="Abadi" panose="020B0604020104020204" pitchFamily="34" charset="0"/>
              </a:rPr>
              <a:t>might be correlated</a:t>
            </a:r>
          </a:p>
          <a:p>
            <a:r>
              <a:rPr lang="en-US" altLang="en-US" sz="2400" dirty="0">
                <a:latin typeface="Abadi" panose="020B0604020104020204" pitchFamily="34" charset="0"/>
              </a:rPr>
              <a:t>Exact or near linear relationships between the x variables</a:t>
            </a:r>
          </a:p>
          <a:p>
            <a:r>
              <a:rPr lang="en-US" altLang="en-US" sz="2400" dirty="0">
                <a:latin typeface="Abadi" panose="020B0604020104020204" pitchFamily="34" charset="0"/>
              </a:rPr>
              <a:t>Also called as : collinearity, near-collinearity or ill-conditioning</a:t>
            </a:r>
          </a:p>
          <a:p>
            <a:pPr marL="0" indent="0">
              <a:buNone/>
            </a:pPr>
            <a:endParaRPr lang="en-US" altLang="en-US" sz="2400" b="1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What are the consequences? 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Regression coefficients 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Unstable (sensitive to small changes)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Not uniquely defined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Have high variance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Coefficients can get the wrong sign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Absolute values of regression coefficients can be absurdly high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Impossible to interpret individually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Relative importance of variables cannot be estimated reliably</a:t>
            </a:r>
            <a:endParaRPr lang="en-US" altLang="en-US" sz="2600" noProof="1">
              <a:latin typeface="Abadi" panose="020B0604020104020204" pitchFamily="34" charset="0"/>
            </a:endParaRPr>
          </a:p>
          <a:p>
            <a:pPr marL="342900" lvl="1" indent="0">
              <a:buNone/>
            </a:pPr>
            <a:endParaRPr lang="en-US" alt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altLang="en-US" sz="2400" dirty="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22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9023" y="997203"/>
            <a:ext cx="2777672" cy="257865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rgbClr val="0070C0"/>
                </a:solidFill>
                <a:latin typeface="Abadi" panose="020B0604020104020204" pitchFamily="34" charset="0"/>
              </a:rPr>
              <a:t>Bouncing betas</a:t>
            </a:r>
          </a:p>
        </p:txBody>
      </p:sp>
      <p:pic>
        <p:nvPicPr>
          <p:cNvPr id="77828" name="Picture 4" descr="neuralnet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1340768"/>
            <a:ext cx="7718798" cy="484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927648" y="44624"/>
            <a:ext cx="6824986" cy="112474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  <a:t>Consequences of Multicollinearity</a:t>
            </a:r>
            <a:br>
              <a:rPr lang="nl-NL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</a:br>
            <a:endParaRPr lang="en-US" altLang="en-US" sz="3600" b="1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9023" y="6167045"/>
            <a:ext cx="116439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>
                <a:latin typeface="Abadi" panose="020B0604020104020204" pitchFamily="34" charset="0"/>
              </a:rPr>
              <a:t>The Elements of Statistical Learning: Data Mining, Inference, and Prediction ; Trevor Hastie, Robert </a:t>
            </a:r>
            <a:r>
              <a:rPr lang="en-GB" i="1" dirty="0" err="1">
                <a:latin typeface="Abadi" panose="020B0604020104020204" pitchFamily="34" charset="0"/>
              </a:rPr>
              <a:t>Tibshirani</a:t>
            </a:r>
            <a:r>
              <a:rPr lang="en-GB" i="1" dirty="0">
                <a:latin typeface="Abadi" panose="020B0604020104020204" pitchFamily="34" charset="0"/>
              </a:rPr>
              <a:t>, Jerome Friedman</a:t>
            </a:r>
          </a:p>
        </p:txBody>
      </p:sp>
    </p:spTree>
    <p:extLst>
      <p:ext uri="{BB962C8B-B14F-4D97-AF65-F5344CB8AC3E}">
        <p14:creationId xmlns:p14="http://schemas.microsoft.com/office/powerpoint/2010/main" val="952233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3006" y="1088740"/>
            <a:ext cx="10872132" cy="4680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Always occurs when </a:t>
            </a:r>
          </a:p>
          <a:p>
            <a:pPr lvl="1"/>
            <a:r>
              <a:rPr lang="en-US" altLang="en-US" sz="2000" dirty="0">
                <a:latin typeface="Abadi" panose="020B0604020104020204" pitchFamily="34" charset="0"/>
              </a:rPr>
              <a:t>More variables (p) than objects (n) (p&gt;n)</a:t>
            </a:r>
          </a:p>
          <a:p>
            <a:r>
              <a:rPr lang="en-US" altLang="en-US" sz="2000" dirty="0">
                <a:latin typeface="Abadi" panose="020B0604020104020204" pitchFamily="34" charset="0"/>
              </a:rPr>
              <a:t>Therefore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Normal multiple linear regression not possible !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Traditional solutions</a:t>
            </a:r>
            <a:endParaRPr lang="en-US" altLang="en-US" sz="24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r>
              <a:rPr lang="en-US" altLang="en-US" sz="2000" dirty="0">
                <a:latin typeface="Abadi" panose="020B0604020104020204" pitchFamily="34" charset="0"/>
              </a:rPr>
              <a:t>Collect more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Takes lots of time, money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Sometime  impossible because of logistics (Project plan)</a:t>
            </a:r>
          </a:p>
          <a:p>
            <a:r>
              <a:rPr lang="en-US" altLang="en-US" sz="2000" dirty="0">
                <a:latin typeface="Abadi" panose="020B0604020104020204" pitchFamily="34" charset="0"/>
              </a:rPr>
              <a:t>Use a set of variables </a:t>
            </a:r>
            <a:r>
              <a:rPr lang="en-US" altLang="en-US" sz="2000" dirty="0" err="1">
                <a:latin typeface="Abadi" panose="020B0604020104020204" pitchFamily="34" charset="0"/>
              </a:rPr>
              <a:t>p</a:t>
            </a:r>
            <a:r>
              <a:rPr lang="en-US" altLang="en-US" sz="2000" baseline="-25000" dirty="0" err="1">
                <a:latin typeface="Abadi" panose="020B0604020104020204" pitchFamily="34" charset="0"/>
              </a:rPr>
              <a:t>subset</a:t>
            </a:r>
            <a:r>
              <a:rPr lang="en-US" altLang="en-US" sz="2000" dirty="0">
                <a:latin typeface="Abadi" panose="020B0604020104020204" pitchFamily="34" charset="0"/>
              </a:rPr>
              <a:t> &lt; 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Filter on quality criteria: ok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Still p &gt;&gt; 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Do not want to remove more if not known whether important</a:t>
            </a:r>
          </a:p>
          <a:p>
            <a:pPr marL="257175" lvl="1" indent="0">
              <a:buNone/>
            </a:pPr>
            <a:endParaRPr lang="en-US" altLang="en-US" dirty="0">
              <a:latin typeface="Abadi" panose="020B0604020104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392163" y="99854"/>
            <a:ext cx="3292153" cy="648072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latin typeface="Abadi" panose="020B0604020104020204" pitchFamily="34" charset="0"/>
              </a:rPr>
              <a:t>Multicollinearity</a:t>
            </a:r>
            <a:endParaRPr lang="nl-NL" altLang="en-US" sz="32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54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719737" y="260648"/>
            <a:ext cx="4757713" cy="72008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Also possible solutions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7353" y="1774907"/>
            <a:ext cx="9410497" cy="348499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>
                <a:latin typeface="Abadi" panose="020B0604020104020204" pitchFamily="34" charset="0"/>
              </a:rPr>
              <a:t>Use selected variables based on </a:t>
            </a:r>
            <a:r>
              <a:rPr lang="en-US" altLang="en-US" dirty="0">
                <a:solidFill>
                  <a:srgbClr val="0070C0"/>
                </a:solidFill>
                <a:latin typeface="Abadi" panose="020B0604020104020204" pitchFamily="34" charset="0"/>
              </a:rPr>
              <a:t>“some”  </a:t>
            </a:r>
            <a:r>
              <a:rPr lang="en-US" altLang="en-US" dirty="0">
                <a:latin typeface="Abadi" panose="020B0604020104020204" pitchFamily="34" charset="0"/>
              </a:rPr>
              <a:t>criteria </a:t>
            </a:r>
          </a:p>
          <a:p>
            <a:r>
              <a:rPr lang="en-US" altLang="en-US" dirty="0">
                <a:latin typeface="Abadi" panose="020B0604020104020204" pitchFamily="34" charset="0"/>
              </a:rPr>
              <a:t>Filter first on univariate methods (t-test, correlation, ANOVA)</a:t>
            </a:r>
          </a:p>
          <a:p>
            <a:pPr lvl="1"/>
            <a:r>
              <a:rPr lang="en-US" altLang="en-US" sz="2800" dirty="0">
                <a:latin typeface="Abadi" panose="020B0604020104020204" pitchFamily="34" charset="0"/>
              </a:rPr>
              <a:t>Problem</a:t>
            </a:r>
          </a:p>
          <a:p>
            <a:pPr lvl="2"/>
            <a:r>
              <a:rPr lang="en-US" altLang="en-US" sz="2800" dirty="0">
                <a:latin typeface="Abadi" panose="020B0604020104020204" pitchFamily="34" charset="0"/>
              </a:rPr>
              <a:t>Assumption is variables are independent</a:t>
            </a:r>
          </a:p>
          <a:p>
            <a:pPr lvl="2"/>
            <a:r>
              <a:rPr lang="en-US" altLang="en-US" sz="2800" dirty="0">
                <a:latin typeface="Abadi" panose="020B0604020104020204" pitchFamily="34" charset="0"/>
              </a:rPr>
              <a:t>Multiple testing </a:t>
            </a:r>
          </a:p>
          <a:p>
            <a:pPr lvl="1"/>
            <a:endParaRPr lang="en-US" altLang="en-US" sz="2800" dirty="0">
              <a:latin typeface="Abadi" panose="020B0604020104020204" pitchFamily="34" charset="0"/>
            </a:endParaRPr>
          </a:p>
          <a:p>
            <a:r>
              <a:rPr lang="en-US" altLang="en-US" dirty="0">
                <a:latin typeface="Abadi" panose="020B0604020104020204" pitchFamily="34" charset="0"/>
              </a:rPr>
              <a:t>Dimension reduction (PCA, clustering)</a:t>
            </a:r>
          </a:p>
          <a:p>
            <a:r>
              <a:rPr lang="en-US" altLang="en-US" dirty="0">
                <a:latin typeface="Abadi" panose="020B0604020104020204" pitchFamily="34" charset="0"/>
              </a:rPr>
              <a:t>Machine learning methods</a:t>
            </a:r>
          </a:p>
          <a:p>
            <a:r>
              <a:rPr lang="en-US" altLang="en-US" dirty="0">
                <a:latin typeface="Abadi" panose="020B0604020104020204" pitchFamily="34" charset="0"/>
              </a:rPr>
              <a:t>Penalized methods</a:t>
            </a:r>
          </a:p>
          <a:p>
            <a:pPr marL="0" indent="0">
              <a:buNone/>
            </a:pPr>
            <a:endParaRPr lang="en-US" altLang="en-US" sz="1800" dirty="0">
              <a:latin typeface="Abadi" panose="020B0604020104020204" pitchFamily="34" charset="0"/>
            </a:endParaRPr>
          </a:p>
          <a:p>
            <a:pPr marL="257175" lvl="1" indent="0">
              <a:buNone/>
            </a:pPr>
            <a:endParaRPr lang="en-US" alt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897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DA73-8669-9C7F-CA42-971855D4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Practical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71503-7088-4820-B8EA-90D1A15E6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90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24A33F7-E49A-D7BB-1019-8DE3893F4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924"/>
            <a:ext cx="9163480" cy="6414436"/>
          </a:xfrm>
          <a:prstGeom prst="rect">
            <a:avLst/>
          </a:prstGeom>
        </p:spPr>
      </p:pic>
      <p:pic>
        <p:nvPicPr>
          <p:cNvPr id="1026" name="Picture 2" descr="Caret R Package for Applied Predictive Modeling - MachineLearningMastery.com">
            <a:extLst>
              <a:ext uri="{FF2B5EF4-FFF2-40B4-BE49-F238E27FC236}">
                <a16:creationId xmlns:a16="http://schemas.microsoft.com/office/drawing/2014/main" id="{E3C4D4C6-BD53-D0FA-7958-D748E4ED5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203" y="270404"/>
            <a:ext cx="4281182" cy="115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CBBA6C-6140-AF3E-F763-DCD0E0630C6B}"/>
              </a:ext>
            </a:extLst>
          </p:cNvPr>
          <p:cNvSpPr txBox="1"/>
          <p:nvPr/>
        </p:nvSpPr>
        <p:spPr>
          <a:xfrm>
            <a:off x="293615" y="202980"/>
            <a:ext cx="10779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Abadi" panose="020B0604020104020204" pitchFamily="34" charset="0"/>
              </a:rPr>
              <a:t>The </a:t>
            </a:r>
            <a:r>
              <a:rPr lang="en-GB" sz="2400" b="1" i="0" dirty="0">
                <a:effectLst/>
                <a:latin typeface="Abadi" panose="020B0604020104020204" pitchFamily="34" charset="0"/>
              </a:rPr>
              <a:t>caret</a:t>
            </a:r>
            <a:r>
              <a:rPr lang="en-GB" sz="2400" b="0" i="0" dirty="0">
                <a:effectLst/>
                <a:latin typeface="Abadi" panose="020B0604020104020204" pitchFamily="34" charset="0"/>
              </a:rPr>
              <a:t> package (short for </a:t>
            </a:r>
            <a:r>
              <a:rPr lang="en-GB" sz="2400" b="1" i="0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C</a:t>
            </a:r>
            <a:r>
              <a:rPr lang="en-GB" sz="2400" b="1" i="0" dirty="0">
                <a:effectLst/>
                <a:latin typeface="Abadi" panose="020B0604020104020204" pitchFamily="34" charset="0"/>
              </a:rPr>
              <a:t>lassification </a:t>
            </a:r>
            <a:r>
              <a:rPr lang="en-GB" sz="2400" b="1" i="0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A</a:t>
            </a:r>
            <a:r>
              <a:rPr lang="en-GB" sz="2400" b="1" i="0" dirty="0">
                <a:effectLst/>
                <a:latin typeface="Abadi" panose="020B0604020104020204" pitchFamily="34" charset="0"/>
              </a:rPr>
              <a:t>nd </a:t>
            </a:r>
            <a:r>
              <a:rPr lang="en-GB" sz="2400" b="1" i="0" dirty="0" err="1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RE</a:t>
            </a:r>
            <a:r>
              <a:rPr lang="en-GB" sz="2400" b="1" i="0" dirty="0" err="1">
                <a:effectLst/>
                <a:latin typeface="Abadi" panose="020B0604020104020204" pitchFamily="34" charset="0"/>
              </a:rPr>
              <a:t>gression</a:t>
            </a:r>
            <a:r>
              <a:rPr lang="en-GB" sz="2400" b="1" i="0" dirty="0">
                <a:effectLst/>
                <a:latin typeface="Abadi" panose="020B0604020104020204" pitchFamily="34" charset="0"/>
              </a:rPr>
              <a:t> </a:t>
            </a:r>
            <a:r>
              <a:rPr lang="en-GB" sz="2400" b="1" i="0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T</a:t>
            </a:r>
            <a:r>
              <a:rPr lang="en-GB" sz="2400" b="1" i="0" dirty="0">
                <a:effectLst/>
                <a:latin typeface="Abadi" panose="020B0604020104020204" pitchFamily="34" charset="0"/>
              </a:rPr>
              <a:t>raining</a:t>
            </a:r>
            <a:endParaRPr lang="en-GB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88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F7AC-376B-429B-8D12-544080DF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How to pre-process using caret?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511E-2544-4303-A20B-E125E7B3A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Pre-processing is a important step in the data analysis </a:t>
            </a:r>
          </a:p>
          <a:p>
            <a:r>
              <a:rPr lang="en-GB" dirty="0">
                <a:latin typeface="Abadi" panose="020B0604020104020204" pitchFamily="34" charset="0"/>
              </a:rPr>
              <a:t>We need to standardize to make every variable in the same scale</a:t>
            </a:r>
          </a:p>
          <a:p>
            <a:r>
              <a:rPr lang="en-GB" dirty="0">
                <a:latin typeface="Abadi" panose="020B0604020104020204" pitchFamily="34" charset="0"/>
              </a:rPr>
              <a:t>Data becomes more like gaussian distribution</a:t>
            </a:r>
          </a:p>
          <a:p>
            <a:r>
              <a:rPr lang="en-GB" dirty="0">
                <a:latin typeface="Abadi" panose="020B0604020104020204" pitchFamily="34" charset="0"/>
              </a:rPr>
              <a:t>We can do it using following function</a:t>
            </a:r>
          </a:p>
          <a:p>
            <a:pPr marL="0" indent="0">
              <a:buNone/>
            </a:pPr>
            <a:endParaRPr lang="en-GB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Abadi" panose="020B0604020104020204" pitchFamily="34" charset="0"/>
              </a:rPr>
              <a:t>fit.lm2 </a:t>
            </a:r>
            <a:r>
              <a:rPr lang="en-GB" dirty="0">
                <a:solidFill>
                  <a:srgbClr val="0070C0"/>
                </a:solidFill>
                <a:latin typeface="Abadi" panose="020B0604020104020204" pitchFamily="34" charset="0"/>
              </a:rPr>
              <a:t>&lt;- train(</a:t>
            </a:r>
            <a:r>
              <a:rPr lang="en-GB" dirty="0" err="1">
                <a:solidFill>
                  <a:srgbClr val="0070C0"/>
                </a:solidFill>
                <a:latin typeface="Abadi" panose="020B0604020104020204" pitchFamily="34" charset="0"/>
              </a:rPr>
              <a:t>medv</a:t>
            </a:r>
            <a:r>
              <a:rPr lang="en-GB" dirty="0">
                <a:solidFill>
                  <a:srgbClr val="0070C0"/>
                </a:solidFill>
                <a:latin typeface="Abadi" panose="020B0604020104020204" pitchFamily="34" charset="0"/>
              </a:rPr>
              <a:t>~., data=training, method="</a:t>
            </a:r>
            <a:r>
              <a:rPr lang="en-GB" dirty="0" err="1">
                <a:solidFill>
                  <a:srgbClr val="0070C0"/>
                </a:solidFill>
                <a:latin typeface="Abadi" panose="020B0604020104020204" pitchFamily="34" charset="0"/>
              </a:rPr>
              <a:t>lm</a:t>
            </a:r>
            <a:r>
              <a:rPr lang="en-GB" dirty="0">
                <a:solidFill>
                  <a:srgbClr val="0070C0"/>
                </a:solidFill>
                <a:latin typeface="Abadi" panose="020B0604020104020204" pitchFamily="34" charset="0"/>
              </a:rPr>
              <a:t>", metric="RMSE", </a:t>
            </a:r>
            <a:r>
              <a:rPr lang="en-GB" dirty="0" err="1">
                <a:solidFill>
                  <a:srgbClr val="FF0000"/>
                </a:solidFill>
                <a:latin typeface="Abadi" panose="020B0604020104020204" pitchFamily="34" charset="0"/>
              </a:rPr>
              <a:t>preProc</a:t>
            </a:r>
            <a:r>
              <a:rPr lang="en-GB" dirty="0">
                <a:solidFill>
                  <a:srgbClr val="FF0000"/>
                </a:solidFill>
                <a:latin typeface="Abadi" panose="020B0604020104020204" pitchFamily="34" charset="0"/>
              </a:rPr>
              <a:t>=c("</a:t>
            </a:r>
            <a:r>
              <a:rPr lang="en-GB" dirty="0" err="1">
                <a:solidFill>
                  <a:srgbClr val="FF0000"/>
                </a:solidFill>
                <a:latin typeface="Abadi" panose="020B0604020104020204" pitchFamily="34" charset="0"/>
              </a:rPr>
              <a:t>center</a:t>
            </a:r>
            <a:r>
              <a:rPr lang="en-GB" dirty="0">
                <a:solidFill>
                  <a:srgbClr val="FF0000"/>
                </a:solidFill>
                <a:latin typeface="Abadi" panose="020B0604020104020204" pitchFamily="34" charset="0"/>
              </a:rPr>
              <a:t>", "scale"), </a:t>
            </a:r>
            <a:r>
              <a:rPr lang="en-GB" dirty="0" err="1">
                <a:solidFill>
                  <a:srgbClr val="0070C0"/>
                </a:solidFill>
                <a:latin typeface="Abadi" panose="020B0604020104020204" pitchFamily="34" charset="0"/>
              </a:rPr>
              <a:t>trControl</a:t>
            </a:r>
            <a:r>
              <a:rPr lang="en-GB" dirty="0">
                <a:solidFill>
                  <a:srgbClr val="0070C0"/>
                </a:solidFill>
                <a:latin typeface="Abadi" panose="020B0604020104020204" pitchFamily="34" charset="0"/>
              </a:rPr>
              <a:t>=control) </a:t>
            </a:r>
          </a:p>
        </p:txBody>
      </p:sp>
    </p:spTree>
    <p:extLst>
      <p:ext uri="{BB962C8B-B14F-4D97-AF65-F5344CB8AC3E}">
        <p14:creationId xmlns:p14="http://schemas.microsoft.com/office/powerpoint/2010/main" val="754958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BE4DC-3124-480D-86C4-AFE148F60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#Install the Caret Package and its </a:t>
            </a:r>
            <a:r>
              <a:rPr lang="en-GB" dirty="0" err="1"/>
              <a:t>depencencis</a:t>
            </a:r>
            <a:r>
              <a:rPr lang="en-GB" dirty="0"/>
              <a:t> if it is not already installed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</a:rPr>
              <a:t>if (!require("caret")) </a:t>
            </a:r>
            <a:r>
              <a:rPr lang="en-GB" dirty="0" err="1">
                <a:solidFill>
                  <a:srgbClr val="0070C0"/>
                </a:solidFill>
              </a:rPr>
              <a:t>install.packages</a:t>
            </a:r>
            <a:r>
              <a:rPr lang="en-GB" dirty="0">
                <a:solidFill>
                  <a:srgbClr val="0070C0"/>
                </a:solidFill>
              </a:rPr>
              <a:t>("caret", dependencies=T)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#Load the Package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</a:rPr>
              <a:t>library("caret")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0070C0"/>
                </a:solidFill>
              </a:rPr>
              <a:t>install.packages</a:t>
            </a:r>
            <a:r>
              <a:rPr lang="en-GB" dirty="0">
                <a:solidFill>
                  <a:srgbClr val="0070C0"/>
                </a:solidFill>
              </a:rPr>
              <a:t>("</a:t>
            </a:r>
            <a:r>
              <a:rPr lang="en-GB" dirty="0" err="1">
                <a:solidFill>
                  <a:srgbClr val="0070C0"/>
                </a:solidFill>
              </a:rPr>
              <a:t>mlr</a:t>
            </a:r>
            <a:r>
              <a:rPr lang="en-GB" dirty="0">
                <a:solidFill>
                  <a:srgbClr val="0070C0"/>
                </a:solidFill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563203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01B14-13AD-4217-AE6A-4EBAE3B08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70" y="115348"/>
            <a:ext cx="10142290" cy="6627303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00B050"/>
                </a:solidFill>
              </a:rPr>
              <a:t>#load packages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0070C0"/>
                </a:solidFill>
              </a:rPr>
              <a:t>library(caret)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0070C0"/>
                </a:solidFill>
              </a:rPr>
              <a:t>library(</a:t>
            </a:r>
            <a:r>
              <a:rPr lang="en-GB" sz="1800" b="0" i="0" u="none" strike="noStrike" baseline="0" dirty="0" err="1">
                <a:solidFill>
                  <a:srgbClr val="0070C0"/>
                </a:solidFill>
              </a:rPr>
              <a:t>mlbench</a:t>
            </a:r>
            <a:r>
              <a:rPr lang="en-GB" sz="1800" b="0" i="0" u="none" strike="noStrike" baseline="0" dirty="0">
                <a:solidFill>
                  <a:srgbClr val="0070C0"/>
                </a:solidFill>
              </a:rPr>
              <a:t>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00B050"/>
                </a:solidFill>
              </a:rPr>
              <a:t># load dataset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0070C0"/>
                </a:solidFill>
              </a:rPr>
              <a:t>data(</a:t>
            </a:r>
            <a:r>
              <a:rPr lang="en-GB" sz="1800" b="0" i="0" u="none" strike="noStrike" baseline="0" dirty="0" err="1">
                <a:solidFill>
                  <a:srgbClr val="0070C0"/>
                </a:solidFill>
              </a:rPr>
              <a:t>BostonHousing</a:t>
            </a:r>
            <a:r>
              <a:rPr lang="en-GB" sz="1800" b="0" i="0" u="none" strike="noStrike" baseline="0" dirty="0">
                <a:solidFill>
                  <a:srgbClr val="0070C0"/>
                </a:solidFill>
              </a:rPr>
              <a:t>)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rgbClr val="00B050"/>
                </a:solidFill>
              </a:rPr>
              <a:t># </a:t>
            </a:r>
            <a:r>
              <a:rPr lang="en-GB" sz="1800" b="0" i="0" u="none" strike="noStrike" baseline="0" dirty="0" err="1">
                <a:solidFill>
                  <a:srgbClr val="00B050"/>
                </a:solidFill>
              </a:rPr>
              <a:t>cheking</a:t>
            </a:r>
            <a:r>
              <a:rPr lang="en-GB" sz="1800" b="0" i="0" u="none" strike="noStrike" baseline="0" dirty="0">
                <a:solidFill>
                  <a:srgbClr val="00B050"/>
                </a:solidFill>
              </a:rPr>
              <a:t> the dimensions </a:t>
            </a:r>
            <a:endParaRPr lang="en-GB" sz="1800" b="0" i="0" u="none" strike="noStrike" baseline="0" dirty="0">
              <a:solidFill>
                <a:srgbClr val="0070C0"/>
              </a:solidFill>
            </a:endParaRP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0070C0"/>
                </a:solidFill>
              </a:rPr>
              <a:t>dim(</a:t>
            </a:r>
            <a:r>
              <a:rPr lang="en-GB" sz="1800" b="0" i="0" u="none" strike="noStrike" baseline="0" dirty="0" err="1">
                <a:solidFill>
                  <a:srgbClr val="0070C0"/>
                </a:solidFill>
              </a:rPr>
              <a:t>BostonHousing</a:t>
            </a:r>
            <a:r>
              <a:rPr lang="en-GB" sz="1800" b="0" i="0" u="none" strike="noStrike" baseline="0" dirty="0">
                <a:solidFill>
                  <a:srgbClr val="0070C0"/>
                </a:solidFill>
              </a:rPr>
              <a:t>)</a:t>
            </a:r>
          </a:p>
          <a:p>
            <a:pPr marL="0" indent="0" algn="l">
              <a:buNone/>
            </a:pPr>
            <a:r>
              <a:rPr lang="en-GB" sz="1800" dirty="0">
                <a:solidFill>
                  <a:srgbClr val="0070C0"/>
                </a:solidFill>
              </a:rPr>
              <a:t>head(</a:t>
            </a:r>
            <a:r>
              <a:rPr lang="en-GB" sz="1800" b="0" i="0" u="none" strike="noStrike" baseline="0" dirty="0" err="1">
                <a:solidFill>
                  <a:srgbClr val="0070C0"/>
                </a:solidFill>
              </a:rPr>
              <a:t>BostonHousing</a:t>
            </a:r>
            <a:r>
              <a:rPr lang="en-GB" sz="1800" dirty="0">
                <a:solidFill>
                  <a:srgbClr val="0070C0"/>
                </a:solidFill>
              </a:rPr>
              <a:t>) </a:t>
            </a:r>
            <a:endParaRPr lang="en-GB" sz="1800" b="0" i="0" u="none" strike="noStrike" baseline="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# create 80% and /20% for training and validation datasets</a:t>
            </a:r>
          </a:p>
          <a:p>
            <a:pPr marL="0" indent="0">
              <a:buNone/>
            </a:pPr>
            <a:r>
              <a:rPr lang="en-GB" sz="1800" dirty="0" err="1">
                <a:solidFill>
                  <a:srgbClr val="0070C0"/>
                </a:solidFill>
              </a:rPr>
              <a:t>set.seed</a:t>
            </a:r>
            <a:r>
              <a:rPr lang="en-GB" sz="1800" dirty="0">
                <a:solidFill>
                  <a:srgbClr val="0070C0"/>
                </a:solidFill>
              </a:rPr>
              <a:t>(9)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# create a partition on the data  </a:t>
            </a:r>
          </a:p>
          <a:p>
            <a:pPr marL="0" indent="0">
              <a:buNone/>
            </a:pPr>
            <a:r>
              <a:rPr lang="en-GB" sz="1800" dirty="0" err="1">
                <a:solidFill>
                  <a:srgbClr val="0070C0"/>
                </a:solidFill>
              </a:rPr>
              <a:t>validation_index</a:t>
            </a:r>
            <a:r>
              <a:rPr lang="en-GB" sz="1800" dirty="0">
                <a:solidFill>
                  <a:srgbClr val="0070C0"/>
                </a:solidFill>
              </a:rPr>
              <a:t> &lt;- </a:t>
            </a:r>
            <a:r>
              <a:rPr lang="en-GB" sz="1800" dirty="0" err="1">
                <a:solidFill>
                  <a:srgbClr val="0070C0"/>
                </a:solidFill>
              </a:rPr>
              <a:t>createDataPartition</a:t>
            </a:r>
            <a:r>
              <a:rPr lang="en-GB" sz="1800" dirty="0">
                <a:solidFill>
                  <a:srgbClr val="0070C0"/>
                </a:solidFill>
              </a:rPr>
              <a:t>(</a:t>
            </a:r>
            <a:r>
              <a:rPr lang="en-GB" sz="1800" b="0" i="0" u="none" strike="noStrike" baseline="0" dirty="0" err="1">
                <a:solidFill>
                  <a:srgbClr val="0070C0"/>
                </a:solidFill>
              </a:rPr>
              <a:t>BostonHousing</a:t>
            </a:r>
            <a:r>
              <a:rPr lang="en-GB" sz="1800" dirty="0" err="1">
                <a:solidFill>
                  <a:srgbClr val="0070C0"/>
                </a:solidFill>
              </a:rPr>
              <a:t>$medv</a:t>
            </a:r>
            <a:r>
              <a:rPr lang="en-GB" sz="1800" dirty="0">
                <a:solidFill>
                  <a:srgbClr val="0070C0"/>
                </a:solidFill>
              </a:rPr>
              <a:t>, p=0.80, list=FALSE)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</a:rPr>
              <a:t>training &lt;- </a:t>
            </a:r>
            <a:r>
              <a:rPr lang="en-GB" sz="1800" b="0" i="0" u="none" strike="noStrike" baseline="0" dirty="0" err="1">
                <a:solidFill>
                  <a:srgbClr val="0070C0"/>
                </a:solidFill>
              </a:rPr>
              <a:t>BostonHousing</a:t>
            </a:r>
            <a:r>
              <a:rPr lang="en-GB" sz="1800" dirty="0">
                <a:solidFill>
                  <a:srgbClr val="0070C0"/>
                </a:solidFill>
              </a:rPr>
              <a:t>[</a:t>
            </a:r>
            <a:r>
              <a:rPr lang="en-GB" sz="1800" dirty="0" err="1">
                <a:solidFill>
                  <a:srgbClr val="0070C0"/>
                </a:solidFill>
              </a:rPr>
              <a:t>validation_index</a:t>
            </a:r>
            <a:r>
              <a:rPr lang="en-GB" sz="1800" dirty="0">
                <a:solidFill>
                  <a:srgbClr val="0070C0"/>
                </a:solidFill>
              </a:rPr>
              <a:t>,]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</a:rPr>
              <a:t>dim(training)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# dimension of the validation data 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</a:rPr>
              <a:t>validation &lt;- </a:t>
            </a:r>
            <a:r>
              <a:rPr lang="en-GB" sz="1800" b="0" i="0" u="none" strike="noStrike" baseline="0" dirty="0" err="1">
                <a:solidFill>
                  <a:srgbClr val="0070C0"/>
                </a:solidFill>
              </a:rPr>
              <a:t>BostonHousing</a:t>
            </a:r>
            <a:r>
              <a:rPr lang="en-GB" sz="1800" dirty="0">
                <a:solidFill>
                  <a:srgbClr val="0070C0"/>
                </a:solidFill>
              </a:rPr>
              <a:t>[-</a:t>
            </a:r>
            <a:r>
              <a:rPr lang="en-GB" sz="1800" dirty="0" err="1">
                <a:solidFill>
                  <a:srgbClr val="0070C0"/>
                </a:solidFill>
              </a:rPr>
              <a:t>validation_index</a:t>
            </a:r>
            <a:r>
              <a:rPr lang="en-GB" sz="1800" dirty="0">
                <a:solidFill>
                  <a:srgbClr val="0070C0"/>
                </a:solidFill>
              </a:rPr>
              <a:t>,]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</a:rPr>
              <a:t># dimension of the validation data 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</a:rPr>
              <a:t>dim(validation)</a:t>
            </a:r>
          </a:p>
          <a:p>
            <a:pPr marL="0" indent="0">
              <a:buNone/>
            </a:pPr>
            <a:endParaRPr lang="en-GB" sz="4000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DA25DD-D66C-C89A-2972-E0139F212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876" y="0"/>
            <a:ext cx="6006128" cy="295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8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EB6C3E-B1B2-E521-17B5-70F9E2316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314" y="0"/>
            <a:ext cx="12374318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55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602F9-CF2F-4DED-B328-88E771937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350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800" dirty="0">
                <a:solidFill>
                  <a:srgbClr val="00B050"/>
                </a:solidFill>
              </a:rPr>
              <a:t># train a model and summarize model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control &lt;- </a:t>
            </a:r>
            <a:r>
              <a:rPr lang="en-GB" sz="2800" dirty="0" err="1">
                <a:solidFill>
                  <a:srgbClr val="0070C0"/>
                </a:solidFill>
              </a:rPr>
              <a:t>trainControl</a:t>
            </a:r>
            <a:r>
              <a:rPr lang="en-GB" sz="2800" dirty="0">
                <a:solidFill>
                  <a:srgbClr val="0070C0"/>
                </a:solidFill>
              </a:rPr>
              <a:t>(method="cv", number=10)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00B050"/>
                </a:solidFill>
              </a:rPr>
              <a:t># Create model on training set </a:t>
            </a:r>
          </a:p>
          <a:p>
            <a:pPr marL="0" indent="0">
              <a:buNone/>
            </a:pPr>
            <a:r>
              <a:rPr lang="en-GB" sz="2800" dirty="0" err="1">
                <a:solidFill>
                  <a:srgbClr val="FF0000"/>
                </a:solidFill>
              </a:rPr>
              <a:t>fit.lm</a:t>
            </a:r>
            <a:r>
              <a:rPr lang="en-GB" sz="2800" dirty="0">
                <a:solidFill>
                  <a:srgbClr val="FF0000"/>
                </a:solidFill>
              </a:rPr>
              <a:t> &lt;- train(</a:t>
            </a:r>
            <a:r>
              <a:rPr lang="en-GB" sz="2800" dirty="0" err="1">
                <a:solidFill>
                  <a:srgbClr val="FF0000"/>
                </a:solidFill>
              </a:rPr>
              <a:t>medv</a:t>
            </a:r>
            <a:r>
              <a:rPr lang="en-GB" sz="2800" dirty="0">
                <a:solidFill>
                  <a:srgbClr val="FF0000"/>
                </a:solidFill>
              </a:rPr>
              <a:t>~., data=training, method="</a:t>
            </a:r>
            <a:r>
              <a:rPr lang="en-GB" sz="2800" dirty="0" err="1">
                <a:solidFill>
                  <a:srgbClr val="FF0000"/>
                </a:solidFill>
              </a:rPr>
              <a:t>lm</a:t>
            </a:r>
            <a:r>
              <a:rPr lang="en-GB" sz="2800" dirty="0">
                <a:solidFill>
                  <a:srgbClr val="FF0000"/>
                </a:solidFill>
              </a:rPr>
              <a:t>", metric="RMSE", </a:t>
            </a:r>
            <a:r>
              <a:rPr lang="en-GB" sz="2800" dirty="0" err="1">
                <a:solidFill>
                  <a:srgbClr val="FF0000"/>
                </a:solidFill>
              </a:rPr>
              <a:t>trControl</a:t>
            </a:r>
            <a:r>
              <a:rPr lang="en-GB" sz="2800" dirty="0">
                <a:solidFill>
                  <a:srgbClr val="FF0000"/>
                </a:solidFill>
              </a:rPr>
              <a:t>=control)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print(</a:t>
            </a:r>
            <a:r>
              <a:rPr lang="en-GB" sz="2800" dirty="0" err="1">
                <a:solidFill>
                  <a:srgbClr val="0070C0"/>
                </a:solidFill>
              </a:rPr>
              <a:t>fit.lm</a:t>
            </a:r>
            <a:r>
              <a:rPr lang="en-GB" sz="2800" dirty="0">
                <a:solidFill>
                  <a:srgbClr val="0070C0"/>
                </a:solidFill>
              </a:rPr>
              <a:t>)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print(</a:t>
            </a:r>
            <a:r>
              <a:rPr lang="en-GB" sz="2800" dirty="0" err="1">
                <a:solidFill>
                  <a:srgbClr val="0070C0"/>
                </a:solidFill>
              </a:rPr>
              <a:t>fit.lm$finalModel</a:t>
            </a:r>
            <a:r>
              <a:rPr lang="en-GB" sz="2800" dirty="0">
                <a:solidFill>
                  <a:srgbClr val="0070C0"/>
                </a:solidFill>
              </a:rPr>
              <a:t>)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00B050"/>
                </a:solidFill>
              </a:rPr>
              <a:t># predict on test set  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predictions &lt;- predict(</a:t>
            </a:r>
            <a:r>
              <a:rPr lang="en-GB" sz="2800" dirty="0" err="1">
                <a:solidFill>
                  <a:srgbClr val="0070C0"/>
                </a:solidFill>
              </a:rPr>
              <a:t>fit.lm</a:t>
            </a:r>
            <a:r>
              <a:rPr lang="en-GB" sz="2800" dirty="0">
                <a:solidFill>
                  <a:srgbClr val="0070C0"/>
                </a:solidFill>
              </a:rPr>
              <a:t>, </a:t>
            </a:r>
            <a:r>
              <a:rPr lang="en-GB" sz="2800" dirty="0" err="1">
                <a:solidFill>
                  <a:srgbClr val="0070C0"/>
                </a:solidFill>
              </a:rPr>
              <a:t>newdata</a:t>
            </a:r>
            <a:r>
              <a:rPr lang="en-GB" sz="2800" dirty="0">
                <a:solidFill>
                  <a:srgbClr val="0070C0"/>
                </a:solidFill>
              </a:rPr>
              <a:t>=validation)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write.csv(predictions, "predictionsModel.csv ")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2708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67FB-0D21-34C1-8C77-E3F710066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399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Abadi" panose="020B0604020104020204" pitchFamily="34" charset="0"/>
              </a:rPr>
              <a:t>Methods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0501D22-637A-C10B-AD66-688AB253A51E}"/>
              </a:ext>
            </a:extLst>
          </p:cNvPr>
          <p:cNvGraphicFramePr/>
          <p:nvPr/>
        </p:nvGraphicFramePr>
        <p:xfrm>
          <a:off x="770757" y="365125"/>
          <a:ext cx="10438526" cy="5752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4169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0785" y="2276871"/>
            <a:ext cx="11249637" cy="2605521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y-NL" b="1" dirty="0">
                <a:latin typeface="Abadi" panose="020B0604020104020204" pitchFamily="34" charset="0"/>
              </a:rPr>
              <a:t>Penalization / Regularaization/</a:t>
            </a:r>
            <a:r>
              <a:rPr lang="en-US" altLang="en-US" b="1" dirty="0">
                <a:latin typeface="Abadi" panose="020B0604020104020204" pitchFamily="34" charset="0"/>
              </a:rPr>
              <a:t> Sparse/ Shrinkage</a:t>
            </a:r>
            <a:r>
              <a:rPr lang="fy-NL" b="1" dirty="0">
                <a:latin typeface="Abadi" panose="020B0604020104020204" pitchFamily="34" charset="0"/>
              </a:rPr>
              <a:t>  methods </a:t>
            </a:r>
            <a:br>
              <a:rPr lang="fy-NL" b="1" dirty="0">
                <a:latin typeface="Abadi" panose="020B0604020104020204" pitchFamily="34" charset="0"/>
              </a:rPr>
            </a:br>
            <a:r>
              <a:rPr lang="en-GB" sz="4400" b="0" i="0" u="none" strike="noStrike" baseline="0" dirty="0">
                <a:latin typeface="Abadi" panose="020B0604020104020204" pitchFamily="34" charset="0"/>
              </a:rPr>
              <a:t>Lasso, Ridge and Elastic Net</a:t>
            </a:r>
            <a:br>
              <a:rPr lang="en-GB" sz="4400" b="0" i="0" u="none" strike="noStrike" baseline="0" dirty="0">
                <a:latin typeface="Abadi" panose="020B0604020104020204" pitchFamily="34" charset="0"/>
              </a:rPr>
            </a:br>
            <a:endParaRPr lang="fy-NL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479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2595896" y="-24567"/>
            <a:ext cx="7528221" cy="673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  <a:t>Recollect: Multiple linear regression</a:t>
            </a: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4694962" y="2549602"/>
            <a:ext cx="5973039" cy="89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Regression Equation : Surface </a:t>
            </a:r>
          </a:p>
          <a:p>
            <a:pPr marL="257175" lvl="1" indent="0">
              <a:buNone/>
            </a:pPr>
            <a:r>
              <a:rPr lang="en-US" altLang="en-US" sz="1800" dirty="0"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latin typeface="Abadi" panose="020B0604020104020204" pitchFamily="34" charset="0"/>
              </a:rPr>
              <a:t> + Error</a:t>
            </a:r>
            <a:endParaRPr lang="en-US" altLang="en-US" sz="1800" baseline="-25000" dirty="0">
              <a:latin typeface="Abadi" panose="020B0604020104020204" pitchFamily="34" charset="0"/>
            </a:endParaRPr>
          </a:p>
          <a:p>
            <a:pPr>
              <a:buClr>
                <a:srgbClr val="0563C1"/>
              </a:buClr>
            </a:pPr>
            <a:endParaRPr lang="en-US" altLang="en-US" sz="1575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775520" y="4516954"/>
            <a:ext cx="4932998" cy="1097114"/>
          </a:xfrm>
          <a:prstGeom prst="rect">
            <a:avLst/>
          </a:prstGeom>
          <a:noFill/>
          <a:ln w="3175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More general Equation: multidimensional surface</a:t>
            </a:r>
          </a:p>
          <a:p>
            <a:pPr marL="257175" lvl="1" indent="0">
              <a:buNone/>
            </a:pP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… 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 err="1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 err="1">
                <a:solidFill>
                  <a:prstClr val="black"/>
                </a:solidFill>
                <a:latin typeface="Abadi" panose="020B0604020104020204" pitchFamily="34" charset="0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Error</a:t>
            </a:r>
            <a:endParaRPr lang="en-US" altLang="en-US" sz="18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0" indent="0">
              <a:buClr>
                <a:srgbClr val="0563C1"/>
              </a:buClr>
              <a:buNone/>
            </a:pPr>
            <a:endParaRPr lang="en-US" altLang="en-US" sz="16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631505" y="678608"/>
            <a:ext cx="2942035" cy="2506694"/>
            <a:chOff x="765869" y="789171"/>
            <a:chExt cx="2942035" cy="2506694"/>
          </a:xfrm>
        </p:grpSpPr>
        <p:sp>
          <p:nvSpPr>
            <p:cNvPr id="3" name="Rectangle 2"/>
            <p:cNvSpPr/>
            <p:nvPr/>
          </p:nvSpPr>
          <p:spPr>
            <a:xfrm rot="5400000">
              <a:off x="793921" y="1713960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y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568" y="789171"/>
              <a:ext cx="2651336" cy="2369279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 rot="21165814">
              <a:off x="2785032" y="2957311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1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992604">
              <a:off x="1333244" y="2846059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2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6888089" y="4465347"/>
            <a:ext cx="52172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Question:</a:t>
            </a:r>
          </a:p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Do you see any problem / Issue in this example?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930184" y="717707"/>
            <a:ext cx="417646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Same example but with x</a:t>
            </a:r>
            <a:r>
              <a:rPr lang="en-US" altLang="en-US" sz="24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: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y  = Response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 = Predictor 1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 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= Predictor 1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1" y="5770680"/>
            <a:ext cx="5119159" cy="919125"/>
            <a:chOff x="0" y="5770679"/>
            <a:chExt cx="5119159" cy="91912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7530" y="5770679"/>
              <a:ext cx="3031629" cy="9191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" name="Rectangle 9"/>
            <p:cNvSpPr/>
            <p:nvPr/>
          </p:nvSpPr>
          <p:spPr>
            <a:xfrm>
              <a:off x="0" y="6045576"/>
              <a:ext cx="19367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latin typeface="Abadi" panose="020B0604020104020204" pitchFamily="34" charset="0"/>
                </a:rPr>
                <a:t>Or in closed form 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800782" y="3909563"/>
            <a:ext cx="38186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If </a:t>
            </a:r>
            <a:r>
              <a:rPr lang="en-GB" sz="2400" b="1" dirty="0" err="1">
                <a:solidFill>
                  <a:srgbClr val="0070C0"/>
                </a:solidFill>
                <a:latin typeface="Abadi" panose="020B0604020104020204" pitchFamily="34" charset="0"/>
              </a:rPr>
              <a:t>nr</a:t>
            </a:r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. of variable= “p”, then  </a:t>
            </a:r>
          </a:p>
        </p:txBody>
      </p:sp>
    </p:spTree>
    <p:extLst>
      <p:ext uri="{BB962C8B-B14F-4D97-AF65-F5344CB8AC3E}">
        <p14:creationId xmlns:p14="http://schemas.microsoft.com/office/powerpoint/2010/main" val="142878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45AD-10DD-4D66-99EF-4361F4DC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3281"/>
          </a:xfrm>
        </p:spPr>
        <p:txBody>
          <a:bodyPr>
            <a:normAutofit/>
          </a:bodyPr>
          <a:lstStyle/>
          <a:p>
            <a:pPr algn="ctr"/>
            <a:r>
              <a:rPr lang="en-GB" sz="3600" b="1" i="0" dirty="0">
                <a:effectLst/>
                <a:latin typeface="Abadi" panose="020B0604020104020204" pitchFamily="34" charset="0"/>
              </a:rPr>
              <a:t>Why is regularization important?</a:t>
            </a:r>
            <a:br>
              <a:rPr lang="en-GB" sz="3600" b="0" i="0" dirty="0">
                <a:effectLst/>
                <a:latin typeface="Abadi" panose="020B0604020104020204" pitchFamily="34" charset="0"/>
              </a:rPr>
            </a:br>
            <a:endParaRPr lang="en-GB" sz="3600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DD03-818C-42ED-9401-F35BF1573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76" y="1708179"/>
            <a:ext cx="10515600" cy="4351338"/>
          </a:xfrm>
        </p:spPr>
        <p:txBody>
          <a:bodyPr/>
          <a:lstStyle/>
          <a:p>
            <a:pPr algn="l"/>
            <a:r>
              <a:rPr lang="en-GB" b="0" i="0" dirty="0">
                <a:effectLst/>
              </a:rPr>
              <a:t>Regularization favours simpler models to more complex models to prevent your model from overfitting to the data. </a:t>
            </a:r>
          </a:p>
          <a:p>
            <a:pPr algn="l"/>
            <a:r>
              <a:rPr lang="en-GB" b="0" i="0" dirty="0">
                <a:effectLst/>
              </a:rPr>
              <a:t>How so? </a:t>
            </a:r>
          </a:p>
          <a:p>
            <a:pPr lvl="1"/>
            <a:r>
              <a:rPr lang="en-GB" b="0" i="0" dirty="0">
                <a:effectLst/>
              </a:rPr>
              <a:t>They address the following concerns within a model:</a:t>
            </a:r>
          </a:p>
          <a:p>
            <a:pPr lvl="1"/>
            <a:r>
              <a:rPr lang="en-GB" b="0" i="0" dirty="0">
                <a:effectLst/>
              </a:rPr>
              <a:t>Variance-bias trade-off </a:t>
            </a:r>
          </a:p>
          <a:p>
            <a:pPr lvl="1"/>
            <a:r>
              <a:rPr lang="en-GB" b="0" i="0" dirty="0">
                <a:effectLst/>
              </a:rPr>
              <a:t>Multicollinearity</a:t>
            </a:r>
          </a:p>
          <a:p>
            <a:pPr lvl="1"/>
            <a:r>
              <a:rPr lang="en-GB" b="0" i="0" dirty="0">
                <a:effectLst/>
              </a:rPr>
              <a:t>Sparse data handling(i.e. the situation where there are more observations than features)</a:t>
            </a:r>
          </a:p>
          <a:p>
            <a:pPr lvl="1"/>
            <a:r>
              <a:rPr lang="en-GB" b="0" i="0" dirty="0">
                <a:effectLst/>
              </a:rPr>
              <a:t>Feature selection</a:t>
            </a:r>
          </a:p>
          <a:p>
            <a:pPr lvl="1"/>
            <a:r>
              <a:rPr lang="en-GB" b="0" i="0" dirty="0">
                <a:effectLst/>
              </a:rPr>
              <a:t>An easier interpretation of the output.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98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495601" y="941762"/>
            <a:ext cx="7282677" cy="2592288"/>
            <a:chOff x="1465787" y="332656"/>
            <a:chExt cx="7282677" cy="2592288"/>
          </a:xfrm>
        </p:grpSpPr>
        <p:sp>
          <p:nvSpPr>
            <p:cNvPr id="2" name="Rounded Rectangle 1"/>
            <p:cNvSpPr/>
            <p:nvPr/>
          </p:nvSpPr>
          <p:spPr>
            <a:xfrm>
              <a:off x="3673545" y="332656"/>
              <a:ext cx="2339347" cy="727907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Penalization Methods</a:t>
              </a:r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H="1">
              <a:off x="3030225" y="1082552"/>
              <a:ext cx="994222" cy="7059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5660697" y="1082552"/>
              <a:ext cx="1170965" cy="7059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ounded Rectangle 6"/>
            <p:cNvSpPr/>
            <p:nvPr/>
          </p:nvSpPr>
          <p:spPr>
            <a:xfrm>
              <a:off x="1465787" y="1835525"/>
              <a:ext cx="3128876" cy="1089419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Variable Selection Methods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LASSO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Tibshirani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R, 1996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Elastic Net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Zou H, 2005)</a:t>
              </a:r>
              <a:endParaRPr lang="en-GB" sz="16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76056" y="1824324"/>
              <a:ext cx="3672408" cy="727907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Ranking Methods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Ridge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Hoerl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and Kennard, 1970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513581" y="4177717"/>
            <a:ext cx="5040560" cy="2480449"/>
            <a:chOff x="2322938" y="3684855"/>
            <a:chExt cx="5040560" cy="2480449"/>
          </a:xfrm>
        </p:grpSpPr>
        <p:sp>
          <p:nvSpPr>
            <p:cNvPr id="10" name="Rounded Rectangle 9"/>
            <p:cNvSpPr/>
            <p:nvPr/>
          </p:nvSpPr>
          <p:spPr>
            <a:xfrm>
              <a:off x="3291482" y="3684855"/>
              <a:ext cx="2861862" cy="466120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LASSO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Tibshirani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R, 1996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4716016" y="4168637"/>
              <a:ext cx="6399" cy="76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2322938" y="4914736"/>
              <a:ext cx="5040560" cy="1250568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Fused LASSO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Tibshirani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and Saunders, 2005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Grouped LASSO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Yuan M, 2006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Adaptive LASSO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Zou H, 2006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Graphical LASSO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Friedman et al., 2007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endParaRPr lang="en-GB" dirty="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4394660" y="53606"/>
            <a:ext cx="30367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latin typeface="Abadi" panose="020B0604020104020204" pitchFamily="34" charset="0"/>
              </a:rPr>
              <a:t>Type of methods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289" y="3429001"/>
            <a:ext cx="1867105" cy="291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6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73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Abadi" panose="020B0604020104020204" pitchFamily="34" charset="0"/>
              </a:rPr>
              <a:t>Regularization: An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3516"/>
                <a:ext cx="10515600" cy="4893447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The idea of regularization revolves around modifying the loss function L; in particular, we add a regularization term that penalizes some specified properties of the model parameters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</m:oMath>
                </a14:m>
                <a:r>
                  <a:rPr lang="en-US" sz="2400" dirty="0"/>
                  <a:t> is a scalar that gives the weight (or importance) of the regularization term.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Fitting the model using the modified loss function </a:t>
                </a:r>
                <a:r>
                  <a:rPr lang="en-US" sz="2400" i="1" dirty="0" err="1"/>
                  <a:t>L</a:t>
                </a:r>
                <a:r>
                  <a:rPr lang="en-US" sz="2400" i="1" baseline="-25000" dirty="0" err="1"/>
                  <a:t>reg</a:t>
                </a:r>
                <a:r>
                  <a:rPr lang="en-US" sz="2400" dirty="0"/>
                  <a:t> would result in model parameters with desirable properties (specified by </a:t>
                </a:r>
                <a:r>
                  <a:rPr lang="en-US" sz="2400" i="1" dirty="0"/>
                  <a:t>R</a:t>
                </a:r>
                <a:r>
                  <a:rPr lang="en-US" sz="2400" dirty="0"/>
                  <a:t>).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3516"/>
                <a:ext cx="10515600" cy="4893447"/>
              </a:xfrm>
              <a:blipFill>
                <a:blip r:embed="rId2"/>
                <a:stretch>
                  <a:fillRect l="-812" t="-1746" r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859" y="2812538"/>
            <a:ext cx="4148119" cy="40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0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249" y="137433"/>
            <a:ext cx="4772072" cy="627420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Introduction to LASSO</a:t>
            </a: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69783" y="908721"/>
            <a:ext cx="10226817" cy="5710193"/>
            <a:chOff x="424136" y="908720"/>
            <a:chExt cx="8748464" cy="5229103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456402" y="908720"/>
              <a:ext cx="8504113" cy="14338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4C7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 marL="342900" indent="-342900">
                <a:spcBef>
                  <a:spcPct val="0"/>
                </a:spcBef>
                <a:spcAft>
                  <a:spcPct val="2000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News Gothic" pitchFamily="34" charset="0"/>
                </a:defRPr>
              </a:lvl1pPr>
              <a:lvl2pPr marL="742950" indent="-285750">
                <a:spcBef>
                  <a:spcPct val="0"/>
                </a:spcBef>
                <a:spcAft>
                  <a:spcPct val="20000"/>
                </a:spcAft>
                <a:buClr>
                  <a:srgbClr val="80BA64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News Gothic" pitchFamily="34" charset="0"/>
                </a:defRPr>
              </a:lvl2pPr>
              <a:lvl3pPr marL="1143000" indent="-228600">
                <a:spcBef>
                  <a:spcPct val="0"/>
                </a:spcBef>
                <a:spcAft>
                  <a:spcPct val="20000"/>
                </a:spcAft>
                <a:buChar char="•"/>
                <a:defRPr sz="1600">
                  <a:solidFill>
                    <a:schemeClr val="tx1"/>
                  </a:solidFill>
                  <a:latin typeface="News Gothic" pitchFamily="34" charset="0"/>
                </a:defRPr>
              </a:lvl3pPr>
              <a:lvl4pPr marL="1600200" indent="-228600">
                <a:spcBef>
                  <a:spcPct val="0"/>
                </a:spcBef>
                <a:spcAft>
                  <a:spcPct val="20000"/>
                </a:spcAft>
                <a:buChar char="–"/>
                <a:defRPr sz="1600">
                  <a:solidFill>
                    <a:schemeClr val="tx1"/>
                  </a:solidFill>
                  <a:latin typeface="News Gothic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9pPr>
            </a:lstStyle>
            <a:p>
              <a:pPr>
                <a:buClrTx/>
                <a:buSzPct val="108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latin typeface="Abadi" panose="020B0604020104020204" pitchFamily="34" charset="0"/>
                </a:rPr>
                <a:t>Recollect least squares for OLS</a:t>
              </a:r>
            </a:p>
            <a:p>
              <a:pPr>
                <a:buClrTx/>
                <a:buSzPct val="108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latin typeface="Abadi" panose="020B0604020104020204" pitchFamily="34" charset="0"/>
                </a:rPr>
                <a:t>The OLS equation is also called as </a:t>
              </a:r>
              <a:r>
                <a:rPr lang="en-GB" sz="2000" dirty="0">
                  <a:solidFill>
                    <a:srgbClr val="0070C0"/>
                  </a:solidFill>
                  <a:latin typeface="Abadi" panose="020B0604020104020204" pitchFamily="34" charset="0"/>
                </a:rPr>
                <a:t>objective function/cost function</a:t>
              </a:r>
            </a:p>
            <a:p>
              <a:pPr>
                <a:buClrTx/>
                <a:buSzPct val="108000"/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Abadi" panose="020B0604020104020204" pitchFamily="34" charset="0"/>
                </a:rPr>
                <a:t> The residual sum of squares(RSS) plus the sum of absolute value is minimized</a:t>
              </a:r>
              <a:endParaRPr lang="en-GB" dirty="0">
                <a:latin typeface="Abadi" panose="020B0604020104020204" pitchFamily="34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424136" y="3367917"/>
              <a:ext cx="8748464" cy="14374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dirty="0">
                  <a:solidFill>
                    <a:srgbClr val="080E14"/>
                  </a:solidFill>
                  <a:latin typeface="Abadi" panose="020B0604020104020204" pitchFamily="34" charset="0"/>
                </a:rPr>
                <a:t>LASSO stands for </a:t>
              </a:r>
              <a:r>
                <a:rPr lang="en-GB" sz="2000" b="1" i="1" dirty="0">
                  <a:solidFill>
                    <a:srgbClr val="0070C0"/>
                  </a:solidFill>
                  <a:latin typeface="Abadi" panose="020B0604020104020204" pitchFamily="34" charset="0"/>
                </a:rPr>
                <a:t>Least Absolute Shrinkage and Selection Operator</a:t>
              </a:r>
              <a:endParaRPr lang="en-GB" sz="2000" b="1" dirty="0">
                <a:solidFill>
                  <a:srgbClr val="0070C0"/>
                </a:solidFill>
                <a:latin typeface="Abadi" panose="020B0604020104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Abadi" panose="020B0604020104020204" pitchFamily="34" charset="0"/>
                </a:rPr>
                <a:t>LASSO regression performs </a:t>
              </a:r>
              <a:r>
                <a:rPr lang="en-GB" sz="2000" b="1" dirty="0">
                  <a:latin typeface="Abadi" panose="020B0604020104020204" pitchFamily="34" charset="0"/>
                </a:rPr>
                <a:t>L1 regularization</a:t>
              </a:r>
              <a:r>
                <a:rPr lang="en-GB" sz="2000" dirty="0">
                  <a:latin typeface="Abadi" panose="020B0604020104020204" pitchFamily="34" charset="0"/>
                </a:rPr>
                <a:t>, i.e. it adds a factor of sum of absolute value of coefficients in the optimization objective. </a:t>
              </a:r>
            </a:p>
            <a:p>
              <a:endParaRPr lang="en-GB" dirty="0">
                <a:latin typeface="Abadi" panose="020B0604020104020204" pitchFamily="34" charset="0"/>
              </a:endParaRPr>
            </a:p>
            <a:p>
              <a:endParaRPr lang="en-GB" dirty="0">
                <a:latin typeface="Abadi" panose="020B0604020104020204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1" y="2277775"/>
              <a:ext cx="6365848" cy="97143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3001" y="4598617"/>
              <a:ext cx="6885383" cy="1539206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>
          <a:xfrm>
            <a:off x="5879373" y="5503179"/>
            <a:ext cx="1100267" cy="11489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03684" y="2344163"/>
            <a:ext cx="2548017" cy="117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51733" y="5503179"/>
            <a:ext cx="2710168" cy="1249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557" y="178216"/>
            <a:ext cx="869873" cy="135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8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135709"/>
            <a:ext cx="8229600" cy="5715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b="1" dirty="0">
                <a:latin typeface="Abadi" panose="020B0604020104020204" pitchFamily="34" charset="0"/>
              </a:rPr>
              <a:t>Properties of LASSO</a:t>
            </a:r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9813" y="1124745"/>
            <a:ext cx="1030068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dirty="0">
                <a:latin typeface="Abadi" panose="020B0604020104020204" pitchFamily="34" charset="0"/>
              </a:rPr>
              <a:t>LASSO </a:t>
            </a:r>
            <a:r>
              <a:rPr lang="en-US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(</a:t>
            </a:r>
            <a:r>
              <a:rPr lang="en-GB" i="1" dirty="0">
                <a:solidFill>
                  <a:srgbClr val="0070C0"/>
                </a:solidFill>
                <a:latin typeface="Abadi" panose="020B0604020104020204" pitchFamily="34" charset="0"/>
              </a:rPr>
              <a:t>Least Absolute Shrinkage and Selection Operator)</a:t>
            </a:r>
            <a:endParaRPr lang="en-US" altLang="en-US" sz="26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Abadi" panose="020B0604020104020204" pitchFamily="34" charset="0"/>
              </a:rPr>
              <a:t>Variable will be selected, depending on </a:t>
            </a:r>
            <a:r>
              <a:rPr lang="el-GR" altLang="en-US" sz="2600" dirty="0">
                <a:solidFill>
                  <a:srgbClr val="0070C0"/>
                </a:solidFill>
              </a:rPr>
              <a:t>λ</a:t>
            </a:r>
            <a:endParaRPr lang="en-GB" altLang="en-US" sz="26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l-GR" altLang="en-US" sz="2600" dirty="0">
                <a:solidFill>
                  <a:srgbClr val="0070C0"/>
                </a:solidFill>
              </a:rPr>
              <a:t>λ</a:t>
            </a:r>
            <a:r>
              <a:rPr lang="en-GB" altLang="en-US" sz="2600" dirty="0">
                <a:latin typeface="Abadi" panose="020B0604020104020204" pitchFamily="34" charset="0"/>
              </a:rPr>
              <a:t> is called as penalty parameter/ Shrinkage parameter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2600" dirty="0">
                <a:latin typeface="Abadi" panose="020B0604020104020204" pitchFamily="34" charset="0"/>
              </a:rPr>
              <a:t>The value of </a:t>
            </a:r>
            <a:r>
              <a:rPr lang="el-GR" altLang="en-US" sz="2600" dirty="0">
                <a:solidFill>
                  <a:srgbClr val="0070C0"/>
                </a:solidFill>
              </a:rPr>
              <a:t>λ</a:t>
            </a:r>
            <a:r>
              <a:rPr lang="en-GB" altLang="en-US" sz="2600" dirty="0">
                <a:latin typeface="Abadi" panose="020B0604020104020204" pitchFamily="34" charset="0"/>
              </a:rPr>
              <a:t> lies between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0</a:t>
            </a:r>
            <a:r>
              <a:rPr lang="en-GB" altLang="en-US" sz="2600" dirty="0">
                <a:latin typeface="Abadi" panose="020B0604020104020204" pitchFamily="34" charset="0"/>
              </a:rPr>
              <a:t> to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1</a:t>
            </a:r>
            <a:r>
              <a:rPr lang="en-GB" altLang="en-US" sz="2600" dirty="0">
                <a:latin typeface="Abadi" panose="020B0604020104020204" pitchFamily="34" charset="0"/>
              </a:rPr>
              <a:t>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l-GR" altLang="en-US" sz="2600" dirty="0">
                <a:solidFill>
                  <a:srgbClr val="0070C0"/>
                </a:solidFill>
              </a:rPr>
              <a:t>λ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 </a:t>
            </a:r>
            <a:r>
              <a:rPr lang="en-GB" altLang="en-US" sz="2600" dirty="0">
                <a:latin typeface="Abadi" panose="020B0604020104020204" pitchFamily="34" charset="0"/>
              </a:rPr>
              <a:t>close to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1</a:t>
            </a:r>
            <a:r>
              <a:rPr lang="en-GB" altLang="en-US" sz="2600" dirty="0">
                <a:latin typeface="Abadi" panose="020B0604020104020204" pitchFamily="34" charset="0"/>
              </a:rPr>
              <a:t> means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latin typeface="Abadi" panose="020B0604020104020204" pitchFamily="34" charset="0"/>
              </a:rPr>
              <a:t>Heavy penalization 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latin typeface="Abadi" panose="020B0604020104020204" pitchFamily="34" charset="0"/>
              </a:rPr>
              <a:t>Less variables will be selected</a:t>
            </a:r>
          </a:p>
          <a:p>
            <a:pPr lvl="2">
              <a:lnSpc>
                <a:spcPct val="90000"/>
              </a:lnSpc>
            </a:pPr>
            <a:r>
              <a:rPr lang="en-US" altLang="en-US" sz="2200" dirty="0">
                <a:latin typeface="Abadi" panose="020B0604020104020204" pitchFamily="34" charset="0"/>
              </a:rPr>
              <a:t>Many variables shrunk to </a:t>
            </a:r>
            <a:r>
              <a:rPr lang="en-US" altLang="en-US" sz="2200" dirty="0">
                <a:solidFill>
                  <a:srgbClr val="0070C0"/>
                </a:solidFill>
                <a:latin typeface="Abadi" panose="020B0604020104020204" pitchFamily="34" charset="0"/>
              </a:rPr>
              <a:t>“0” </a:t>
            </a:r>
            <a:r>
              <a:rPr lang="en-US" altLang="en-US" sz="2200" dirty="0">
                <a:latin typeface="Abadi" panose="020B0604020104020204" pitchFamily="34" charset="0"/>
              </a:rPr>
              <a:t>(kicked out from model)</a:t>
            </a:r>
          </a:p>
          <a:p>
            <a:pPr lvl="2">
              <a:lnSpc>
                <a:spcPct val="90000"/>
              </a:lnSpc>
            </a:pPr>
            <a:r>
              <a:rPr lang="en-US" altLang="en-US" sz="2200" dirty="0">
                <a:latin typeface="Abadi" panose="020B0604020104020204" pitchFamily="34" charset="0"/>
              </a:rPr>
              <a:t>Automatic variable/feature selection  !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Abadi" panose="020B0604020104020204" pitchFamily="34" charset="0"/>
              </a:rPr>
              <a:t>No grouping of correlated variables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Abadi" panose="020B0604020104020204" pitchFamily="34" charset="0"/>
              </a:rPr>
              <a:t>Maximum of </a:t>
            </a:r>
            <a:r>
              <a:rPr lang="en-US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“n” </a:t>
            </a:r>
            <a:r>
              <a:rPr lang="en-US" altLang="en-US" sz="2600" dirty="0">
                <a:latin typeface="Abadi" panose="020B0604020104020204" pitchFamily="34" charset="0"/>
              </a:rPr>
              <a:t>variables selected</a:t>
            </a:r>
            <a:endParaRPr lang="el-GR" altLang="en-US" sz="2600" dirty="0"/>
          </a:p>
          <a:p>
            <a:pPr lvl="1">
              <a:lnSpc>
                <a:spcPct val="90000"/>
              </a:lnSpc>
            </a:pPr>
            <a:endParaRPr lang="el-GR" altLang="en-US" dirty="0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26794" y="5652744"/>
            <a:ext cx="6184835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Bottle neck : Selection of “</a:t>
            </a:r>
            <a:r>
              <a:rPr lang="el-GR" altLang="en-US" sz="2400" b="1" dirty="0">
                <a:solidFill>
                  <a:srgbClr val="0070C0"/>
                </a:solidFill>
              </a:rPr>
              <a:t>λ</a:t>
            </a:r>
            <a:r>
              <a:rPr lang="en-GB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”</a:t>
            </a:r>
          </a:p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Should be estimated from data (Unbiased way)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298" y="135709"/>
            <a:ext cx="685889" cy="107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61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954" y="118797"/>
            <a:ext cx="10515600" cy="9267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badi" panose="020B0604020104020204" pitchFamily="34" charset="0"/>
              </a:rPr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953" y="1519770"/>
            <a:ext cx="11045581" cy="234495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400" dirty="0"/>
              <a:t>Alternatively, we can choose a regularization term that penalizes the squares of the parameter magnitudes. </a:t>
            </a:r>
          </a:p>
          <a:p>
            <a:pPr>
              <a:lnSpc>
                <a:spcPct val="170000"/>
              </a:lnSpc>
            </a:pP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/>
              <a:t>Then, our regularized loss function is: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Note that                           is the square of the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2  </a:t>
            </a:r>
            <a:r>
              <a:rPr lang="en-US" sz="2400" dirty="0"/>
              <a:t>norm of the vector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</a:p>
          <a:p>
            <a:endParaRPr lang="en-US" sz="2400" b="1" i="1" dirty="0">
              <a:latin typeface="Symbol" charset="2"/>
              <a:ea typeface="Symbol" charset="2"/>
              <a:cs typeface="Symbol" charset="2"/>
            </a:endParaRP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830" y="4378337"/>
            <a:ext cx="5655588" cy="9598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108" y="2252105"/>
            <a:ext cx="813758" cy="7168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78" y="5492800"/>
            <a:ext cx="1858966" cy="96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44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94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badi" panose="020B0604020104020204" pitchFamily="34" charset="0"/>
              </a:rPr>
              <a:t>Choosing </a:t>
            </a:r>
            <a:r>
              <a:rPr lang="en-US" sz="3600" dirty="0">
                <a:latin typeface="Symbol" charset="2"/>
                <a:ea typeface="Symbol" charset="2"/>
                <a:cs typeface="Symbol" charset="2"/>
              </a:rPr>
              <a:t>l</a:t>
            </a:r>
            <a:r>
              <a:rPr lang="en-US" sz="3600" b="1" dirty="0">
                <a:latin typeface="Abadi" panose="020B0604020104020204" pitchFamily="34" charset="0"/>
              </a:rPr>
              <a:t> </a:t>
            </a:r>
            <a:endParaRPr lang="en-US" sz="3600" b="1" dirty="0">
              <a:latin typeface="Abadi" panose="020B0604020104020204" pitchFamily="34" charset="0"/>
              <a:ea typeface="Symbol" charset="2"/>
              <a:cs typeface="Symbol" charset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715"/>
            <a:ext cx="10515600" cy="4351338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/>
              <a:t>In both ridge and LASSO regression, we see that the larger our choice of the regularization parameter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l, </a:t>
            </a:r>
            <a:r>
              <a:rPr lang="en-US" sz="2400" dirty="0"/>
              <a:t>the more heavily we penalize large values in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b,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/>
              <a:t>If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 </a:t>
            </a:r>
            <a:r>
              <a:rPr lang="en-US" sz="2400" dirty="0"/>
              <a:t>is close to zero, we recover the MSE, i.e. ridge and LASSO regression is just ordinary regression.</a:t>
            </a:r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/>
              <a:t>If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 </a:t>
            </a:r>
            <a:r>
              <a:rPr lang="en-US" sz="2400" dirty="0"/>
              <a:t>is sufficiently large, the MSE term in the regularized loss function will be insignificant and the regularization term will force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>
                <a:latin typeface="Karla" charset="0"/>
                <a:ea typeface="Karla" charset="0"/>
                <a:cs typeface="Karla" charset="0"/>
              </a:rPr>
              <a:t>ridge</a:t>
            </a:r>
            <a:r>
              <a:rPr lang="en-US" sz="2400" dirty="0"/>
              <a:t> and </a:t>
            </a:r>
            <a:r>
              <a:rPr lang="en-US" sz="2400" b="1" i="1" dirty="0" err="1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 err="1">
                <a:latin typeface="Karla" charset="0"/>
                <a:ea typeface="Karla" charset="0"/>
                <a:cs typeface="Karla" charset="0"/>
              </a:rPr>
              <a:t>LASSO</a:t>
            </a:r>
            <a:r>
              <a:rPr lang="en-US" sz="2400" baseline="-250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/>
              <a:t>to be close to zero.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To avoid ad-hoc choices, we should select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</a:t>
            </a:r>
            <a:r>
              <a:rPr lang="en-US" sz="2400" dirty="0"/>
              <a:t> using cross-validation.</a:t>
            </a:r>
          </a:p>
        </p:txBody>
      </p:sp>
    </p:spTree>
    <p:extLst>
      <p:ext uri="{BB962C8B-B14F-4D97-AF65-F5344CB8AC3E}">
        <p14:creationId xmlns:p14="http://schemas.microsoft.com/office/powerpoint/2010/main" val="483448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16632" y="23884"/>
            <a:ext cx="28424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latin typeface="Abadi" panose="020B0604020104020204" pitchFamily="34" charset="0"/>
              </a:rPr>
              <a:t>Selection of “</a:t>
            </a:r>
            <a:r>
              <a:rPr lang="el-GR" altLang="en-US" sz="3200" b="1" dirty="0"/>
              <a:t>λ</a:t>
            </a:r>
            <a:r>
              <a:rPr lang="en-GB" altLang="en-US" sz="3200" b="1" dirty="0">
                <a:latin typeface="Abadi" panose="020B0604020104020204" pitchFamily="34" charset="0"/>
              </a:rPr>
              <a:t>”</a:t>
            </a:r>
            <a:endParaRPr lang="en-GB" sz="3200" dirty="0">
              <a:latin typeface="Abadi" panose="020B0604020104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64015" y="816441"/>
            <a:ext cx="5112567" cy="4176464"/>
            <a:chOff x="1149252" y="1628800"/>
            <a:chExt cx="6474807" cy="5112568"/>
          </a:xfrm>
        </p:grpSpPr>
        <p:pic>
          <p:nvPicPr>
            <p:cNvPr id="2050" name="Picture 2" descr="https://uk.mathworks.com/help/stats/lassoplot_ex3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7" y="1628800"/>
              <a:ext cx="6220412" cy="4536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3851918" y="5946440"/>
              <a:ext cx="2221832" cy="7949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“</a:t>
              </a:r>
              <a:r>
                <a:rPr lang="el-GR" altLang="en-US" sz="2400" b="1" dirty="0">
                  <a:solidFill>
                    <a:schemeClr val="tx1"/>
                  </a:solidFill>
                </a:rPr>
                <a:t>λ</a:t>
              </a:r>
              <a:r>
                <a:rPr lang="en-GB" alt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” (lambda)</a:t>
              </a:r>
              <a:endParaRPr lang="en-GB" sz="24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6200000">
              <a:off x="73420" y="3568729"/>
              <a:ext cx="2838110" cy="68644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en-US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MSE</a:t>
              </a:r>
            </a:p>
            <a:p>
              <a:pPr algn="ctr"/>
              <a:r>
                <a:rPr lang="en-GB" altLang="en-US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(Mean Square Error)</a:t>
              </a:r>
              <a:endParaRPr lang="en-GB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5676583" y="1191998"/>
            <a:ext cx="651541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Very critical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Can be optimised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Linear optimization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Nonlinear optimization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latin typeface="Abadi" panose="020B06040201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The solution of the Ridge/Lasso regression involves three steps: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Select </a:t>
            </a:r>
            <a:r>
              <a:rPr lang="el-GR" altLang="en-US" sz="2400" b="1" dirty="0"/>
              <a:t>λ</a:t>
            </a:r>
            <a:r>
              <a:rPr lang="en-US" sz="2400" dirty="0">
                <a:latin typeface="Abadi" panose="020B0604020104020204" pitchFamily="34" charset="0"/>
                <a:ea typeface="Symbol" charset="2"/>
                <a:cs typeface="Symbol" charset="2"/>
              </a:rPr>
              <a:t>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Find the minimum of the ridge/Lasso regression loss function and record the  </a:t>
            </a:r>
            <a:r>
              <a:rPr lang="en-US" sz="2400" i="1" dirty="0">
                <a:latin typeface="Abadi" panose="020B0604020104020204" pitchFamily="34" charset="0"/>
              </a:rPr>
              <a:t>MSE</a:t>
            </a:r>
            <a:r>
              <a:rPr lang="en-US" sz="2400" baseline="30000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b="1" dirty="0">
                <a:latin typeface="Abadi" panose="020B0604020104020204" pitchFamily="34" charset="0"/>
              </a:rPr>
              <a:t>on the validation set</a:t>
            </a:r>
            <a:r>
              <a:rPr lang="en-US" sz="2400" dirty="0">
                <a:latin typeface="Abadi" panose="020B0604020104020204" pitchFamily="34" charset="0"/>
              </a:rPr>
              <a:t>.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Find the</a:t>
            </a:r>
            <a:r>
              <a:rPr lang="en-US" sz="2400" dirty="0">
                <a:latin typeface="Abadi" panose="020B0604020104020204" pitchFamily="34" charset="0"/>
                <a:ea typeface="Symbol" charset="2"/>
                <a:cs typeface="Symbol" charset="2"/>
              </a:rPr>
              <a:t> </a:t>
            </a:r>
            <a:r>
              <a:rPr lang="el-GR" altLang="en-US" sz="2400" b="1" dirty="0"/>
              <a:t>λ</a:t>
            </a:r>
            <a:r>
              <a:rPr lang="en-US" sz="2400" dirty="0">
                <a:latin typeface="Abadi" panose="020B0604020104020204" pitchFamily="34" charset="0"/>
              </a:rPr>
              <a:t> that gives the smallest</a:t>
            </a:r>
            <a:r>
              <a:rPr lang="en-US" sz="2400" i="1" dirty="0">
                <a:latin typeface="Abadi" panose="020B0604020104020204" pitchFamily="34" charset="0"/>
              </a:rPr>
              <a:t> MSE</a:t>
            </a:r>
            <a:endParaRPr lang="en-US" sz="2400" baseline="30000" dirty="0">
              <a:latin typeface="Abadi" panose="020B0604020104020204" pitchFamily="34" charset="0"/>
            </a:endParaRPr>
          </a:p>
          <a:p>
            <a:pPr lvl="1"/>
            <a:r>
              <a:rPr lang="en-GB" sz="2400" dirty="0">
                <a:latin typeface="Abadi" panose="020B06040201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2649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7" y="692697"/>
            <a:ext cx="5000625" cy="2543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96200" y="692696"/>
            <a:ext cx="1512168" cy="1872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384032" y="2708920"/>
            <a:ext cx="2775440" cy="1336214"/>
            <a:chOff x="3707904" y="2492896"/>
            <a:chExt cx="2775440" cy="1336214"/>
          </a:xfrm>
        </p:grpSpPr>
        <p:sp>
          <p:nvSpPr>
            <p:cNvPr id="3" name="Rectangle 2"/>
            <p:cNvSpPr/>
            <p:nvPr/>
          </p:nvSpPr>
          <p:spPr>
            <a:xfrm>
              <a:off x="3707904" y="3429000"/>
              <a:ext cx="277544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>
                  <a:latin typeface="Abadi" panose="020B0604020104020204" pitchFamily="34" charset="0"/>
                </a:rPr>
                <a:t>Prediction Function, f(</a:t>
              </a:r>
              <a:r>
                <a:rPr lang="el-GR" sz="2000" b="1" dirty="0"/>
                <a:t>α</a:t>
              </a:r>
              <a:r>
                <a:rPr lang="en-GB" sz="2000" b="1" dirty="0">
                  <a:latin typeface="Abadi" panose="020B0604020104020204" pitchFamily="34" charset="0"/>
                </a:rPr>
                <a:t>)</a:t>
              </a:r>
            </a:p>
          </p:txBody>
        </p:sp>
        <p:sp>
          <p:nvSpPr>
            <p:cNvPr id="5" name="Right Arrow 4"/>
            <p:cNvSpPr/>
            <p:nvPr/>
          </p:nvSpPr>
          <p:spPr>
            <a:xfrm rot="5400000">
              <a:off x="4502514" y="2722532"/>
              <a:ext cx="822745" cy="363474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latin typeface="Abadi" panose="020B0604020104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946498" y="4158493"/>
            <a:ext cx="1261497" cy="2594081"/>
            <a:chOff x="4414385" y="3942468"/>
            <a:chExt cx="1261497" cy="2594081"/>
          </a:xfrm>
        </p:grpSpPr>
        <p:sp>
          <p:nvSpPr>
            <p:cNvPr id="7" name="Right Arrow 6"/>
            <p:cNvSpPr/>
            <p:nvPr/>
          </p:nvSpPr>
          <p:spPr>
            <a:xfrm rot="5400000">
              <a:off x="4603529" y="4189568"/>
              <a:ext cx="883211" cy="389011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latin typeface="Abadi" panose="020B0604020104020204" pitchFamily="34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414385" y="4939037"/>
              <a:ext cx="1261497" cy="1597512"/>
              <a:chOff x="7458075" y="1046571"/>
              <a:chExt cx="1314450" cy="2130015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7458075" y="1046571"/>
                <a:ext cx="1314450" cy="1564458"/>
              </a:xfrm>
              <a:prstGeom prst="ellipse">
                <a:avLst/>
              </a:prstGeom>
              <a:noFill/>
              <a:ln w="381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7936706" y="14983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8051006" y="16507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8165306" y="18031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8279606" y="19555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 dirty="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8051006" y="16507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8165306" y="18031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8279606" y="19555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8393906" y="21079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 dirty="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8508206" y="22603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8368187" y="1444990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8063863" y="2209188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8063863" y="1835354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7848124" y="1849597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8065294" y="1298371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8433909" y="1777592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 flipV="1">
                <a:off x="7700962" y="1651408"/>
                <a:ext cx="34289" cy="50596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 dirty="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7505569" y="2719386"/>
                <a:ext cx="1219459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rgbClr val="0070C0"/>
                    </a:solidFill>
                    <a:latin typeface="Abadi" panose="020B0604020104020204" pitchFamily="34" charset="0"/>
                  </a:rPr>
                  <a:t>Test set </a:t>
                </a: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2567610" y="5532337"/>
            <a:ext cx="3878827" cy="1075726"/>
            <a:chOff x="35497" y="5316313"/>
            <a:chExt cx="3878827" cy="1075726"/>
          </a:xfrm>
        </p:grpSpPr>
        <p:sp>
          <p:nvSpPr>
            <p:cNvPr id="27" name="Rectangle 26"/>
            <p:cNvSpPr/>
            <p:nvPr/>
          </p:nvSpPr>
          <p:spPr>
            <a:xfrm>
              <a:off x="35497" y="5316313"/>
              <a:ext cx="2558072" cy="1075726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Out of sample error/</a:t>
              </a:r>
            </a:p>
            <a:p>
              <a:pPr algn="ctr"/>
              <a:r>
                <a:rPr lang="en-GB" sz="2000" b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Generalized error/MSE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 rot="10800000">
              <a:off x="2935916" y="5383977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badi" panose="020B0604020104020204" pitchFamily="34" charset="0"/>
              </a:endParaRPr>
            </a:p>
          </p:txBody>
        </p:sp>
      </p:grpSp>
      <p:sp>
        <p:nvSpPr>
          <p:cNvPr id="31" name="Title 1"/>
          <p:cNvSpPr txBox="1">
            <a:spLocks/>
          </p:cNvSpPr>
          <p:nvPr/>
        </p:nvSpPr>
        <p:spPr>
          <a:xfrm>
            <a:off x="4625510" y="2693"/>
            <a:ext cx="2548725" cy="49708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47825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E44497-B5BA-4CBD-8D93-1A01520EBEC0}"/>
              </a:ext>
            </a:extLst>
          </p:cNvPr>
          <p:cNvSpPr txBox="1"/>
          <p:nvPr/>
        </p:nvSpPr>
        <p:spPr>
          <a:xfrm>
            <a:off x="719662" y="3407514"/>
            <a:ext cx="10752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Elastic Net produces a regression model that is penalized with both the L1-norm and L2-norm.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The consequence of this is to effectively shrink coefficients (like in ridge regression) and to set some coefficients to zero (as in LASSO).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04CA0-1B2E-4D9F-87FB-18099947090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772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>
                <a:latin typeface="Abadi" panose="020B0604020104020204" pitchFamily="34" charset="0"/>
              </a:rPr>
              <a:t>Elastic Net Regression </a:t>
            </a:r>
            <a:endParaRPr lang="en-GB" sz="36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2163D-C0AC-49BD-8331-4AEB0AAC2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04" y="1641533"/>
            <a:ext cx="5349904" cy="1024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85B918-F2D6-46D7-8DDB-E67332067D9A}"/>
              </a:ext>
            </a:extLst>
          </p:cNvPr>
          <p:cNvSpPr txBox="1"/>
          <p:nvPr/>
        </p:nvSpPr>
        <p:spPr>
          <a:xfrm>
            <a:off x="5756945" y="2480991"/>
            <a:ext cx="937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Abadi" panose="020B0604020104020204" pitchFamily="34" charset="0"/>
              </a:rPr>
              <a:t>LASSO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C43A45-3407-47A0-B945-A20B20DA2DDC}"/>
              </a:ext>
            </a:extLst>
          </p:cNvPr>
          <p:cNvSpPr txBox="1"/>
          <p:nvPr/>
        </p:nvSpPr>
        <p:spPr>
          <a:xfrm>
            <a:off x="7107573" y="2453150"/>
            <a:ext cx="811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Abadi" panose="020B0604020104020204" pitchFamily="34" charset="0"/>
              </a:rPr>
              <a:t>R</a:t>
            </a:r>
            <a:r>
              <a:rPr lang="en-GB" sz="1800" dirty="0">
                <a:solidFill>
                  <a:srgbClr val="0070C0"/>
                </a:solidFill>
                <a:latin typeface="Abadi" panose="020B0604020104020204" pitchFamily="34" charset="0"/>
              </a:rPr>
              <a:t>idge 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842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156B-5A36-44ED-9FFD-AB7A6942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723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Abadi" panose="020B0604020104020204" pitchFamily="34" charset="0"/>
              </a:rPr>
              <a:t>Elastic Net Regression </a:t>
            </a:r>
          </a:p>
        </p:txBody>
      </p:sp>
      <p:pic>
        <p:nvPicPr>
          <p:cNvPr id="36868" name="Picture 4" descr="Elastic Net Regularization Data Science Generalized Linear Model OLS GLMs glmnet R python inferential modeling">
            <a:extLst>
              <a:ext uri="{FF2B5EF4-FFF2-40B4-BE49-F238E27FC236}">
                <a16:creationId xmlns:a16="http://schemas.microsoft.com/office/drawing/2014/main" id="{573215DD-796F-4F52-B555-89F68170E5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01284"/>
            <a:ext cx="7787326" cy="123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0" name="Picture 6" descr="Elastic Net Regularization Data Science Generalized Linear Model OLS GLMs glmnet R python inferential modeling">
            <a:extLst>
              <a:ext uri="{FF2B5EF4-FFF2-40B4-BE49-F238E27FC236}">
                <a16:creationId xmlns:a16="http://schemas.microsoft.com/office/drawing/2014/main" id="{CABBCD95-540B-496C-BB53-1814E725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86" y="3366490"/>
            <a:ext cx="10890315" cy="248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878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16BA-7E53-443F-92D4-78E81E72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latin typeface="Abadi" panose="020B0604020104020204" pitchFamily="34" charset="0"/>
              </a:rPr>
              <a:t>Elastic Net Regression </a:t>
            </a:r>
            <a:endParaRPr lang="en-GB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F8B0-5FCC-41C8-8F5F-04CBE5A75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</a:rPr>
              <a:t>The elastic net method performs variable selection and regularization simultaneously.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</a:rPr>
              <a:t>Groupings and variables selection are the key roles of the elastic net technique.</a:t>
            </a:r>
          </a:p>
          <a:p>
            <a:r>
              <a:rPr lang="en-GB" i="0" dirty="0">
                <a:effectLst/>
              </a:rPr>
              <a:t>The elastic net technique is most appropriate where the dimensional data is greater than the number of samples used.</a:t>
            </a:r>
          </a:p>
          <a:p>
            <a:pPr marL="0" indent="0" algn="l">
              <a:buNone/>
            </a:pPr>
            <a:endParaRPr lang="en-GB" i="0" dirty="0"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633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7AA61B-F506-4F61-A618-324733696A06}"/>
              </a:ext>
            </a:extLst>
          </p:cNvPr>
          <p:cNvSpPr txBox="1"/>
          <p:nvPr/>
        </p:nvSpPr>
        <p:spPr>
          <a:xfrm>
            <a:off x="1258505" y="2502142"/>
            <a:ext cx="83826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b="1" i="0" u="none" strike="noStrike" baseline="0" dirty="0">
                <a:latin typeface="Abadi" panose="020B0604020104020204" pitchFamily="34" charset="0"/>
              </a:rPr>
              <a:t>Unsupervised Learning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b="0" i="0" u="none" strike="noStrike" baseline="0" dirty="0">
                <a:latin typeface="Abadi" panose="020B0604020104020204" pitchFamily="34" charset="0"/>
              </a:rPr>
              <a:t>Clustering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b="0" i="0" u="none" strike="noStrike" baseline="0" dirty="0">
                <a:latin typeface="Abadi" panose="020B0604020104020204" pitchFamily="34" charset="0"/>
              </a:rPr>
              <a:t>Hierarchical Clustering</a:t>
            </a:r>
          </a:p>
        </p:txBody>
      </p:sp>
    </p:spTree>
    <p:extLst>
      <p:ext uri="{BB962C8B-B14F-4D97-AF65-F5344CB8AC3E}">
        <p14:creationId xmlns:p14="http://schemas.microsoft.com/office/powerpoint/2010/main" val="893466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18995" y="183951"/>
            <a:ext cx="2623080" cy="994172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Clustering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Clustering = Class discovery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Group attributes/features/variables that behave similarly over a set of samples</a:t>
            </a:r>
          </a:p>
          <a:p>
            <a:pPr lvl="2"/>
            <a:r>
              <a:rPr lang="en-US" altLang="en-US" dirty="0"/>
              <a:t>‘Guilt by association’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Group observations based on similar features</a:t>
            </a:r>
          </a:p>
          <a:p>
            <a:r>
              <a:rPr lang="en-US" altLang="en-US" sz="2400" dirty="0"/>
              <a:t>Clustering = unsupervised classification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Information about grouping is unknown or unused</a:t>
            </a:r>
          </a:p>
        </p:txBody>
      </p:sp>
    </p:spTree>
    <p:extLst>
      <p:ext uri="{BB962C8B-B14F-4D97-AF65-F5344CB8AC3E}">
        <p14:creationId xmlns:p14="http://schemas.microsoft.com/office/powerpoint/2010/main" val="1666426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34639" y="1958109"/>
          <a:ext cx="4861220" cy="3013941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0563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444909" y="1422803"/>
            <a:ext cx="1074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Variables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2311714" y="3096264"/>
            <a:ext cx="1444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Observations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604781" y="1769054"/>
            <a:ext cx="4699289" cy="779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207247" y="2023354"/>
            <a:ext cx="0" cy="294869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07248" y="1068718"/>
            <a:ext cx="5906453" cy="1054418"/>
          </a:xfrm>
          <a:prstGeom prst="ellipse">
            <a:avLst/>
          </a:prstGeom>
          <a:solidFill>
            <a:schemeClr val="accent1">
              <a:alpha val="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34504" y="5399775"/>
            <a:ext cx="3129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latin typeface="Abadi" panose="020B0604020104020204" pitchFamily="34" charset="0"/>
              </a:rPr>
              <a:t>Clustering on variables</a:t>
            </a:r>
            <a:endParaRPr lang="en-GB" altLang="en-US" sz="24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85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34639" y="1958109"/>
          <a:ext cx="4861220" cy="3013941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0563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444909" y="1422803"/>
            <a:ext cx="1074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Variables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2311714" y="3096264"/>
            <a:ext cx="1444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Observations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604781" y="1769054"/>
            <a:ext cx="4699289" cy="779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207247" y="2023354"/>
            <a:ext cx="0" cy="294869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535556" y="1705927"/>
            <a:ext cx="1148715" cy="3626168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84271" y="5584276"/>
            <a:ext cx="5502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latin typeface="Abadi" panose="020B0604020104020204" pitchFamily="34" charset="0"/>
              </a:rPr>
              <a:t>Clustering on observations/samples</a:t>
            </a:r>
            <a:endParaRPr lang="en-GB" altLang="en-US" sz="28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325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34639" y="1958109"/>
          <a:ext cx="4861220" cy="3013941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0563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63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444909" y="1422803"/>
            <a:ext cx="1074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Variables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2311714" y="3096264"/>
            <a:ext cx="1444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Observations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604781" y="1769054"/>
            <a:ext cx="4699289" cy="779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207247" y="2023354"/>
            <a:ext cx="0" cy="294869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07248" y="1068718"/>
            <a:ext cx="5906453" cy="1054418"/>
          </a:xfrm>
          <a:prstGeom prst="ellipse">
            <a:avLst/>
          </a:prstGeom>
          <a:solidFill>
            <a:schemeClr val="accent1">
              <a:alpha val="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535556" y="1705927"/>
            <a:ext cx="1148715" cy="3626168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49192" y="5684463"/>
            <a:ext cx="853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latin typeface="Abadi" panose="020B0604020104020204" pitchFamily="34" charset="0"/>
              </a:rPr>
              <a:t>Clustering on observations/samples  &amp; variables simultaneously=Bi-clustering</a:t>
            </a:r>
            <a:endParaRPr lang="en-GB" altLang="en-US" sz="20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24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4541830" y="260649"/>
            <a:ext cx="6848636" cy="456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Aim of clustering</a:t>
            </a:r>
            <a:endParaRPr lang="en-GB" altLang="en-US" sz="3600" b="1" dirty="0">
              <a:latin typeface="Abadi" panose="020B0604020104020204" pitchFamily="34" charset="0"/>
            </a:endParaRPr>
          </a:p>
        </p:txBody>
      </p:sp>
      <p:pic>
        <p:nvPicPr>
          <p:cNvPr id="778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848" y="1779337"/>
            <a:ext cx="4800600" cy="3350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293615" y="1556793"/>
            <a:ext cx="508235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en-US" sz="2400" dirty="0">
                <a:latin typeface="Abadi" panose="020B0604020104020204" pitchFamily="34" charset="0"/>
              </a:rPr>
              <a:t>A set of objects that are close/similar to each other in some  defined aspect(s) and separated from other groups of objects.</a:t>
            </a:r>
          </a:p>
          <a:p>
            <a:pPr algn="l" eaLnBrk="1" hangingPunct="1">
              <a:spcBef>
                <a:spcPct val="0"/>
              </a:spcBef>
            </a:pPr>
            <a:endParaRPr lang="de-DE" altLang="en-US" sz="2400" dirty="0">
              <a:latin typeface="Abadi" panose="020B0604020104020204" pitchFamily="34" charset="0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altLang="en-US" sz="2400" dirty="0">
                <a:latin typeface="Abadi" panose="020B0604020104020204" pitchFamily="34" charset="0"/>
              </a:rPr>
              <a:t>Example: green/ red data points were generated from two different normal distributions</a:t>
            </a:r>
            <a:endParaRPr lang="en-GB" altLang="en-US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044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1308682" y="492047"/>
            <a:ext cx="10009566" cy="785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Definition of ‘close’ is not always that obvious</a:t>
            </a:r>
          </a:p>
        </p:txBody>
      </p:sp>
      <p:pic>
        <p:nvPicPr>
          <p:cNvPr id="78853" name="Picture 5" descr="clu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550" y="2310206"/>
            <a:ext cx="2653000" cy="216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854" name="Picture 6" descr="clu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579" y="2262418"/>
            <a:ext cx="2653000" cy="216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855" name="Picture 7" descr="clus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607" y="2132856"/>
            <a:ext cx="2826022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70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3143672" y="260648"/>
            <a:ext cx="7615236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Distance measure and algorithm</a:t>
            </a:r>
            <a:endParaRPr lang="en-GB" altLang="en-US" sz="3600" b="1" dirty="0">
              <a:latin typeface="Abadi" panose="020B0604020104020204" pitchFamily="34" charset="0"/>
            </a:endParaRP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44617" y="1412776"/>
            <a:ext cx="10712741" cy="402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 algn="l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 algn="l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 algn="l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 algn="l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>
              <a:buClrTx/>
              <a:buSzPct val="124000"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badi" panose="020B0604020104020204" pitchFamily="34" charset="0"/>
              </a:rPr>
              <a:t>Distance measure</a:t>
            </a:r>
            <a:r>
              <a:rPr lang="en-US" altLang="en-US" sz="2400" dirty="0">
                <a:latin typeface="Abadi" panose="020B0604020104020204" pitchFamily="34" charset="0"/>
              </a:rPr>
              <a:t>: Quantification of  (dis)similarity of objects.</a:t>
            </a:r>
          </a:p>
          <a:p>
            <a:pPr lvl="1">
              <a:buClrTx/>
              <a:buSzPct val="124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What do we regard as ‘similar’ ?</a:t>
            </a:r>
          </a:p>
          <a:p>
            <a:pPr lvl="1">
              <a:buClrTx/>
              <a:buSzPct val="124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How best quantified ?</a:t>
            </a:r>
          </a:p>
          <a:p>
            <a:pPr>
              <a:buClrTx/>
              <a:buSzPct val="124000"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badi" panose="020B0604020104020204" pitchFamily="34" charset="0"/>
              </a:rPr>
              <a:t>Cluster algorithm:</a:t>
            </a:r>
            <a:r>
              <a:rPr lang="en-US" altLang="en-US" sz="2400" dirty="0">
                <a:latin typeface="Abadi" panose="020B0604020104020204" pitchFamily="34" charset="0"/>
              </a:rPr>
              <a:t> A procedure to group objects. </a:t>
            </a:r>
          </a:p>
          <a:p>
            <a:pPr>
              <a:buClrTx/>
              <a:buSzPct val="124000"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badi" panose="020B0604020104020204" pitchFamily="34" charset="0"/>
              </a:rPr>
              <a:t>Aim: </a:t>
            </a:r>
            <a:r>
              <a:rPr lang="en-US" altLang="en-US" sz="2400" dirty="0">
                <a:latin typeface="Abadi" panose="020B0604020104020204" pitchFamily="34" charset="0"/>
              </a:rPr>
              <a:t>small within-cluster distances, large between-cluster distances.</a:t>
            </a:r>
          </a:p>
          <a:p>
            <a:pPr lvl="1">
              <a:buClrTx/>
              <a:buSzPct val="124000"/>
              <a:buFont typeface="Arial" panose="020B0604020202020204" pitchFamily="34" charset="0"/>
              <a:buChar char="•"/>
            </a:pPr>
            <a:r>
              <a:rPr lang="en-GB" altLang="en-US" dirty="0">
                <a:latin typeface="Abadi" panose="020B0604020104020204" pitchFamily="34" charset="0"/>
              </a:rPr>
              <a:t>Procedure to form such groups</a:t>
            </a:r>
          </a:p>
        </p:txBody>
      </p:sp>
    </p:spTree>
    <p:extLst>
      <p:ext uri="{BB962C8B-B14F-4D97-AF65-F5344CB8AC3E}">
        <p14:creationId xmlns:p14="http://schemas.microsoft.com/office/powerpoint/2010/main" val="3545409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1640898" y="1543050"/>
            <a:ext cx="8704984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 algn="l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 algn="l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 algn="l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 algn="l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latin typeface="Abadi" panose="020B0604020104020204" pitchFamily="34" charset="0"/>
              </a:rPr>
              <a:t>Given vectors </a:t>
            </a:r>
            <a:r>
              <a:rPr lang="en-US" altLang="en-US" sz="2000" b="1" dirty="0">
                <a:latin typeface="Abadi" panose="020B0604020104020204" pitchFamily="34" charset="0"/>
              </a:rPr>
              <a:t>x</a:t>
            </a:r>
            <a:r>
              <a:rPr lang="en-US" altLang="en-US" sz="2000" dirty="0">
                <a:latin typeface="Abadi" panose="020B0604020104020204" pitchFamily="34" charset="0"/>
              </a:rPr>
              <a:t> = (x</a:t>
            </a:r>
            <a:r>
              <a:rPr lang="en-US" altLang="en-US" sz="2000" baseline="-25000" dirty="0"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latin typeface="Abadi" panose="020B0604020104020204" pitchFamily="34" charset="0"/>
              </a:rPr>
              <a:t>, …, </a:t>
            </a:r>
            <a:r>
              <a:rPr lang="en-US" altLang="en-US" sz="2000" dirty="0" err="1">
                <a:latin typeface="Abadi" panose="020B0604020104020204" pitchFamily="34" charset="0"/>
              </a:rPr>
              <a:t>x</a:t>
            </a:r>
            <a:r>
              <a:rPr lang="en-US" altLang="en-US" sz="2000" baseline="-25000" dirty="0" err="1">
                <a:latin typeface="Abadi" panose="020B0604020104020204" pitchFamily="34" charset="0"/>
              </a:rPr>
              <a:t>p</a:t>
            </a:r>
            <a:r>
              <a:rPr lang="en-US" altLang="en-US" sz="2000" dirty="0">
                <a:latin typeface="Abadi" panose="020B0604020104020204" pitchFamily="34" charset="0"/>
              </a:rPr>
              <a:t>), </a:t>
            </a:r>
            <a:r>
              <a:rPr lang="en-US" altLang="en-US" sz="2000" b="1" dirty="0">
                <a:latin typeface="Abadi" panose="020B0604020104020204" pitchFamily="34" charset="0"/>
              </a:rPr>
              <a:t>y</a:t>
            </a:r>
            <a:r>
              <a:rPr lang="en-US" altLang="en-US" sz="2000" dirty="0">
                <a:latin typeface="Abadi" panose="020B0604020104020204" pitchFamily="34" charset="0"/>
              </a:rPr>
              <a:t> = (y</a:t>
            </a:r>
            <a:r>
              <a:rPr lang="en-US" altLang="en-US" sz="2000" baseline="-25000" dirty="0"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latin typeface="Abadi" panose="020B0604020104020204" pitchFamily="34" charset="0"/>
              </a:rPr>
              <a:t>, …, </a:t>
            </a:r>
            <a:r>
              <a:rPr lang="en-US" altLang="en-US" sz="2000" dirty="0" err="1">
                <a:latin typeface="Abadi" panose="020B0604020104020204" pitchFamily="34" charset="0"/>
              </a:rPr>
              <a:t>y</a:t>
            </a:r>
            <a:r>
              <a:rPr lang="en-US" altLang="en-US" sz="2000" baseline="-25000" dirty="0" err="1">
                <a:latin typeface="Abadi" panose="020B0604020104020204" pitchFamily="34" charset="0"/>
              </a:rPr>
              <a:t>p</a:t>
            </a:r>
            <a:r>
              <a:rPr lang="en-US" altLang="en-US" sz="2000" dirty="0">
                <a:latin typeface="Abadi" panose="020B0604020104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>
              <a:latin typeface="Abadi" panose="020B0604020104020204" pitchFamily="34" charset="0"/>
            </a:endParaRPr>
          </a:p>
          <a:p>
            <a:pPr>
              <a:buClrTx/>
              <a:buSzPct val="123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Euclidean distance </a:t>
            </a:r>
          </a:p>
          <a:p>
            <a:pPr lvl="1">
              <a:buClrTx/>
              <a:buSzPct val="123000"/>
              <a:buFont typeface="Arial" panose="020B0604020202020204" pitchFamily="34" charset="0"/>
              <a:buChar char="•"/>
            </a:pPr>
            <a:endParaRPr lang="en-US" altLang="en-US" sz="2000" dirty="0">
              <a:latin typeface="Abadi" panose="020B0604020104020204" pitchFamily="34" charset="0"/>
            </a:endParaRPr>
          </a:p>
          <a:p>
            <a:pPr>
              <a:buClrTx/>
              <a:buSzPct val="123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Manhattan distance</a:t>
            </a:r>
          </a:p>
          <a:p>
            <a:pPr>
              <a:buClrTx/>
              <a:buSzPct val="123000"/>
              <a:buFont typeface="Arial" panose="020B0604020202020204" pitchFamily="34" charset="0"/>
              <a:buChar char="•"/>
            </a:pPr>
            <a:endParaRPr lang="en-US" altLang="en-US" sz="2000" dirty="0">
              <a:latin typeface="Abadi" panose="020B0604020104020204" pitchFamily="34" charset="0"/>
            </a:endParaRPr>
          </a:p>
          <a:p>
            <a:pPr>
              <a:buClrTx/>
              <a:buSzPct val="123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Pearson correlation distance</a:t>
            </a:r>
          </a:p>
          <a:p>
            <a:pPr>
              <a:buFont typeface="Wingdings" panose="05000000000000000000" pitchFamily="2" charset="2"/>
              <a:buNone/>
            </a:pPr>
            <a:endParaRPr lang="en-GB" altLang="en-US" sz="2100" dirty="0">
              <a:latin typeface="Abadi" panose="020B0604020104020204" pitchFamily="34" charset="0"/>
            </a:endParaRPr>
          </a:p>
        </p:txBody>
      </p:sp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4391784" y="2487433"/>
          <a:ext cx="2742009" cy="90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507960" progId="Equation.3">
                  <p:embed/>
                </p:oleObj>
              </mc:Choice>
              <mc:Fallback>
                <p:oleObj name="Equation" r:id="rId2" imgW="1536480" imgH="507960" progId="Equation.3">
                  <p:embed/>
                  <p:pic>
                    <p:nvPicPr>
                      <p:cNvPr id="849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784" y="2487433"/>
                        <a:ext cx="2742009" cy="907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4509872" y="3193041"/>
          <a:ext cx="2286000" cy="821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469800" progId="Equation.3">
                  <p:embed/>
                </p:oleObj>
              </mc:Choice>
              <mc:Fallback>
                <p:oleObj name="Equation" r:id="rId4" imgW="1307880" imgH="469800" progId="Equation.3">
                  <p:embed/>
                  <p:pic>
                    <p:nvPicPr>
                      <p:cNvPr id="849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872" y="3193041"/>
                        <a:ext cx="2286000" cy="821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0" name="Object 8"/>
          <p:cNvGraphicFramePr>
            <a:graphicFrameLocks noChangeAspect="1"/>
          </p:cNvGraphicFramePr>
          <p:nvPr/>
        </p:nvGraphicFramePr>
        <p:xfrm>
          <a:off x="5825729" y="3852864"/>
          <a:ext cx="4225528" cy="1293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0880" imgH="749160" progId="Equation.3">
                  <p:embed/>
                </p:oleObj>
              </mc:Choice>
              <mc:Fallback>
                <p:oleObj name="Equation" r:id="rId6" imgW="2450880" imgH="749160" progId="Equation.3">
                  <p:embed/>
                  <p:pic>
                    <p:nvPicPr>
                      <p:cNvPr id="850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5729" y="3852864"/>
                        <a:ext cx="4225528" cy="1293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39816" y="260648"/>
            <a:ext cx="3961756" cy="124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Distance/Similarity</a:t>
            </a:r>
          </a:p>
        </p:txBody>
      </p:sp>
    </p:spTree>
    <p:extLst>
      <p:ext uri="{BB962C8B-B14F-4D97-AF65-F5344CB8AC3E}">
        <p14:creationId xmlns:p14="http://schemas.microsoft.com/office/powerpoint/2010/main" val="2559678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21" name="Object 5"/>
          <p:cNvGraphicFramePr>
            <a:graphicFrameLocks noChangeAspect="1"/>
          </p:cNvGraphicFramePr>
          <p:nvPr/>
        </p:nvGraphicFramePr>
        <p:xfrm>
          <a:off x="3925220" y="4134176"/>
          <a:ext cx="3043238" cy="1246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723600" progId="Equation.3">
                  <p:embed/>
                </p:oleObj>
              </mc:Choice>
              <mc:Fallback>
                <p:oleObj name="Equation" r:id="rId2" imgW="1765080" imgH="723600" progId="Equation.3">
                  <p:embed/>
                  <p:pic>
                    <p:nvPicPr>
                      <p:cNvPr id="860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220" y="4134176"/>
                        <a:ext cx="3043238" cy="1246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1703243" y="1808562"/>
            <a:ext cx="7487192" cy="2430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 algn="l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 algn="l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 algn="l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 algn="l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>
              <a:buClrTx/>
              <a:buSzPct val="13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Squared correlation distance</a:t>
            </a:r>
          </a:p>
          <a:p>
            <a:pPr>
              <a:buClrTx/>
              <a:buSzPct val="135000"/>
              <a:buFont typeface="Arial" panose="020B0604020202020204" pitchFamily="34" charset="0"/>
              <a:buChar char="•"/>
            </a:pPr>
            <a:endParaRPr lang="en-US" altLang="en-US" sz="2400" dirty="0">
              <a:latin typeface="Abadi" panose="020B0604020104020204" pitchFamily="34" charset="0"/>
            </a:endParaRPr>
          </a:p>
          <a:p>
            <a:pPr>
              <a:buClrTx/>
              <a:buSzPct val="135000"/>
              <a:buFont typeface="Arial" panose="020B0604020202020204" pitchFamily="34" charset="0"/>
              <a:buChar char="•"/>
            </a:pPr>
            <a:endParaRPr lang="en-US" altLang="en-US" sz="2400" dirty="0">
              <a:latin typeface="Abadi" panose="020B0604020104020204" pitchFamily="34" charset="0"/>
            </a:endParaRPr>
          </a:p>
          <a:p>
            <a:pPr>
              <a:buClrTx/>
              <a:buSzPct val="13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Angular separation / cosine correlation distance</a:t>
            </a:r>
          </a:p>
        </p:txBody>
      </p:sp>
      <p:graphicFrame>
        <p:nvGraphicFramePr>
          <p:cNvPr id="86023" name="Object 7"/>
          <p:cNvGraphicFramePr>
            <a:graphicFrameLocks noChangeAspect="1"/>
          </p:cNvGraphicFramePr>
          <p:nvPr/>
        </p:nvGraphicFramePr>
        <p:xfrm>
          <a:off x="5735960" y="1640539"/>
          <a:ext cx="4554140" cy="1401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320" imgH="812520" progId="Equation.3">
                  <p:embed/>
                </p:oleObj>
              </mc:Choice>
              <mc:Fallback>
                <p:oleObj name="Equation" r:id="rId4" imgW="2641320" imgH="812520" progId="Equation.3">
                  <p:embed/>
                  <p:pic>
                    <p:nvPicPr>
                      <p:cNvPr id="860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960" y="1640539"/>
                        <a:ext cx="4554140" cy="1401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39816" y="260648"/>
            <a:ext cx="3961756" cy="124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Distance/Similarity</a:t>
            </a:r>
          </a:p>
        </p:txBody>
      </p:sp>
    </p:spTree>
    <p:extLst>
      <p:ext uri="{BB962C8B-B14F-4D97-AF65-F5344CB8AC3E}">
        <p14:creationId xmlns:p14="http://schemas.microsoft.com/office/powerpoint/2010/main" val="35354860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5640" y="216001"/>
            <a:ext cx="6624736" cy="823417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Which distance measure to use?</a:t>
            </a:r>
            <a:endParaRPr lang="en-GB" altLang="en-US" sz="3600" b="1" dirty="0">
              <a:latin typeface="Abadi" panose="020B0604020104020204" pitchFamily="34" charset="0"/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782" y="1196752"/>
            <a:ext cx="11157357" cy="51125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Euclidean and Manhattan distance both measure absolute differences between vectors.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Manhattan distance is more robust against outliers.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When the variables are measured on different scales it is wise to apply standardization to the observations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Standardization makes Euclidean and correlation distances equivalent </a:t>
            </a:r>
          </a:p>
        </p:txBody>
      </p:sp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7931944" y="2821782"/>
          <a:ext cx="1200150" cy="769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431640" progId="Equation.DSMT4">
                  <p:embed/>
                </p:oleObj>
              </mc:Choice>
              <mc:Fallback>
                <p:oleObj name="Equation" r:id="rId3" imgW="672840" imgH="431640" progId="Equation.DSMT4">
                  <p:embed/>
                  <p:pic>
                    <p:nvPicPr>
                      <p:cNvPr id="1280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944" y="2821782"/>
                        <a:ext cx="1200150" cy="769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9726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Hierarchical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Agglomerative (UPGMA, single linkage, furthest linkage)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Divisive</a:t>
            </a:r>
          </a:p>
          <a:p>
            <a:r>
              <a:rPr lang="en-US" altLang="en-US" dirty="0"/>
              <a:t>Partitioning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K-means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Self organizing maps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079776" y="332656"/>
            <a:ext cx="4536504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Clustering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366509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3431704" y="332656"/>
            <a:ext cx="5976664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Hierarchical Clustering</a:t>
            </a: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570452" y="1155948"/>
            <a:ext cx="5347097" cy="5585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 algn="l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 algn="l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 algn="l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 algn="l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>
              <a:buClrTx/>
              <a:buSzPct val="139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Produces a </a:t>
            </a:r>
            <a:r>
              <a:rPr lang="en-US" altLang="en-US" dirty="0" err="1">
                <a:latin typeface="Abadi" panose="020B0604020104020204" pitchFamily="34" charset="0"/>
              </a:rPr>
              <a:t>dendrogram</a:t>
            </a:r>
            <a:r>
              <a:rPr lang="en-US" altLang="en-US" dirty="0">
                <a:latin typeface="Abadi" panose="020B0604020104020204" pitchFamily="34" charset="0"/>
              </a:rPr>
              <a:t> (tree)</a:t>
            </a:r>
            <a:endParaRPr lang="en-US" altLang="en-US" baseline="-25000" dirty="0">
              <a:latin typeface="Abadi" panose="020B0604020104020204" pitchFamily="34" charset="0"/>
            </a:endParaRPr>
          </a:p>
          <a:p>
            <a:pPr>
              <a:buClrTx/>
              <a:buSzPct val="139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Avoids pre specification of the number of clusters K  </a:t>
            </a:r>
          </a:p>
          <a:p>
            <a:pPr>
              <a:buClrTx/>
              <a:buSzPct val="139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The tree can be built in two distinct ways: </a:t>
            </a:r>
          </a:p>
          <a:p>
            <a:pPr lvl="1">
              <a:buClrTx/>
              <a:buSzPct val="139000"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badi" panose="020B0604020104020204" pitchFamily="34" charset="0"/>
              </a:rPr>
              <a:t>Bottom-up: agglomerative clustering</a:t>
            </a:r>
          </a:p>
          <a:p>
            <a:pPr lvl="1">
              <a:buClrTx/>
              <a:buSzPct val="139000"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badi" panose="020B0604020104020204" pitchFamily="34" charset="0"/>
              </a:rPr>
              <a:t>Top-down: divisive clustering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>
              <a:latin typeface="Abadi" panose="020B0604020104020204" pitchFamily="34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D0C18D0-1966-4DD6-B2EA-B23C2510D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921" y="1269206"/>
            <a:ext cx="5347097" cy="43195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1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2135561" y="338725"/>
            <a:ext cx="7798309" cy="785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Agglomerative Hierarchical Clustering</a:t>
            </a:r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545285" y="1412776"/>
            <a:ext cx="10108666" cy="502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 algn="l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 algn="l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 algn="l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 algn="l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Start with </a:t>
            </a:r>
            <a:r>
              <a:rPr lang="en-US" altLang="en-US" sz="2000" i="1" dirty="0">
                <a:latin typeface="Abadi" panose="020B0604020104020204" pitchFamily="34" charset="0"/>
              </a:rPr>
              <a:t>n</a:t>
            </a:r>
            <a:r>
              <a:rPr lang="en-US" altLang="en-US" sz="2000" dirty="0">
                <a:latin typeface="Abadi" panose="020B0604020104020204" pitchFamily="34" charset="0"/>
              </a:rPr>
              <a:t> sample (or </a:t>
            </a:r>
            <a:r>
              <a:rPr lang="en-US" altLang="en-US" sz="2000" i="1" dirty="0">
                <a:latin typeface="Abadi" panose="020B0604020104020204" pitchFamily="34" charset="0"/>
              </a:rPr>
              <a:t>p</a:t>
            </a:r>
            <a:r>
              <a:rPr lang="en-US" altLang="en-US" sz="2000" dirty="0">
                <a:latin typeface="Abadi" panose="020B0604020104020204" pitchFamily="34" charset="0"/>
              </a:rPr>
              <a:t> variables) clusters</a:t>
            </a:r>
          </a:p>
          <a:p>
            <a:pPr lvl="1"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Each sample is a cluster</a:t>
            </a:r>
          </a:p>
          <a:p>
            <a:pPr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At each step, merge two closest clusters</a:t>
            </a:r>
          </a:p>
          <a:p>
            <a:pPr lvl="1"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Need a distance/similarity metric</a:t>
            </a:r>
          </a:p>
          <a:p>
            <a:pPr lvl="2"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i="1" dirty="0">
                <a:latin typeface="Abadi" panose="020B0604020104020204" pitchFamily="34" charset="0"/>
              </a:rPr>
              <a:t>E.g. </a:t>
            </a:r>
            <a:r>
              <a:rPr lang="en-US" altLang="en-US" sz="2000" dirty="0">
                <a:latin typeface="Abadi" panose="020B0604020104020204" pitchFamily="34" charset="0"/>
              </a:rPr>
              <a:t>Correlation, cosine, Manhattan distance, Euclidean distance</a:t>
            </a:r>
          </a:p>
          <a:p>
            <a:pPr lvl="1"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And a definition of the between-cluster distance</a:t>
            </a:r>
          </a:p>
          <a:p>
            <a:pPr lvl="2"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As soon as clusters consist of more than one element you have to decide what the distance between the clusters is.</a:t>
            </a:r>
          </a:p>
          <a:p>
            <a:pPr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Examples of between-cluster distances: </a:t>
            </a:r>
          </a:p>
          <a:p>
            <a:pPr lvl="1"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Unweighted Pair Group Method using Arithmetic averages (UPGMA):  average of pair wise distances</a:t>
            </a:r>
          </a:p>
          <a:p>
            <a:pPr lvl="1"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Single-link (Nearest </a:t>
            </a:r>
            <a:r>
              <a:rPr lang="en-US" altLang="en-US" sz="2000" dirty="0" err="1">
                <a:latin typeface="Abadi" panose="020B0604020104020204" pitchFamily="34" charset="0"/>
              </a:rPr>
              <a:t>Neighbour</a:t>
            </a:r>
            <a:r>
              <a:rPr lang="en-US" altLang="en-US" sz="2000" dirty="0">
                <a:latin typeface="Abadi" panose="020B0604020104020204" pitchFamily="34" charset="0"/>
              </a:rPr>
              <a:t>): minimum of pair wise distances</a:t>
            </a:r>
          </a:p>
          <a:p>
            <a:pPr lvl="1">
              <a:buClrTx/>
              <a:buSzPct val="136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Complete-link (Furthest </a:t>
            </a:r>
            <a:r>
              <a:rPr lang="en-US" altLang="en-US" sz="2000" dirty="0" err="1">
                <a:latin typeface="Abadi" panose="020B0604020104020204" pitchFamily="34" charset="0"/>
              </a:rPr>
              <a:t>Neighbour</a:t>
            </a:r>
            <a:r>
              <a:rPr lang="en-US" altLang="en-US" sz="2000" dirty="0">
                <a:latin typeface="Abadi" panose="020B0604020104020204" pitchFamily="34" charset="0"/>
              </a:rPr>
              <a:t>): maximum of pair wise distances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5169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4204609" y="48756"/>
            <a:ext cx="405178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How does it work?</a:t>
            </a:r>
          </a:p>
        </p:txBody>
      </p:sp>
      <p:sp>
        <p:nvSpPr>
          <p:cNvPr id="98309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8310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1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2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3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4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5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6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7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8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19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0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1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2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3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4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5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6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7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8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29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0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1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2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3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4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5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6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7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8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39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8340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98341" name="Text Box 37"/>
          <p:cNvSpPr txBox="1">
            <a:spLocks noChangeArrowheads="1"/>
          </p:cNvSpPr>
          <p:nvPr/>
        </p:nvSpPr>
        <p:spPr bwMode="auto">
          <a:xfrm>
            <a:off x="7230070" y="1681225"/>
            <a:ext cx="2034282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15 clusters</a:t>
            </a:r>
          </a:p>
        </p:txBody>
      </p:sp>
    </p:spTree>
    <p:extLst>
      <p:ext uri="{BB962C8B-B14F-4D97-AF65-F5344CB8AC3E}">
        <p14:creationId xmlns:p14="http://schemas.microsoft.com/office/powerpoint/2010/main" val="193682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4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2063552" y="317823"/>
            <a:ext cx="8712968" cy="1007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2800" b="1" dirty="0">
                <a:latin typeface="+mn-lt"/>
              </a:rPr>
              <a:t>Find pair that is ‘closest’ according to distance measure</a:t>
            </a:r>
          </a:p>
        </p:txBody>
      </p:sp>
      <p:sp>
        <p:nvSpPr>
          <p:cNvPr id="99333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9334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35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36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37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38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39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0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1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2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3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4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5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6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7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8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49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0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1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2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3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4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5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6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7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8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59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60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61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62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63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64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99365" name="Text Box 37"/>
          <p:cNvSpPr txBox="1">
            <a:spLocks noChangeArrowheads="1"/>
          </p:cNvSpPr>
          <p:nvPr/>
        </p:nvSpPr>
        <p:spPr bwMode="auto">
          <a:xfrm>
            <a:off x="7230668" y="2025254"/>
            <a:ext cx="174565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14 clusters</a:t>
            </a:r>
          </a:p>
        </p:txBody>
      </p:sp>
      <p:sp>
        <p:nvSpPr>
          <p:cNvPr id="99366" name="Oval 38"/>
          <p:cNvSpPr>
            <a:spLocks noChangeArrowheads="1"/>
          </p:cNvSpPr>
          <p:nvPr/>
        </p:nvSpPr>
        <p:spPr bwMode="auto">
          <a:xfrm rot="-2380635">
            <a:off x="8364142" y="4887516"/>
            <a:ext cx="485775" cy="27027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9367" name="Line 39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9368" name="Line 40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9369" name="Line 41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816350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2654649" y="74804"/>
            <a:ext cx="7545806" cy="971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Continue with the next closest pair(s)</a:t>
            </a:r>
          </a:p>
        </p:txBody>
      </p:sp>
      <p:sp>
        <p:nvSpPr>
          <p:cNvPr id="96261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262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63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64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65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66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67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68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69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0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1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2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3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4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5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6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7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8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79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0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1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2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3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4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5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6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7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8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89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90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91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92" name="Text Box 36"/>
          <p:cNvSpPr txBox="1">
            <a:spLocks noChangeArrowheads="1"/>
          </p:cNvSpPr>
          <p:nvPr/>
        </p:nvSpPr>
        <p:spPr bwMode="auto">
          <a:xfrm rot="-5400000">
            <a:off x="2130030" y="3305921"/>
            <a:ext cx="1510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nl-NL" altLang="en-US" sz="2400" dirty="0"/>
              <a:t>distance</a:t>
            </a:r>
          </a:p>
        </p:txBody>
      </p:sp>
      <p:sp>
        <p:nvSpPr>
          <p:cNvPr id="96293" name="Text Box 37"/>
          <p:cNvSpPr txBox="1">
            <a:spLocks noChangeArrowheads="1"/>
          </p:cNvSpPr>
          <p:nvPr/>
        </p:nvSpPr>
        <p:spPr bwMode="auto">
          <a:xfrm>
            <a:off x="7230668" y="2025254"/>
            <a:ext cx="1889669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12 clusters</a:t>
            </a:r>
          </a:p>
        </p:txBody>
      </p:sp>
      <p:sp>
        <p:nvSpPr>
          <p:cNvPr id="96294" name="Oval 38"/>
          <p:cNvSpPr>
            <a:spLocks noChangeArrowheads="1"/>
          </p:cNvSpPr>
          <p:nvPr/>
        </p:nvSpPr>
        <p:spPr bwMode="auto">
          <a:xfrm rot="-2380635">
            <a:off x="8364142" y="4887516"/>
            <a:ext cx="485775" cy="27027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95" name="Line 39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296" name="Line 40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297" name="Line 41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298" name="Oval 42"/>
          <p:cNvSpPr>
            <a:spLocks noChangeArrowheads="1"/>
          </p:cNvSpPr>
          <p:nvPr/>
        </p:nvSpPr>
        <p:spPr bwMode="auto">
          <a:xfrm rot="-2380635">
            <a:off x="6504387" y="3645694"/>
            <a:ext cx="539353" cy="323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299" name="Oval 43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96300" name="Line 44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301" name="Line 45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302" name="Line 46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303" name="Line 47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304" name="Line 48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96305" name="Line 49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223903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2207568" y="-39947"/>
            <a:ext cx="7992888" cy="1165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Next: one that is closest to an earlier pair</a:t>
            </a:r>
          </a:p>
        </p:txBody>
      </p:sp>
      <p:sp>
        <p:nvSpPr>
          <p:cNvPr id="100357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358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59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0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1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2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3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4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5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6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7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8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69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0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1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2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3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4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5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6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7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8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79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0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1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2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3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4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5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6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7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88" name="Text Box 36"/>
          <p:cNvSpPr txBox="1">
            <a:spLocks noChangeArrowheads="1"/>
          </p:cNvSpPr>
          <p:nvPr/>
        </p:nvSpPr>
        <p:spPr bwMode="auto">
          <a:xfrm rot="-5400000">
            <a:off x="2093840" y="3269731"/>
            <a:ext cx="15832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nl-NL" altLang="en-US" sz="2400" dirty="0"/>
              <a:t>distance</a:t>
            </a:r>
          </a:p>
        </p:txBody>
      </p:sp>
      <p:sp>
        <p:nvSpPr>
          <p:cNvPr id="100389" name="Text Box 37"/>
          <p:cNvSpPr txBox="1">
            <a:spLocks noChangeArrowheads="1"/>
          </p:cNvSpPr>
          <p:nvPr/>
        </p:nvSpPr>
        <p:spPr bwMode="auto">
          <a:xfrm>
            <a:off x="7230668" y="2025254"/>
            <a:ext cx="183594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12 clusters</a:t>
            </a:r>
          </a:p>
        </p:txBody>
      </p:sp>
      <p:sp>
        <p:nvSpPr>
          <p:cNvPr id="100390" name="Oval 38"/>
          <p:cNvSpPr>
            <a:spLocks noChangeArrowheads="1"/>
          </p:cNvSpPr>
          <p:nvPr/>
        </p:nvSpPr>
        <p:spPr bwMode="auto">
          <a:xfrm rot="-2380635">
            <a:off x="8364142" y="4887516"/>
            <a:ext cx="485775" cy="27027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91" name="Line 39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392" name="Line 40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393" name="Line 41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394" name="Oval 42"/>
          <p:cNvSpPr>
            <a:spLocks noChangeArrowheads="1"/>
          </p:cNvSpPr>
          <p:nvPr/>
        </p:nvSpPr>
        <p:spPr bwMode="auto">
          <a:xfrm rot="-2380635">
            <a:off x="6504387" y="3645694"/>
            <a:ext cx="539353" cy="323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95" name="Oval 43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0396" name="Line 44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397" name="Line 45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398" name="Line 46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399" name="Line 47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400" name="Line 48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401" name="Line 49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0402" name="Line 50"/>
          <p:cNvSpPr>
            <a:spLocks noChangeShapeType="1"/>
          </p:cNvSpPr>
          <p:nvPr/>
        </p:nvSpPr>
        <p:spPr bwMode="auto">
          <a:xfrm flipH="1">
            <a:off x="8742760" y="3969545"/>
            <a:ext cx="323850" cy="59412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7423891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2654648" y="177392"/>
            <a:ext cx="7281218" cy="690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Now: one cluster of three elements</a:t>
            </a:r>
          </a:p>
        </p:txBody>
      </p:sp>
      <p:sp>
        <p:nvSpPr>
          <p:cNvPr id="101381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382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83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84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85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86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87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88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89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0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1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2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3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4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5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6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7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8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399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0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1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2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3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4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5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6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7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8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09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10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11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12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01413" name="Text Box 37"/>
          <p:cNvSpPr txBox="1">
            <a:spLocks noChangeArrowheads="1"/>
          </p:cNvSpPr>
          <p:nvPr/>
        </p:nvSpPr>
        <p:spPr bwMode="auto">
          <a:xfrm>
            <a:off x="7230668" y="2025254"/>
            <a:ext cx="174565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11 clusters</a:t>
            </a:r>
          </a:p>
        </p:txBody>
      </p:sp>
      <p:sp>
        <p:nvSpPr>
          <p:cNvPr id="101414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15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16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17" name="Oval 41"/>
          <p:cNvSpPr>
            <a:spLocks noChangeArrowheads="1"/>
          </p:cNvSpPr>
          <p:nvPr/>
        </p:nvSpPr>
        <p:spPr bwMode="auto">
          <a:xfrm rot="-2380635">
            <a:off x="6504387" y="3645694"/>
            <a:ext cx="539353" cy="323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18" name="Oval 42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19" name="Line 43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0" name="Line 44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1" name="Line 45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2" name="Line 46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3" name="Line 47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4" name="Line 48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5" name="Oval 49"/>
          <p:cNvSpPr>
            <a:spLocks noChangeArrowheads="1"/>
          </p:cNvSpPr>
          <p:nvPr/>
        </p:nvSpPr>
        <p:spPr bwMode="auto">
          <a:xfrm rot="1924333">
            <a:off x="8310565" y="4455320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1426" name="Line 50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7" name="Line 51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1428" name="Line 52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1243892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3612356" y="228510"/>
            <a:ext cx="61722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Go on a number of times</a:t>
            </a:r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06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07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08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09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0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1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2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3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4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5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6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7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8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19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0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1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2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3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4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5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6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7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8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29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30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31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32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33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34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35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36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02437" name="Text Box 37"/>
          <p:cNvSpPr txBox="1">
            <a:spLocks noChangeArrowheads="1"/>
          </p:cNvSpPr>
          <p:nvPr/>
        </p:nvSpPr>
        <p:spPr bwMode="auto">
          <a:xfrm>
            <a:off x="7230667" y="2025254"/>
            <a:ext cx="170157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/>
              <a:t>8 clusters</a:t>
            </a:r>
          </a:p>
        </p:txBody>
      </p:sp>
      <p:sp>
        <p:nvSpPr>
          <p:cNvPr id="102438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39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0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1" name="Oval 41"/>
          <p:cNvSpPr>
            <a:spLocks noChangeArrowheads="1"/>
          </p:cNvSpPr>
          <p:nvPr/>
        </p:nvSpPr>
        <p:spPr bwMode="auto">
          <a:xfrm rot="-2380635">
            <a:off x="6504387" y="3645694"/>
            <a:ext cx="539353" cy="323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42" name="Oval 42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43" name="Line 43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4" name="Line 44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5" name="Line 45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6" name="Line 46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7" name="Line 47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8" name="Line 48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49" name="Oval 49"/>
          <p:cNvSpPr>
            <a:spLocks noChangeArrowheads="1"/>
          </p:cNvSpPr>
          <p:nvPr/>
        </p:nvSpPr>
        <p:spPr bwMode="auto">
          <a:xfrm rot="1924333">
            <a:off x="8310565" y="4455320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50" name="Line 50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51" name="Line 51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52" name="Line 52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53" name="Oval 53"/>
          <p:cNvSpPr>
            <a:spLocks noChangeArrowheads="1"/>
          </p:cNvSpPr>
          <p:nvPr/>
        </p:nvSpPr>
        <p:spPr bwMode="auto">
          <a:xfrm rot="-2380635">
            <a:off x="6690123" y="3969545"/>
            <a:ext cx="809625" cy="4857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54" name="Oval 54"/>
          <p:cNvSpPr>
            <a:spLocks noChangeArrowheads="1"/>
          </p:cNvSpPr>
          <p:nvPr/>
        </p:nvSpPr>
        <p:spPr bwMode="auto">
          <a:xfrm rot="4423132">
            <a:off x="8067677" y="2538414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2455" name="Line 55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56" name="Line 56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57" name="Line 57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58" name="Line 58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59" name="Line 59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60" name="Line 60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2461" name="Line 61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737477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3073003" y="177391"/>
            <a:ext cx="61722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Very close to two other clusters </a:t>
            </a:r>
          </a:p>
        </p:txBody>
      </p:sp>
      <p:sp>
        <p:nvSpPr>
          <p:cNvPr id="103429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30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1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2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3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4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5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6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7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8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39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0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1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2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3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4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5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6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7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8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49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0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1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2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3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4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5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6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7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8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59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60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03461" name="Text Box 37"/>
          <p:cNvSpPr txBox="1">
            <a:spLocks noChangeArrowheads="1"/>
          </p:cNvSpPr>
          <p:nvPr/>
        </p:nvSpPr>
        <p:spPr bwMode="auto">
          <a:xfrm>
            <a:off x="7230668" y="2025254"/>
            <a:ext cx="1889669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/>
              <a:t>8 clusters</a:t>
            </a:r>
          </a:p>
        </p:txBody>
      </p:sp>
      <p:sp>
        <p:nvSpPr>
          <p:cNvPr id="103462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63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64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65" name="Oval 41"/>
          <p:cNvSpPr>
            <a:spLocks noChangeArrowheads="1"/>
          </p:cNvSpPr>
          <p:nvPr/>
        </p:nvSpPr>
        <p:spPr bwMode="auto">
          <a:xfrm rot="-2380635">
            <a:off x="6504387" y="3645694"/>
            <a:ext cx="539353" cy="323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66" name="Oval 42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67" name="Line 43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68" name="Line 44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69" name="Line 45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70" name="Line 46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71" name="Line 47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72" name="Line 48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73" name="Oval 49"/>
          <p:cNvSpPr>
            <a:spLocks noChangeArrowheads="1"/>
          </p:cNvSpPr>
          <p:nvPr/>
        </p:nvSpPr>
        <p:spPr bwMode="auto">
          <a:xfrm rot="1924333">
            <a:off x="8310565" y="4455320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74" name="Line 50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75" name="Line 51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76" name="Line 52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77" name="Oval 53"/>
          <p:cNvSpPr>
            <a:spLocks noChangeArrowheads="1"/>
          </p:cNvSpPr>
          <p:nvPr/>
        </p:nvSpPr>
        <p:spPr bwMode="auto">
          <a:xfrm rot="-2380635">
            <a:off x="6690123" y="3969545"/>
            <a:ext cx="809625" cy="4857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78" name="Oval 54"/>
          <p:cNvSpPr>
            <a:spLocks noChangeArrowheads="1"/>
          </p:cNvSpPr>
          <p:nvPr/>
        </p:nvSpPr>
        <p:spPr bwMode="auto">
          <a:xfrm rot="4423132">
            <a:off x="8067677" y="2538414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3479" name="Line 55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80" name="Line 56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81" name="Line 57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82" name="Line 58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83" name="Line 59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84" name="Line 60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85" name="Line 61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3486" name="Line 62"/>
          <p:cNvSpPr>
            <a:spLocks noChangeShapeType="1"/>
          </p:cNvSpPr>
          <p:nvPr/>
        </p:nvSpPr>
        <p:spPr bwMode="auto">
          <a:xfrm>
            <a:off x="7067552" y="2996803"/>
            <a:ext cx="108347" cy="59412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2218779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3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54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55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56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57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58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59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0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1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2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3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4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5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6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7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8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69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0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1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2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3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4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5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6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7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8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79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80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81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82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83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84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04485" name="Text Box 37"/>
          <p:cNvSpPr txBox="1">
            <a:spLocks noChangeArrowheads="1"/>
          </p:cNvSpPr>
          <p:nvPr/>
        </p:nvSpPr>
        <p:spPr bwMode="auto">
          <a:xfrm>
            <a:off x="7230667" y="2025254"/>
            <a:ext cx="170157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/>
              <a:t>7 clusters</a:t>
            </a:r>
          </a:p>
        </p:txBody>
      </p:sp>
      <p:sp>
        <p:nvSpPr>
          <p:cNvPr id="104486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87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88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89" name="Oval 41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90" name="Line 42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1" name="Line 43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2" name="Line 44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3" name="Line 45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4" name="Line 46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5" name="Line 47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6" name="Oval 48"/>
          <p:cNvSpPr>
            <a:spLocks noChangeArrowheads="1"/>
          </p:cNvSpPr>
          <p:nvPr/>
        </p:nvSpPr>
        <p:spPr bwMode="auto">
          <a:xfrm rot="1924333">
            <a:off x="8310565" y="4455320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497" name="Line 49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8" name="Line 50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499" name="Line 51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0" name="Oval 52"/>
          <p:cNvSpPr>
            <a:spLocks noChangeArrowheads="1"/>
          </p:cNvSpPr>
          <p:nvPr/>
        </p:nvSpPr>
        <p:spPr bwMode="auto">
          <a:xfrm rot="-2380635">
            <a:off x="6690123" y="3969545"/>
            <a:ext cx="809625" cy="4857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501" name="Oval 53"/>
          <p:cNvSpPr>
            <a:spLocks noChangeArrowheads="1"/>
          </p:cNvSpPr>
          <p:nvPr/>
        </p:nvSpPr>
        <p:spPr bwMode="auto">
          <a:xfrm rot="4423132">
            <a:off x="6621662" y="3184328"/>
            <a:ext cx="541734" cy="11334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502" name="Line 54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3" name="Line 55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4" name="Line 56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5" name="Line 57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6" name="Line 58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7" name="Line 59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8" name="Line 60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09" name="Oval 61"/>
          <p:cNvSpPr>
            <a:spLocks noChangeArrowheads="1"/>
          </p:cNvSpPr>
          <p:nvPr/>
        </p:nvSpPr>
        <p:spPr bwMode="auto">
          <a:xfrm rot="4423132">
            <a:off x="8067677" y="2538414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4510" name="Line 62"/>
          <p:cNvSpPr>
            <a:spLocks noChangeShapeType="1"/>
          </p:cNvSpPr>
          <p:nvPr/>
        </p:nvSpPr>
        <p:spPr bwMode="auto">
          <a:xfrm flipV="1">
            <a:off x="3180160" y="3482580"/>
            <a:ext cx="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11" name="Line 63"/>
          <p:cNvSpPr>
            <a:spLocks noChangeShapeType="1"/>
          </p:cNvSpPr>
          <p:nvPr/>
        </p:nvSpPr>
        <p:spPr bwMode="auto">
          <a:xfrm flipV="1">
            <a:off x="3449241" y="3482579"/>
            <a:ext cx="0" cy="156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12" name="Line 64"/>
          <p:cNvSpPr>
            <a:spLocks noChangeShapeType="1"/>
          </p:cNvSpPr>
          <p:nvPr/>
        </p:nvSpPr>
        <p:spPr bwMode="auto">
          <a:xfrm>
            <a:off x="3180162" y="3482579"/>
            <a:ext cx="269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4513" name="Rectangle 6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latin typeface="+mn-lt"/>
              </a:rP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8825834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2276138" y="156728"/>
            <a:ext cx="7992887" cy="100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2800" b="1" dirty="0"/>
              <a:t>All elements are in groups, but unconnected</a:t>
            </a:r>
          </a:p>
        </p:txBody>
      </p:sp>
      <p:sp>
        <p:nvSpPr>
          <p:cNvPr id="106501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02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03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04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05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06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07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08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09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0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1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2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3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4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5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6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7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8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19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0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1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2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3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4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5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6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7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8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29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30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31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32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06533" name="Text Box 37"/>
          <p:cNvSpPr txBox="1">
            <a:spLocks noChangeArrowheads="1"/>
          </p:cNvSpPr>
          <p:nvPr/>
        </p:nvSpPr>
        <p:spPr bwMode="auto">
          <a:xfrm>
            <a:off x="7230667" y="2025254"/>
            <a:ext cx="170157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6 clusters</a:t>
            </a:r>
          </a:p>
        </p:txBody>
      </p:sp>
      <p:sp>
        <p:nvSpPr>
          <p:cNvPr id="106534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35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36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37" name="Oval 41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38" name="Line 42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39" name="Line 43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0" name="Line 44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1" name="Line 45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2" name="Line 46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3" name="Line 47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4" name="Oval 48"/>
          <p:cNvSpPr>
            <a:spLocks noChangeArrowheads="1"/>
          </p:cNvSpPr>
          <p:nvPr/>
        </p:nvSpPr>
        <p:spPr bwMode="auto">
          <a:xfrm rot="1924333">
            <a:off x="8310565" y="4455320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45" name="Line 49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6" name="Line 50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7" name="Line 51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48" name="Oval 52"/>
          <p:cNvSpPr>
            <a:spLocks noChangeArrowheads="1"/>
          </p:cNvSpPr>
          <p:nvPr/>
        </p:nvSpPr>
        <p:spPr bwMode="auto">
          <a:xfrm rot="-2380635">
            <a:off x="6690123" y="3969545"/>
            <a:ext cx="809625" cy="4857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49" name="Oval 53"/>
          <p:cNvSpPr>
            <a:spLocks noChangeArrowheads="1"/>
          </p:cNvSpPr>
          <p:nvPr/>
        </p:nvSpPr>
        <p:spPr bwMode="auto">
          <a:xfrm rot="4423132">
            <a:off x="6621662" y="3184328"/>
            <a:ext cx="541734" cy="11334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50" name="Line 54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1" name="Line 55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2" name="Line 56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3" name="Line 57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4" name="Line 58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5" name="Line 59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6" name="Line 60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7" name="Oval 61"/>
          <p:cNvSpPr>
            <a:spLocks noChangeArrowheads="1"/>
          </p:cNvSpPr>
          <p:nvPr/>
        </p:nvSpPr>
        <p:spPr bwMode="auto">
          <a:xfrm rot="4423132">
            <a:off x="8067677" y="2538414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6558" name="Line 62"/>
          <p:cNvSpPr>
            <a:spLocks noChangeShapeType="1"/>
          </p:cNvSpPr>
          <p:nvPr/>
        </p:nvSpPr>
        <p:spPr bwMode="auto">
          <a:xfrm flipV="1">
            <a:off x="3180160" y="3482580"/>
            <a:ext cx="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59" name="Line 63"/>
          <p:cNvSpPr>
            <a:spLocks noChangeShapeType="1"/>
          </p:cNvSpPr>
          <p:nvPr/>
        </p:nvSpPr>
        <p:spPr bwMode="auto">
          <a:xfrm flipV="1">
            <a:off x="3449241" y="3482579"/>
            <a:ext cx="0" cy="156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60" name="Line 64"/>
          <p:cNvSpPr>
            <a:spLocks noChangeShapeType="1"/>
          </p:cNvSpPr>
          <p:nvPr/>
        </p:nvSpPr>
        <p:spPr bwMode="auto">
          <a:xfrm>
            <a:off x="3180162" y="3482579"/>
            <a:ext cx="269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61" name="Line 65"/>
          <p:cNvSpPr>
            <a:spLocks noChangeShapeType="1"/>
          </p:cNvSpPr>
          <p:nvPr/>
        </p:nvSpPr>
        <p:spPr bwMode="auto">
          <a:xfrm flipV="1">
            <a:off x="4421981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62" name="Line 66"/>
          <p:cNvSpPr>
            <a:spLocks noChangeShapeType="1"/>
          </p:cNvSpPr>
          <p:nvPr/>
        </p:nvSpPr>
        <p:spPr bwMode="auto">
          <a:xfrm flipV="1">
            <a:off x="4583906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63" name="Line 67"/>
          <p:cNvSpPr>
            <a:spLocks noChangeShapeType="1"/>
          </p:cNvSpPr>
          <p:nvPr/>
        </p:nvSpPr>
        <p:spPr bwMode="auto">
          <a:xfrm>
            <a:off x="4421982" y="315872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6564" name="Oval 68"/>
          <p:cNvSpPr>
            <a:spLocks noChangeArrowheads="1"/>
          </p:cNvSpPr>
          <p:nvPr/>
        </p:nvSpPr>
        <p:spPr bwMode="auto">
          <a:xfrm rot="369463">
            <a:off x="7815263" y="4287441"/>
            <a:ext cx="4953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8804224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4800600" y="476672"/>
            <a:ext cx="2168128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Red group</a:t>
            </a:r>
          </a:p>
        </p:txBody>
      </p:sp>
      <p:sp>
        <p:nvSpPr>
          <p:cNvPr id="107525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26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27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28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29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0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1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2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3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4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5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6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7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8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39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0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1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2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3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4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5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6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7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8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49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50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51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52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53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54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55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56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 dirty="0"/>
              <a:t>distance</a:t>
            </a:r>
          </a:p>
        </p:txBody>
      </p:sp>
      <p:sp>
        <p:nvSpPr>
          <p:cNvPr id="107557" name="Text Box 37"/>
          <p:cNvSpPr txBox="1">
            <a:spLocks noChangeArrowheads="1"/>
          </p:cNvSpPr>
          <p:nvPr/>
        </p:nvSpPr>
        <p:spPr bwMode="auto">
          <a:xfrm>
            <a:off x="7604110" y="1864280"/>
            <a:ext cx="1516227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5 clusters</a:t>
            </a:r>
          </a:p>
        </p:txBody>
      </p:sp>
      <p:sp>
        <p:nvSpPr>
          <p:cNvPr id="107558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59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0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1" name="Oval 41"/>
          <p:cNvSpPr>
            <a:spLocks noChangeArrowheads="1"/>
          </p:cNvSpPr>
          <p:nvPr/>
        </p:nvSpPr>
        <p:spPr bwMode="auto">
          <a:xfrm rot="-2380635">
            <a:off x="8148639" y="3374233"/>
            <a:ext cx="594122" cy="3786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62" name="Line 42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3" name="Line 43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4" name="Line 44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5" name="Line 45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6" name="Line 46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7" name="Line 47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68" name="Oval 48"/>
          <p:cNvSpPr>
            <a:spLocks noChangeArrowheads="1"/>
          </p:cNvSpPr>
          <p:nvPr/>
        </p:nvSpPr>
        <p:spPr bwMode="auto">
          <a:xfrm rot="1924333">
            <a:off x="8310565" y="4455320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69" name="Line 49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0" name="Line 50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1" name="Line 51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2" name="Oval 52"/>
          <p:cNvSpPr>
            <a:spLocks noChangeArrowheads="1"/>
          </p:cNvSpPr>
          <p:nvPr/>
        </p:nvSpPr>
        <p:spPr bwMode="auto">
          <a:xfrm rot="4423132">
            <a:off x="6490693" y="3451029"/>
            <a:ext cx="1028700" cy="103941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73" name="Line 53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4" name="Line 54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5" name="Line 55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6" name="Line 56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7" name="Line 57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8" name="Line 58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79" name="Line 59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0" name="Oval 60"/>
          <p:cNvSpPr>
            <a:spLocks noChangeArrowheads="1"/>
          </p:cNvSpPr>
          <p:nvPr/>
        </p:nvSpPr>
        <p:spPr bwMode="auto">
          <a:xfrm rot="4423132">
            <a:off x="8067677" y="2538414"/>
            <a:ext cx="7024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81" name="Line 61"/>
          <p:cNvSpPr>
            <a:spLocks noChangeShapeType="1"/>
          </p:cNvSpPr>
          <p:nvPr/>
        </p:nvSpPr>
        <p:spPr bwMode="auto">
          <a:xfrm flipV="1">
            <a:off x="3180160" y="3482580"/>
            <a:ext cx="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2" name="Line 62"/>
          <p:cNvSpPr>
            <a:spLocks noChangeShapeType="1"/>
          </p:cNvSpPr>
          <p:nvPr/>
        </p:nvSpPr>
        <p:spPr bwMode="auto">
          <a:xfrm flipV="1">
            <a:off x="3449241" y="3482579"/>
            <a:ext cx="0" cy="156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3" name="Line 63"/>
          <p:cNvSpPr>
            <a:spLocks noChangeShapeType="1"/>
          </p:cNvSpPr>
          <p:nvPr/>
        </p:nvSpPr>
        <p:spPr bwMode="auto">
          <a:xfrm>
            <a:off x="3180162" y="3482579"/>
            <a:ext cx="269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4" name="Line 64"/>
          <p:cNvSpPr>
            <a:spLocks noChangeShapeType="1"/>
          </p:cNvSpPr>
          <p:nvPr/>
        </p:nvSpPr>
        <p:spPr bwMode="auto">
          <a:xfrm flipV="1">
            <a:off x="4421981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5" name="Line 65"/>
          <p:cNvSpPr>
            <a:spLocks noChangeShapeType="1"/>
          </p:cNvSpPr>
          <p:nvPr/>
        </p:nvSpPr>
        <p:spPr bwMode="auto">
          <a:xfrm flipV="1">
            <a:off x="4583906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6" name="Line 66"/>
          <p:cNvSpPr>
            <a:spLocks noChangeShapeType="1"/>
          </p:cNvSpPr>
          <p:nvPr/>
        </p:nvSpPr>
        <p:spPr bwMode="auto">
          <a:xfrm>
            <a:off x="4421982" y="315872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7" name="Oval 67"/>
          <p:cNvSpPr>
            <a:spLocks noChangeArrowheads="1"/>
          </p:cNvSpPr>
          <p:nvPr/>
        </p:nvSpPr>
        <p:spPr bwMode="auto">
          <a:xfrm rot="369463">
            <a:off x="7815263" y="4287441"/>
            <a:ext cx="4953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7588" name="Line 68"/>
          <p:cNvSpPr>
            <a:spLocks noChangeShapeType="1"/>
          </p:cNvSpPr>
          <p:nvPr/>
        </p:nvSpPr>
        <p:spPr bwMode="auto">
          <a:xfrm flipV="1">
            <a:off x="3287316" y="2726534"/>
            <a:ext cx="0" cy="7560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89" name="Line 69"/>
          <p:cNvSpPr>
            <a:spLocks noChangeShapeType="1"/>
          </p:cNvSpPr>
          <p:nvPr/>
        </p:nvSpPr>
        <p:spPr bwMode="auto">
          <a:xfrm flipV="1">
            <a:off x="3665935" y="2726531"/>
            <a:ext cx="0" cy="11346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7590" name="Line 70"/>
          <p:cNvSpPr>
            <a:spLocks noChangeShapeType="1"/>
          </p:cNvSpPr>
          <p:nvPr/>
        </p:nvSpPr>
        <p:spPr bwMode="auto">
          <a:xfrm>
            <a:off x="3287318" y="2726531"/>
            <a:ext cx="3786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1354196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1775520" y="134543"/>
            <a:ext cx="8712968" cy="701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Three groups (but: group identity unknown!)</a:t>
            </a:r>
          </a:p>
        </p:txBody>
      </p:sp>
      <p:sp>
        <p:nvSpPr>
          <p:cNvPr id="108549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50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1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2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3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4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5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6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7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8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59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0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1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2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3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4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5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6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7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8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69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0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1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2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3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4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5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6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7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8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79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80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08581" name="Text Box 37"/>
          <p:cNvSpPr txBox="1">
            <a:spLocks noChangeArrowheads="1"/>
          </p:cNvSpPr>
          <p:nvPr/>
        </p:nvSpPr>
        <p:spPr bwMode="auto">
          <a:xfrm>
            <a:off x="7580543" y="2025254"/>
            <a:ext cx="1496072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 dirty="0"/>
              <a:t>3 clusters</a:t>
            </a:r>
          </a:p>
        </p:txBody>
      </p:sp>
      <p:sp>
        <p:nvSpPr>
          <p:cNvPr id="108582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83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84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85" name="Line 41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86" name="Line 42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87" name="Line 43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88" name="Line 44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89" name="Line 45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0" name="Line 46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1" name="Oval 47"/>
          <p:cNvSpPr>
            <a:spLocks noChangeArrowheads="1"/>
          </p:cNvSpPr>
          <p:nvPr/>
        </p:nvSpPr>
        <p:spPr bwMode="auto">
          <a:xfrm rot="1924333">
            <a:off x="7716442" y="4346972"/>
            <a:ext cx="1251347" cy="8715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92" name="Line 48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3" name="Line 49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4" name="Line 50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5" name="Oval 51"/>
          <p:cNvSpPr>
            <a:spLocks noChangeArrowheads="1"/>
          </p:cNvSpPr>
          <p:nvPr/>
        </p:nvSpPr>
        <p:spPr bwMode="auto">
          <a:xfrm rot="4423132">
            <a:off x="6490693" y="3451029"/>
            <a:ext cx="1028700" cy="103941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596" name="Line 52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7" name="Line 53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8" name="Line 54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599" name="Line 55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0" name="Line 56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1" name="Line 57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2" name="Line 58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3" name="Oval 59"/>
          <p:cNvSpPr>
            <a:spLocks noChangeArrowheads="1"/>
          </p:cNvSpPr>
          <p:nvPr/>
        </p:nvSpPr>
        <p:spPr bwMode="auto">
          <a:xfrm rot="4423132">
            <a:off x="7797406" y="2807495"/>
            <a:ext cx="13501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8604" name="Line 60"/>
          <p:cNvSpPr>
            <a:spLocks noChangeShapeType="1"/>
          </p:cNvSpPr>
          <p:nvPr/>
        </p:nvSpPr>
        <p:spPr bwMode="auto">
          <a:xfrm flipV="1">
            <a:off x="3180160" y="3482580"/>
            <a:ext cx="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5" name="Line 61"/>
          <p:cNvSpPr>
            <a:spLocks noChangeShapeType="1"/>
          </p:cNvSpPr>
          <p:nvPr/>
        </p:nvSpPr>
        <p:spPr bwMode="auto">
          <a:xfrm flipV="1">
            <a:off x="3449241" y="3482579"/>
            <a:ext cx="0" cy="156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6" name="Line 62"/>
          <p:cNvSpPr>
            <a:spLocks noChangeShapeType="1"/>
          </p:cNvSpPr>
          <p:nvPr/>
        </p:nvSpPr>
        <p:spPr bwMode="auto">
          <a:xfrm>
            <a:off x="3180162" y="3482579"/>
            <a:ext cx="269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7" name="Line 63"/>
          <p:cNvSpPr>
            <a:spLocks noChangeShapeType="1"/>
          </p:cNvSpPr>
          <p:nvPr/>
        </p:nvSpPr>
        <p:spPr bwMode="auto">
          <a:xfrm flipV="1">
            <a:off x="4421981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8" name="Line 64"/>
          <p:cNvSpPr>
            <a:spLocks noChangeShapeType="1"/>
          </p:cNvSpPr>
          <p:nvPr/>
        </p:nvSpPr>
        <p:spPr bwMode="auto">
          <a:xfrm flipV="1">
            <a:off x="4583906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09" name="Line 65"/>
          <p:cNvSpPr>
            <a:spLocks noChangeShapeType="1"/>
          </p:cNvSpPr>
          <p:nvPr/>
        </p:nvSpPr>
        <p:spPr bwMode="auto">
          <a:xfrm>
            <a:off x="4421982" y="315872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0" name="Line 66"/>
          <p:cNvSpPr>
            <a:spLocks noChangeShapeType="1"/>
          </p:cNvSpPr>
          <p:nvPr/>
        </p:nvSpPr>
        <p:spPr bwMode="auto">
          <a:xfrm flipV="1">
            <a:off x="3287316" y="2726534"/>
            <a:ext cx="0" cy="7560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1" name="Line 67"/>
          <p:cNvSpPr>
            <a:spLocks noChangeShapeType="1"/>
          </p:cNvSpPr>
          <p:nvPr/>
        </p:nvSpPr>
        <p:spPr bwMode="auto">
          <a:xfrm flipV="1">
            <a:off x="3665935" y="2726531"/>
            <a:ext cx="0" cy="11346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2" name="Line 68"/>
          <p:cNvSpPr>
            <a:spLocks noChangeShapeType="1"/>
          </p:cNvSpPr>
          <p:nvPr/>
        </p:nvSpPr>
        <p:spPr bwMode="auto">
          <a:xfrm>
            <a:off x="3287318" y="2726531"/>
            <a:ext cx="3786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3" name="Line 69"/>
          <p:cNvSpPr>
            <a:spLocks noChangeShapeType="1"/>
          </p:cNvSpPr>
          <p:nvPr/>
        </p:nvSpPr>
        <p:spPr bwMode="auto">
          <a:xfrm flipV="1">
            <a:off x="4098131" y="2457452"/>
            <a:ext cx="0" cy="17275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4" name="Line 70"/>
          <p:cNvSpPr>
            <a:spLocks noChangeShapeType="1"/>
          </p:cNvSpPr>
          <p:nvPr/>
        </p:nvSpPr>
        <p:spPr bwMode="auto">
          <a:xfrm flipV="1">
            <a:off x="4530329" y="2457451"/>
            <a:ext cx="0" cy="7012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5" name="Line 71"/>
          <p:cNvSpPr>
            <a:spLocks noChangeShapeType="1"/>
          </p:cNvSpPr>
          <p:nvPr/>
        </p:nvSpPr>
        <p:spPr bwMode="auto">
          <a:xfrm>
            <a:off x="4098134" y="2457450"/>
            <a:ext cx="4321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6" name="Line 72"/>
          <p:cNvSpPr>
            <a:spLocks noChangeShapeType="1"/>
          </p:cNvSpPr>
          <p:nvPr/>
        </p:nvSpPr>
        <p:spPr bwMode="auto">
          <a:xfrm flipV="1">
            <a:off x="4799410" y="2457452"/>
            <a:ext cx="0" cy="19978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7" name="Line 73"/>
          <p:cNvSpPr>
            <a:spLocks noChangeShapeType="1"/>
          </p:cNvSpPr>
          <p:nvPr/>
        </p:nvSpPr>
        <p:spPr bwMode="auto">
          <a:xfrm flipV="1">
            <a:off x="5231606" y="2457452"/>
            <a:ext cx="0" cy="1350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8618" name="Line 74"/>
          <p:cNvSpPr>
            <a:spLocks noChangeShapeType="1"/>
          </p:cNvSpPr>
          <p:nvPr/>
        </p:nvSpPr>
        <p:spPr bwMode="auto">
          <a:xfrm>
            <a:off x="4799411" y="2457450"/>
            <a:ext cx="4321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0790215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4782264" y="317862"/>
            <a:ext cx="3366374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Two groups left</a:t>
            </a:r>
          </a:p>
        </p:txBody>
      </p:sp>
      <p:sp>
        <p:nvSpPr>
          <p:cNvPr id="109573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574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75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76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77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78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79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0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1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2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3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4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5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6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7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8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89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0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1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2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3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4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5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6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7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8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599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600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601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602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603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604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09605" name="Text Box 37"/>
          <p:cNvSpPr txBox="1">
            <a:spLocks noChangeArrowheads="1"/>
          </p:cNvSpPr>
          <p:nvPr/>
        </p:nvSpPr>
        <p:spPr bwMode="auto">
          <a:xfrm>
            <a:off x="7608168" y="2025254"/>
            <a:ext cx="1368152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nl-NL" altLang="en-US" sz="2400"/>
              <a:t>2 clusters</a:t>
            </a:r>
          </a:p>
        </p:txBody>
      </p:sp>
      <p:sp>
        <p:nvSpPr>
          <p:cNvPr id="109606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07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08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09" name="Line 41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0" name="Line 42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1" name="Line 43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2" name="Line 44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3" name="Line 45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4" name="Line 46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5" name="Line 47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6" name="Line 48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7" name="Line 49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18" name="Oval 50"/>
          <p:cNvSpPr>
            <a:spLocks noChangeArrowheads="1"/>
          </p:cNvSpPr>
          <p:nvPr/>
        </p:nvSpPr>
        <p:spPr bwMode="auto">
          <a:xfrm rot="1759576">
            <a:off x="6040042" y="3752852"/>
            <a:ext cx="3080147" cy="124658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619" name="Line 51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0" name="Line 52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1" name="Line 53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2" name="Line 54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3" name="Line 55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4" name="Line 56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5" name="Line 57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6" name="Oval 58"/>
          <p:cNvSpPr>
            <a:spLocks noChangeArrowheads="1"/>
          </p:cNvSpPr>
          <p:nvPr/>
        </p:nvSpPr>
        <p:spPr bwMode="auto">
          <a:xfrm rot="4423132">
            <a:off x="7797406" y="2807495"/>
            <a:ext cx="1350169" cy="86439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09627" name="Line 59"/>
          <p:cNvSpPr>
            <a:spLocks noChangeShapeType="1"/>
          </p:cNvSpPr>
          <p:nvPr/>
        </p:nvSpPr>
        <p:spPr bwMode="auto">
          <a:xfrm flipV="1">
            <a:off x="3180160" y="3482580"/>
            <a:ext cx="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8" name="Line 60"/>
          <p:cNvSpPr>
            <a:spLocks noChangeShapeType="1"/>
          </p:cNvSpPr>
          <p:nvPr/>
        </p:nvSpPr>
        <p:spPr bwMode="auto">
          <a:xfrm flipV="1">
            <a:off x="3449241" y="3482579"/>
            <a:ext cx="0" cy="156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29" name="Line 61"/>
          <p:cNvSpPr>
            <a:spLocks noChangeShapeType="1"/>
          </p:cNvSpPr>
          <p:nvPr/>
        </p:nvSpPr>
        <p:spPr bwMode="auto">
          <a:xfrm>
            <a:off x="3180162" y="3482579"/>
            <a:ext cx="269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0" name="Line 62"/>
          <p:cNvSpPr>
            <a:spLocks noChangeShapeType="1"/>
          </p:cNvSpPr>
          <p:nvPr/>
        </p:nvSpPr>
        <p:spPr bwMode="auto">
          <a:xfrm flipV="1">
            <a:off x="4421981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1" name="Line 63"/>
          <p:cNvSpPr>
            <a:spLocks noChangeShapeType="1"/>
          </p:cNvSpPr>
          <p:nvPr/>
        </p:nvSpPr>
        <p:spPr bwMode="auto">
          <a:xfrm flipV="1">
            <a:off x="4583906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2" name="Line 64"/>
          <p:cNvSpPr>
            <a:spLocks noChangeShapeType="1"/>
          </p:cNvSpPr>
          <p:nvPr/>
        </p:nvSpPr>
        <p:spPr bwMode="auto">
          <a:xfrm>
            <a:off x="4421982" y="315872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3" name="Line 65"/>
          <p:cNvSpPr>
            <a:spLocks noChangeShapeType="1"/>
          </p:cNvSpPr>
          <p:nvPr/>
        </p:nvSpPr>
        <p:spPr bwMode="auto">
          <a:xfrm flipV="1">
            <a:off x="3287316" y="2726534"/>
            <a:ext cx="0" cy="7560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4" name="Line 66"/>
          <p:cNvSpPr>
            <a:spLocks noChangeShapeType="1"/>
          </p:cNvSpPr>
          <p:nvPr/>
        </p:nvSpPr>
        <p:spPr bwMode="auto">
          <a:xfrm flipV="1">
            <a:off x="3665935" y="2726531"/>
            <a:ext cx="0" cy="11346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5" name="Line 67"/>
          <p:cNvSpPr>
            <a:spLocks noChangeShapeType="1"/>
          </p:cNvSpPr>
          <p:nvPr/>
        </p:nvSpPr>
        <p:spPr bwMode="auto">
          <a:xfrm>
            <a:off x="3287318" y="2726531"/>
            <a:ext cx="3786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6" name="Line 68"/>
          <p:cNvSpPr>
            <a:spLocks noChangeShapeType="1"/>
          </p:cNvSpPr>
          <p:nvPr/>
        </p:nvSpPr>
        <p:spPr bwMode="auto">
          <a:xfrm flipV="1">
            <a:off x="4098131" y="2457452"/>
            <a:ext cx="0" cy="17275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7" name="Line 69"/>
          <p:cNvSpPr>
            <a:spLocks noChangeShapeType="1"/>
          </p:cNvSpPr>
          <p:nvPr/>
        </p:nvSpPr>
        <p:spPr bwMode="auto">
          <a:xfrm flipV="1">
            <a:off x="4530329" y="2457451"/>
            <a:ext cx="0" cy="7012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8" name="Line 70"/>
          <p:cNvSpPr>
            <a:spLocks noChangeShapeType="1"/>
          </p:cNvSpPr>
          <p:nvPr/>
        </p:nvSpPr>
        <p:spPr bwMode="auto">
          <a:xfrm>
            <a:off x="4098134" y="2457450"/>
            <a:ext cx="4321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39" name="Line 71"/>
          <p:cNvSpPr>
            <a:spLocks noChangeShapeType="1"/>
          </p:cNvSpPr>
          <p:nvPr/>
        </p:nvSpPr>
        <p:spPr bwMode="auto">
          <a:xfrm flipV="1">
            <a:off x="4799410" y="2457452"/>
            <a:ext cx="0" cy="19978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40" name="Line 72"/>
          <p:cNvSpPr>
            <a:spLocks noChangeShapeType="1"/>
          </p:cNvSpPr>
          <p:nvPr/>
        </p:nvSpPr>
        <p:spPr bwMode="auto">
          <a:xfrm flipV="1">
            <a:off x="5231606" y="2457452"/>
            <a:ext cx="0" cy="1350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41" name="Line 73"/>
          <p:cNvSpPr>
            <a:spLocks noChangeShapeType="1"/>
          </p:cNvSpPr>
          <p:nvPr/>
        </p:nvSpPr>
        <p:spPr bwMode="auto">
          <a:xfrm>
            <a:off x="4799411" y="2457450"/>
            <a:ext cx="4321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42" name="Line 74"/>
          <p:cNvSpPr>
            <a:spLocks noChangeShapeType="1"/>
          </p:cNvSpPr>
          <p:nvPr/>
        </p:nvSpPr>
        <p:spPr bwMode="auto">
          <a:xfrm flipV="1">
            <a:off x="3449241" y="2294336"/>
            <a:ext cx="0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43" name="Line 75"/>
          <p:cNvSpPr>
            <a:spLocks noChangeShapeType="1"/>
          </p:cNvSpPr>
          <p:nvPr/>
        </p:nvSpPr>
        <p:spPr bwMode="auto">
          <a:xfrm flipV="1">
            <a:off x="4313635" y="2294337"/>
            <a:ext cx="0" cy="1631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09644" name="Line 76"/>
          <p:cNvSpPr>
            <a:spLocks noChangeShapeType="1"/>
          </p:cNvSpPr>
          <p:nvPr/>
        </p:nvSpPr>
        <p:spPr bwMode="auto">
          <a:xfrm>
            <a:off x="3449242" y="2294335"/>
            <a:ext cx="8643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188762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3073003" y="178192"/>
            <a:ext cx="61722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nl-NL" altLang="en-US" sz="3600" b="1" dirty="0">
                <a:latin typeface="+mn-lt"/>
              </a:rPr>
              <a:t>All elements in one big group</a:t>
            </a:r>
          </a:p>
        </p:txBody>
      </p:sp>
      <p:sp>
        <p:nvSpPr>
          <p:cNvPr id="110597" name="Line 5"/>
          <p:cNvSpPr>
            <a:spLocks noChangeShapeType="1"/>
          </p:cNvSpPr>
          <p:nvPr/>
        </p:nvSpPr>
        <p:spPr bwMode="auto">
          <a:xfrm>
            <a:off x="3018235" y="2078833"/>
            <a:ext cx="0" cy="30789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598" name="Oval 6"/>
          <p:cNvSpPr>
            <a:spLocks noChangeArrowheads="1"/>
          </p:cNvSpPr>
          <p:nvPr/>
        </p:nvSpPr>
        <p:spPr bwMode="auto">
          <a:xfrm>
            <a:off x="30730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599" name="Oval 7"/>
          <p:cNvSpPr>
            <a:spLocks noChangeArrowheads="1"/>
          </p:cNvSpPr>
          <p:nvPr/>
        </p:nvSpPr>
        <p:spPr bwMode="auto">
          <a:xfrm>
            <a:off x="6636546" y="38076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0" name="Oval 8"/>
          <p:cNvSpPr>
            <a:spLocks noChangeArrowheads="1"/>
          </p:cNvSpPr>
          <p:nvPr/>
        </p:nvSpPr>
        <p:spPr bwMode="auto">
          <a:xfrm>
            <a:off x="6798471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1" name="Oval 9"/>
          <p:cNvSpPr>
            <a:spLocks noChangeArrowheads="1"/>
          </p:cNvSpPr>
          <p:nvPr/>
        </p:nvSpPr>
        <p:spPr bwMode="auto">
          <a:xfrm>
            <a:off x="7175898" y="3644504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2" name="Oval 10"/>
          <p:cNvSpPr>
            <a:spLocks noChangeArrowheads="1"/>
          </p:cNvSpPr>
          <p:nvPr/>
        </p:nvSpPr>
        <p:spPr bwMode="auto">
          <a:xfrm>
            <a:off x="8202217" y="305038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3" name="Oval 11"/>
          <p:cNvSpPr>
            <a:spLocks noChangeArrowheads="1"/>
          </p:cNvSpPr>
          <p:nvPr/>
        </p:nvSpPr>
        <p:spPr bwMode="auto">
          <a:xfrm>
            <a:off x="8526067" y="2996804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4" name="Oval 12"/>
          <p:cNvSpPr>
            <a:spLocks noChangeArrowheads="1"/>
          </p:cNvSpPr>
          <p:nvPr/>
        </p:nvSpPr>
        <p:spPr bwMode="auto">
          <a:xfrm>
            <a:off x="8310565" y="27813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5" name="Oval 13"/>
          <p:cNvSpPr>
            <a:spLocks noChangeArrowheads="1"/>
          </p:cNvSpPr>
          <p:nvPr/>
        </p:nvSpPr>
        <p:spPr bwMode="auto">
          <a:xfrm>
            <a:off x="8310565" y="3536159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6" name="Oval 14"/>
          <p:cNvSpPr>
            <a:spLocks noChangeArrowheads="1"/>
          </p:cNvSpPr>
          <p:nvPr/>
        </p:nvSpPr>
        <p:spPr bwMode="auto">
          <a:xfrm>
            <a:off x="8040292" y="44553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7" name="Oval 15"/>
          <p:cNvSpPr>
            <a:spLocks noChangeArrowheads="1"/>
          </p:cNvSpPr>
          <p:nvPr/>
        </p:nvSpPr>
        <p:spPr bwMode="auto">
          <a:xfrm>
            <a:off x="7986715" y="4832748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8" name="Oval 16"/>
          <p:cNvSpPr>
            <a:spLocks noChangeArrowheads="1"/>
          </p:cNvSpPr>
          <p:nvPr/>
        </p:nvSpPr>
        <p:spPr bwMode="auto">
          <a:xfrm>
            <a:off x="8634415" y="4617246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09" name="Oval 17"/>
          <p:cNvSpPr>
            <a:spLocks noChangeArrowheads="1"/>
          </p:cNvSpPr>
          <p:nvPr/>
        </p:nvSpPr>
        <p:spPr bwMode="auto">
          <a:xfrm>
            <a:off x="8472490" y="4994673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0" name="Oval 18"/>
          <p:cNvSpPr>
            <a:spLocks noChangeArrowheads="1"/>
          </p:cNvSpPr>
          <p:nvPr/>
        </p:nvSpPr>
        <p:spPr bwMode="auto">
          <a:xfrm>
            <a:off x="8579646" y="4886327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1" name="Oval 19"/>
          <p:cNvSpPr>
            <a:spLocks noChangeArrowheads="1"/>
          </p:cNvSpPr>
          <p:nvPr/>
        </p:nvSpPr>
        <p:spPr bwMode="auto">
          <a:xfrm>
            <a:off x="3233740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2" name="Oval 20"/>
          <p:cNvSpPr>
            <a:spLocks noChangeArrowheads="1"/>
          </p:cNvSpPr>
          <p:nvPr/>
        </p:nvSpPr>
        <p:spPr bwMode="auto">
          <a:xfrm>
            <a:off x="339685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3" name="Oval 21"/>
          <p:cNvSpPr>
            <a:spLocks noChangeArrowheads="1"/>
          </p:cNvSpPr>
          <p:nvPr/>
        </p:nvSpPr>
        <p:spPr bwMode="auto">
          <a:xfrm>
            <a:off x="3558779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4" name="Oval 22"/>
          <p:cNvSpPr>
            <a:spLocks noChangeArrowheads="1"/>
          </p:cNvSpPr>
          <p:nvPr/>
        </p:nvSpPr>
        <p:spPr bwMode="auto">
          <a:xfrm>
            <a:off x="3720704" y="5103021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5" name="Oval 23"/>
          <p:cNvSpPr>
            <a:spLocks noChangeArrowheads="1"/>
          </p:cNvSpPr>
          <p:nvPr/>
        </p:nvSpPr>
        <p:spPr bwMode="auto">
          <a:xfrm>
            <a:off x="38826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6" name="Oval 24"/>
          <p:cNvSpPr>
            <a:spLocks noChangeArrowheads="1"/>
          </p:cNvSpPr>
          <p:nvPr/>
        </p:nvSpPr>
        <p:spPr bwMode="auto">
          <a:xfrm>
            <a:off x="4043365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7" name="Oval 25"/>
          <p:cNvSpPr>
            <a:spLocks noChangeArrowheads="1"/>
          </p:cNvSpPr>
          <p:nvPr/>
        </p:nvSpPr>
        <p:spPr bwMode="auto">
          <a:xfrm>
            <a:off x="420647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8" name="Oval 26"/>
          <p:cNvSpPr>
            <a:spLocks noChangeArrowheads="1"/>
          </p:cNvSpPr>
          <p:nvPr/>
        </p:nvSpPr>
        <p:spPr bwMode="auto">
          <a:xfrm>
            <a:off x="4368404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19" name="Oval 27"/>
          <p:cNvSpPr>
            <a:spLocks noChangeArrowheads="1"/>
          </p:cNvSpPr>
          <p:nvPr/>
        </p:nvSpPr>
        <p:spPr bwMode="auto">
          <a:xfrm>
            <a:off x="4530329" y="5103021"/>
            <a:ext cx="108347" cy="108347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0" name="Oval 28"/>
          <p:cNvSpPr>
            <a:spLocks noChangeArrowheads="1"/>
          </p:cNvSpPr>
          <p:nvPr/>
        </p:nvSpPr>
        <p:spPr bwMode="auto">
          <a:xfrm>
            <a:off x="46922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1" name="Oval 29"/>
          <p:cNvSpPr>
            <a:spLocks noChangeArrowheads="1"/>
          </p:cNvSpPr>
          <p:nvPr/>
        </p:nvSpPr>
        <p:spPr bwMode="auto">
          <a:xfrm>
            <a:off x="4852990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2" name="Oval 30"/>
          <p:cNvSpPr>
            <a:spLocks noChangeArrowheads="1"/>
          </p:cNvSpPr>
          <p:nvPr/>
        </p:nvSpPr>
        <p:spPr bwMode="auto">
          <a:xfrm>
            <a:off x="501610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3" name="Oval 31"/>
          <p:cNvSpPr>
            <a:spLocks noChangeArrowheads="1"/>
          </p:cNvSpPr>
          <p:nvPr/>
        </p:nvSpPr>
        <p:spPr bwMode="auto">
          <a:xfrm>
            <a:off x="5178029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4" name="Oval 32"/>
          <p:cNvSpPr>
            <a:spLocks noChangeArrowheads="1"/>
          </p:cNvSpPr>
          <p:nvPr/>
        </p:nvSpPr>
        <p:spPr bwMode="auto">
          <a:xfrm>
            <a:off x="5339954" y="5103021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5" name="Oval 33"/>
          <p:cNvSpPr>
            <a:spLocks noChangeArrowheads="1"/>
          </p:cNvSpPr>
          <p:nvPr/>
        </p:nvSpPr>
        <p:spPr bwMode="auto">
          <a:xfrm>
            <a:off x="6905627" y="4238627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6" name="Oval 34"/>
          <p:cNvSpPr>
            <a:spLocks noChangeArrowheads="1"/>
          </p:cNvSpPr>
          <p:nvPr/>
        </p:nvSpPr>
        <p:spPr bwMode="auto">
          <a:xfrm>
            <a:off x="7122321" y="4076702"/>
            <a:ext cx="108347" cy="10834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7" name="Oval 35"/>
          <p:cNvSpPr>
            <a:spLocks noChangeArrowheads="1"/>
          </p:cNvSpPr>
          <p:nvPr/>
        </p:nvSpPr>
        <p:spPr bwMode="auto">
          <a:xfrm>
            <a:off x="8526067" y="3429002"/>
            <a:ext cx="108347" cy="108347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28" name="Text Box 36"/>
          <p:cNvSpPr txBox="1">
            <a:spLocks noChangeArrowheads="1"/>
          </p:cNvSpPr>
          <p:nvPr/>
        </p:nvSpPr>
        <p:spPr bwMode="auto">
          <a:xfrm rot="-5400000">
            <a:off x="2264570" y="3440462"/>
            <a:ext cx="1241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nl-NL" altLang="en-US" sz="2400"/>
              <a:t>distance</a:t>
            </a:r>
          </a:p>
        </p:txBody>
      </p:sp>
      <p:sp>
        <p:nvSpPr>
          <p:cNvPr id="110629" name="Text Box 37"/>
          <p:cNvSpPr txBox="1">
            <a:spLocks noChangeArrowheads="1"/>
          </p:cNvSpPr>
          <p:nvPr/>
        </p:nvSpPr>
        <p:spPr bwMode="auto">
          <a:xfrm>
            <a:off x="7306340" y="1914229"/>
            <a:ext cx="1350169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nl-NL" altLang="en-US" sz="2400"/>
              <a:t>1 cluster</a:t>
            </a:r>
          </a:p>
        </p:txBody>
      </p:sp>
      <p:sp>
        <p:nvSpPr>
          <p:cNvPr id="110630" name="Line 38"/>
          <p:cNvSpPr>
            <a:spLocks noChangeShapeType="1"/>
          </p:cNvSpPr>
          <p:nvPr/>
        </p:nvSpPr>
        <p:spPr bwMode="auto">
          <a:xfrm flipV="1">
            <a:off x="3936206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1" name="Line 39"/>
          <p:cNvSpPr>
            <a:spLocks noChangeShapeType="1"/>
          </p:cNvSpPr>
          <p:nvPr/>
        </p:nvSpPr>
        <p:spPr bwMode="auto">
          <a:xfrm flipV="1">
            <a:off x="4098131" y="4725591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2" name="Line 40"/>
          <p:cNvSpPr>
            <a:spLocks noChangeShapeType="1"/>
          </p:cNvSpPr>
          <p:nvPr/>
        </p:nvSpPr>
        <p:spPr bwMode="auto">
          <a:xfrm>
            <a:off x="3936207" y="4725591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3" name="Line 41"/>
          <p:cNvSpPr>
            <a:spLocks noChangeShapeType="1"/>
          </p:cNvSpPr>
          <p:nvPr/>
        </p:nvSpPr>
        <p:spPr bwMode="auto">
          <a:xfrm flipV="1">
            <a:off x="312539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4" name="Line 42"/>
          <p:cNvSpPr>
            <a:spLocks noChangeShapeType="1"/>
          </p:cNvSpPr>
          <p:nvPr/>
        </p:nvSpPr>
        <p:spPr bwMode="auto">
          <a:xfrm flipV="1">
            <a:off x="328731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5" name="Line 43"/>
          <p:cNvSpPr>
            <a:spLocks noChangeShapeType="1"/>
          </p:cNvSpPr>
          <p:nvPr/>
        </p:nvSpPr>
        <p:spPr bwMode="auto">
          <a:xfrm>
            <a:off x="312539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6" name="Line 44"/>
          <p:cNvSpPr>
            <a:spLocks noChangeShapeType="1"/>
          </p:cNvSpPr>
          <p:nvPr/>
        </p:nvSpPr>
        <p:spPr bwMode="auto">
          <a:xfrm flipV="1">
            <a:off x="4745831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7" name="Line 45"/>
          <p:cNvSpPr>
            <a:spLocks noChangeShapeType="1"/>
          </p:cNvSpPr>
          <p:nvPr/>
        </p:nvSpPr>
        <p:spPr bwMode="auto">
          <a:xfrm flipV="1">
            <a:off x="4907756" y="4455320"/>
            <a:ext cx="0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8" name="Line 46"/>
          <p:cNvSpPr>
            <a:spLocks noChangeShapeType="1"/>
          </p:cNvSpPr>
          <p:nvPr/>
        </p:nvSpPr>
        <p:spPr bwMode="auto">
          <a:xfrm>
            <a:off x="4745832" y="445531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39" name="Line 47"/>
          <p:cNvSpPr>
            <a:spLocks noChangeShapeType="1"/>
          </p:cNvSpPr>
          <p:nvPr/>
        </p:nvSpPr>
        <p:spPr bwMode="auto">
          <a:xfrm flipV="1">
            <a:off x="4260056" y="4185048"/>
            <a:ext cx="0" cy="864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0" name="Line 48"/>
          <p:cNvSpPr>
            <a:spLocks noChangeShapeType="1"/>
          </p:cNvSpPr>
          <p:nvPr/>
        </p:nvSpPr>
        <p:spPr bwMode="auto">
          <a:xfrm flipV="1">
            <a:off x="3989785" y="4185048"/>
            <a:ext cx="0" cy="540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1" name="Line 49"/>
          <p:cNvSpPr>
            <a:spLocks noChangeShapeType="1"/>
          </p:cNvSpPr>
          <p:nvPr/>
        </p:nvSpPr>
        <p:spPr bwMode="auto">
          <a:xfrm>
            <a:off x="3989785" y="4185047"/>
            <a:ext cx="270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2" name="Oval 50"/>
          <p:cNvSpPr>
            <a:spLocks noChangeArrowheads="1"/>
          </p:cNvSpPr>
          <p:nvPr/>
        </p:nvSpPr>
        <p:spPr bwMode="auto">
          <a:xfrm rot="1759576">
            <a:off x="6481765" y="2571752"/>
            <a:ext cx="2908697" cy="268366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110643" name="Line 51"/>
          <p:cNvSpPr>
            <a:spLocks noChangeShapeType="1"/>
          </p:cNvSpPr>
          <p:nvPr/>
        </p:nvSpPr>
        <p:spPr bwMode="auto">
          <a:xfrm flipV="1">
            <a:off x="3612356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4" name="Line 52"/>
          <p:cNvSpPr>
            <a:spLocks noChangeShapeType="1"/>
          </p:cNvSpPr>
          <p:nvPr/>
        </p:nvSpPr>
        <p:spPr bwMode="auto">
          <a:xfrm flipV="1">
            <a:off x="3774281" y="3861198"/>
            <a:ext cx="0" cy="11882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5" name="Line 53"/>
          <p:cNvSpPr>
            <a:spLocks noChangeShapeType="1"/>
          </p:cNvSpPr>
          <p:nvPr/>
        </p:nvSpPr>
        <p:spPr bwMode="auto">
          <a:xfrm>
            <a:off x="3612357" y="3861197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6" name="Line 54"/>
          <p:cNvSpPr>
            <a:spLocks noChangeShapeType="1"/>
          </p:cNvSpPr>
          <p:nvPr/>
        </p:nvSpPr>
        <p:spPr bwMode="auto">
          <a:xfrm flipV="1">
            <a:off x="506968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7" name="Line 55"/>
          <p:cNvSpPr>
            <a:spLocks noChangeShapeType="1"/>
          </p:cNvSpPr>
          <p:nvPr/>
        </p:nvSpPr>
        <p:spPr bwMode="auto">
          <a:xfrm flipV="1">
            <a:off x="5231606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8" name="Line 56"/>
          <p:cNvSpPr>
            <a:spLocks noChangeShapeType="1"/>
          </p:cNvSpPr>
          <p:nvPr/>
        </p:nvSpPr>
        <p:spPr bwMode="auto">
          <a:xfrm flipV="1">
            <a:off x="5393531" y="3807620"/>
            <a:ext cx="0" cy="1241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49" name="Line 57"/>
          <p:cNvSpPr>
            <a:spLocks noChangeShapeType="1"/>
          </p:cNvSpPr>
          <p:nvPr/>
        </p:nvSpPr>
        <p:spPr bwMode="auto">
          <a:xfrm>
            <a:off x="5069681" y="3807619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0" name="Line 58"/>
          <p:cNvSpPr>
            <a:spLocks noChangeShapeType="1"/>
          </p:cNvSpPr>
          <p:nvPr/>
        </p:nvSpPr>
        <p:spPr bwMode="auto">
          <a:xfrm flipV="1">
            <a:off x="3180160" y="3482580"/>
            <a:ext cx="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1" name="Line 59"/>
          <p:cNvSpPr>
            <a:spLocks noChangeShapeType="1"/>
          </p:cNvSpPr>
          <p:nvPr/>
        </p:nvSpPr>
        <p:spPr bwMode="auto">
          <a:xfrm flipV="1">
            <a:off x="3449241" y="3482579"/>
            <a:ext cx="0" cy="156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2" name="Line 60"/>
          <p:cNvSpPr>
            <a:spLocks noChangeShapeType="1"/>
          </p:cNvSpPr>
          <p:nvPr/>
        </p:nvSpPr>
        <p:spPr bwMode="auto">
          <a:xfrm>
            <a:off x="3180162" y="3482579"/>
            <a:ext cx="269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3" name="Line 61"/>
          <p:cNvSpPr>
            <a:spLocks noChangeShapeType="1"/>
          </p:cNvSpPr>
          <p:nvPr/>
        </p:nvSpPr>
        <p:spPr bwMode="auto">
          <a:xfrm flipV="1">
            <a:off x="4421981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4" name="Line 62"/>
          <p:cNvSpPr>
            <a:spLocks noChangeShapeType="1"/>
          </p:cNvSpPr>
          <p:nvPr/>
        </p:nvSpPr>
        <p:spPr bwMode="auto">
          <a:xfrm flipV="1">
            <a:off x="4583906" y="3158729"/>
            <a:ext cx="0" cy="189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5" name="Line 63"/>
          <p:cNvSpPr>
            <a:spLocks noChangeShapeType="1"/>
          </p:cNvSpPr>
          <p:nvPr/>
        </p:nvSpPr>
        <p:spPr bwMode="auto">
          <a:xfrm>
            <a:off x="4421982" y="3158729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6" name="Line 64"/>
          <p:cNvSpPr>
            <a:spLocks noChangeShapeType="1"/>
          </p:cNvSpPr>
          <p:nvPr/>
        </p:nvSpPr>
        <p:spPr bwMode="auto">
          <a:xfrm flipV="1">
            <a:off x="3287316" y="2726534"/>
            <a:ext cx="0" cy="7560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7" name="Line 65"/>
          <p:cNvSpPr>
            <a:spLocks noChangeShapeType="1"/>
          </p:cNvSpPr>
          <p:nvPr/>
        </p:nvSpPr>
        <p:spPr bwMode="auto">
          <a:xfrm flipV="1">
            <a:off x="3665935" y="2726531"/>
            <a:ext cx="0" cy="11346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8" name="Line 66"/>
          <p:cNvSpPr>
            <a:spLocks noChangeShapeType="1"/>
          </p:cNvSpPr>
          <p:nvPr/>
        </p:nvSpPr>
        <p:spPr bwMode="auto">
          <a:xfrm>
            <a:off x="3287318" y="2726531"/>
            <a:ext cx="3786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59" name="Line 67"/>
          <p:cNvSpPr>
            <a:spLocks noChangeShapeType="1"/>
          </p:cNvSpPr>
          <p:nvPr/>
        </p:nvSpPr>
        <p:spPr bwMode="auto">
          <a:xfrm flipV="1">
            <a:off x="4098131" y="2457452"/>
            <a:ext cx="0" cy="17275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0" name="Line 68"/>
          <p:cNvSpPr>
            <a:spLocks noChangeShapeType="1"/>
          </p:cNvSpPr>
          <p:nvPr/>
        </p:nvSpPr>
        <p:spPr bwMode="auto">
          <a:xfrm flipV="1">
            <a:off x="4530329" y="2457451"/>
            <a:ext cx="0" cy="7012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1" name="Line 69"/>
          <p:cNvSpPr>
            <a:spLocks noChangeShapeType="1"/>
          </p:cNvSpPr>
          <p:nvPr/>
        </p:nvSpPr>
        <p:spPr bwMode="auto">
          <a:xfrm>
            <a:off x="4098134" y="2457450"/>
            <a:ext cx="4321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2" name="Line 70"/>
          <p:cNvSpPr>
            <a:spLocks noChangeShapeType="1"/>
          </p:cNvSpPr>
          <p:nvPr/>
        </p:nvSpPr>
        <p:spPr bwMode="auto">
          <a:xfrm flipV="1">
            <a:off x="4799410" y="2457452"/>
            <a:ext cx="0" cy="19978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3" name="Line 71"/>
          <p:cNvSpPr>
            <a:spLocks noChangeShapeType="1"/>
          </p:cNvSpPr>
          <p:nvPr/>
        </p:nvSpPr>
        <p:spPr bwMode="auto">
          <a:xfrm flipV="1">
            <a:off x="5231606" y="2457452"/>
            <a:ext cx="0" cy="1350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4" name="Line 72"/>
          <p:cNvSpPr>
            <a:spLocks noChangeShapeType="1"/>
          </p:cNvSpPr>
          <p:nvPr/>
        </p:nvSpPr>
        <p:spPr bwMode="auto">
          <a:xfrm>
            <a:off x="4799411" y="2457450"/>
            <a:ext cx="4321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5" name="Line 73"/>
          <p:cNvSpPr>
            <a:spLocks noChangeShapeType="1"/>
          </p:cNvSpPr>
          <p:nvPr/>
        </p:nvSpPr>
        <p:spPr bwMode="auto">
          <a:xfrm flipV="1">
            <a:off x="3449241" y="2294336"/>
            <a:ext cx="0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6" name="Line 74"/>
          <p:cNvSpPr>
            <a:spLocks noChangeShapeType="1"/>
          </p:cNvSpPr>
          <p:nvPr/>
        </p:nvSpPr>
        <p:spPr bwMode="auto">
          <a:xfrm flipV="1">
            <a:off x="4313635" y="2294337"/>
            <a:ext cx="0" cy="1631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7" name="Line 75"/>
          <p:cNvSpPr>
            <a:spLocks noChangeShapeType="1"/>
          </p:cNvSpPr>
          <p:nvPr/>
        </p:nvSpPr>
        <p:spPr bwMode="auto">
          <a:xfrm>
            <a:off x="3449242" y="2294335"/>
            <a:ext cx="8643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8" name="Line 76"/>
          <p:cNvSpPr>
            <a:spLocks noChangeShapeType="1"/>
          </p:cNvSpPr>
          <p:nvPr/>
        </p:nvSpPr>
        <p:spPr bwMode="auto">
          <a:xfrm flipV="1">
            <a:off x="3881438" y="2025256"/>
            <a:ext cx="0" cy="2690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69" name="Line 77"/>
          <p:cNvSpPr>
            <a:spLocks noChangeShapeType="1"/>
          </p:cNvSpPr>
          <p:nvPr/>
        </p:nvSpPr>
        <p:spPr bwMode="auto">
          <a:xfrm>
            <a:off x="3881438" y="2025254"/>
            <a:ext cx="11346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0670" name="Line 78"/>
          <p:cNvSpPr>
            <a:spLocks noChangeShapeType="1"/>
          </p:cNvSpPr>
          <p:nvPr/>
        </p:nvSpPr>
        <p:spPr bwMode="auto">
          <a:xfrm flipV="1">
            <a:off x="5016104" y="2025254"/>
            <a:ext cx="0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4977622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3441459" y="268979"/>
            <a:ext cx="5436590" cy="78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latin typeface="Abadi" panose="020B0604020104020204" pitchFamily="34" charset="0"/>
              </a:rPr>
              <a:t>Distances between clusters</a:t>
            </a:r>
            <a:endParaRPr lang="en-GB" altLang="en-US" sz="3600" b="1" dirty="0">
              <a:latin typeface="Abadi" panose="020B0604020104020204" pitchFamily="34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578840" y="1048172"/>
            <a:ext cx="9693624" cy="5333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 algn="l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 algn="l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 algn="l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 algn="l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   Calculation of the distance between two clusters is based on the pairwise distances between members of the clusters.</a:t>
            </a:r>
          </a:p>
          <a:p>
            <a:pPr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latin typeface="Abadi" panose="020B0604020104020204" pitchFamily="34" charset="0"/>
            </a:endParaRPr>
          </a:p>
          <a:p>
            <a:pPr lvl="1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Abadi" panose="020B0604020104020204" pitchFamily="34" charset="0"/>
              </a:rPr>
              <a:t>Complete linkage</a:t>
            </a:r>
            <a:r>
              <a:rPr lang="en-US" altLang="en-US" sz="2000" dirty="0">
                <a:latin typeface="Abadi" panose="020B0604020104020204" pitchFamily="34" charset="0"/>
              </a:rPr>
              <a:t>: largest distance </a:t>
            </a:r>
          </a:p>
          <a:p>
            <a:pPr lvl="1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Abadi" panose="020B0604020104020204" pitchFamily="34" charset="0"/>
              </a:rPr>
              <a:t>Average linkage</a:t>
            </a:r>
            <a:r>
              <a:rPr lang="en-US" altLang="en-US" sz="2000" dirty="0">
                <a:latin typeface="Abadi" panose="020B0604020104020204" pitchFamily="34" charset="0"/>
              </a:rPr>
              <a:t>:   average distance </a:t>
            </a:r>
          </a:p>
          <a:p>
            <a:pPr lvl="1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Abadi" panose="020B0604020104020204" pitchFamily="34" charset="0"/>
              </a:rPr>
              <a:t>Single linkage</a:t>
            </a:r>
            <a:r>
              <a:rPr lang="en-US" altLang="en-US" sz="2000" dirty="0">
                <a:latin typeface="Abadi" panose="020B0604020104020204" pitchFamily="34" charset="0"/>
              </a:rPr>
              <a:t>:       smallest distance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Abadi" panose="020B0604020104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Complete linkage gives preference to compact/spherical clusters.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badi" panose="020B0604020104020204" pitchFamily="34" charset="0"/>
              </a:rPr>
              <a:t>Single linkage can produce long stretched clusters.</a:t>
            </a:r>
            <a:endParaRPr lang="en-GB" altLang="en-US" sz="2400" dirty="0">
              <a:latin typeface="Abadi" panose="020B0604020104020204" pitchFamily="34" charset="0"/>
            </a:endParaRPr>
          </a:p>
          <a:p>
            <a:pPr>
              <a:lnSpc>
                <a:spcPct val="90000"/>
              </a:lnSpc>
            </a:pPr>
            <a:endParaRPr lang="en-GB" altLang="en-US" sz="1800" dirty="0">
              <a:latin typeface="Abadi" panose="020B0604020104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808308" y="2428103"/>
            <a:ext cx="857250" cy="1600200"/>
            <a:chOff x="7315200" y="2819400"/>
            <a:chExt cx="1143000" cy="2133600"/>
          </a:xfrm>
        </p:grpSpPr>
        <p:sp>
          <p:nvSpPr>
            <p:cNvPr id="112644" name="Oval 4"/>
            <p:cNvSpPr>
              <a:spLocks noChangeArrowheads="1"/>
            </p:cNvSpPr>
            <p:nvPr/>
          </p:nvSpPr>
          <p:spPr bwMode="auto">
            <a:xfrm>
              <a:off x="8001000" y="2819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45" name="Oval 5"/>
            <p:cNvSpPr>
              <a:spLocks noChangeArrowheads="1"/>
            </p:cNvSpPr>
            <p:nvPr/>
          </p:nvSpPr>
          <p:spPr bwMode="auto">
            <a:xfrm>
              <a:off x="8077200" y="3048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46" name="Oval 6"/>
            <p:cNvSpPr>
              <a:spLocks noChangeArrowheads="1"/>
            </p:cNvSpPr>
            <p:nvPr/>
          </p:nvSpPr>
          <p:spPr bwMode="auto">
            <a:xfrm>
              <a:off x="7772400" y="3048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47" name="Oval 7"/>
            <p:cNvSpPr>
              <a:spLocks noChangeArrowheads="1"/>
            </p:cNvSpPr>
            <p:nvPr/>
          </p:nvSpPr>
          <p:spPr bwMode="auto">
            <a:xfrm>
              <a:off x="8229600" y="3429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48" name="Oval 8"/>
            <p:cNvSpPr>
              <a:spLocks noChangeArrowheads="1"/>
            </p:cNvSpPr>
            <p:nvPr/>
          </p:nvSpPr>
          <p:spPr bwMode="auto">
            <a:xfrm>
              <a:off x="83058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49" name="Oval 9"/>
            <p:cNvSpPr>
              <a:spLocks noChangeArrowheads="1"/>
            </p:cNvSpPr>
            <p:nvPr/>
          </p:nvSpPr>
          <p:spPr bwMode="auto">
            <a:xfrm>
              <a:off x="78486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50" name="Oval 10"/>
            <p:cNvSpPr>
              <a:spLocks noChangeArrowheads="1"/>
            </p:cNvSpPr>
            <p:nvPr/>
          </p:nvSpPr>
          <p:spPr bwMode="auto">
            <a:xfrm>
              <a:off x="8001000" y="3657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grpSp>
          <p:nvGrpSpPr>
            <p:cNvPr id="112651" name="Group 11"/>
            <p:cNvGrpSpPr>
              <a:grpSpLocks/>
            </p:cNvGrpSpPr>
            <p:nvPr/>
          </p:nvGrpSpPr>
          <p:grpSpPr bwMode="auto">
            <a:xfrm>
              <a:off x="7696200" y="4114800"/>
              <a:ext cx="762000" cy="838200"/>
              <a:chOff x="3888" y="2592"/>
              <a:chExt cx="480" cy="528"/>
            </a:xfrm>
          </p:grpSpPr>
          <p:sp>
            <p:nvSpPr>
              <p:cNvPr id="112652" name="Oval 12"/>
              <p:cNvSpPr>
                <a:spLocks noChangeArrowheads="1"/>
              </p:cNvSpPr>
              <p:nvPr/>
            </p:nvSpPr>
            <p:spPr bwMode="auto">
              <a:xfrm>
                <a:off x="3984" y="2736"/>
                <a:ext cx="96" cy="96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12653" name="Oval 13"/>
              <p:cNvSpPr>
                <a:spLocks noChangeArrowheads="1"/>
              </p:cNvSpPr>
              <p:nvPr/>
            </p:nvSpPr>
            <p:spPr bwMode="auto">
              <a:xfrm>
                <a:off x="4128" y="2592"/>
                <a:ext cx="96" cy="96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12654" name="Oval 14"/>
              <p:cNvSpPr>
                <a:spLocks noChangeArrowheads="1"/>
              </p:cNvSpPr>
              <p:nvPr/>
            </p:nvSpPr>
            <p:spPr bwMode="auto">
              <a:xfrm>
                <a:off x="4224" y="3024"/>
                <a:ext cx="96" cy="96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12655" name="Oval 15"/>
              <p:cNvSpPr>
                <a:spLocks noChangeArrowheads="1"/>
              </p:cNvSpPr>
              <p:nvPr/>
            </p:nvSpPr>
            <p:spPr bwMode="auto">
              <a:xfrm>
                <a:off x="4032" y="2832"/>
                <a:ext cx="96" cy="96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12656" name="Oval 16"/>
              <p:cNvSpPr>
                <a:spLocks noChangeArrowheads="1"/>
              </p:cNvSpPr>
              <p:nvPr/>
            </p:nvSpPr>
            <p:spPr bwMode="auto">
              <a:xfrm>
                <a:off x="3888" y="2880"/>
                <a:ext cx="96" cy="96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12657" name="Oval 17"/>
              <p:cNvSpPr>
                <a:spLocks noChangeArrowheads="1"/>
              </p:cNvSpPr>
              <p:nvPr/>
            </p:nvSpPr>
            <p:spPr bwMode="auto">
              <a:xfrm>
                <a:off x="4272" y="2688"/>
                <a:ext cx="96" cy="96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12658" name="Oval 18"/>
              <p:cNvSpPr>
                <a:spLocks noChangeArrowheads="1"/>
              </p:cNvSpPr>
              <p:nvPr/>
            </p:nvSpPr>
            <p:spPr bwMode="auto">
              <a:xfrm>
                <a:off x="4176" y="2784"/>
                <a:ext cx="96" cy="96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sz="1350">
                  <a:latin typeface="Abadi" panose="020B0604020104020204" pitchFamily="34" charset="0"/>
                </a:endParaRPr>
              </a:p>
            </p:txBody>
          </p:sp>
        </p:grpSp>
        <p:sp>
          <p:nvSpPr>
            <p:cNvPr id="112659" name="Line 19"/>
            <p:cNvSpPr>
              <a:spLocks noChangeShapeType="1"/>
            </p:cNvSpPr>
            <p:nvPr/>
          </p:nvSpPr>
          <p:spPr bwMode="auto">
            <a:xfrm>
              <a:off x="7315200" y="2971800"/>
              <a:ext cx="228600" cy="198120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 type="triangl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60" name="Line 20"/>
            <p:cNvSpPr>
              <a:spLocks noChangeShapeType="1"/>
            </p:cNvSpPr>
            <p:nvPr/>
          </p:nvSpPr>
          <p:spPr bwMode="auto">
            <a:xfrm flipV="1">
              <a:off x="7543800" y="4876800"/>
              <a:ext cx="762000" cy="76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61" name="Line 21"/>
            <p:cNvSpPr>
              <a:spLocks noChangeShapeType="1"/>
            </p:cNvSpPr>
            <p:nvPr/>
          </p:nvSpPr>
          <p:spPr bwMode="auto">
            <a:xfrm flipV="1">
              <a:off x="7315200" y="2895600"/>
              <a:ext cx="685800" cy="76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112662" name="Line 22"/>
            <p:cNvSpPr>
              <a:spLocks noChangeShapeType="1"/>
            </p:cNvSpPr>
            <p:nvPr/>
          </p:nvSpPr>
          <p:spPr bwMode="auto">
            <a:xfrm>
              <a:off x="8077200" y="3733800"/>
              <a:ext cx="76200" cy="45720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350"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98861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4524375" y="332656"/>
            <a:ext cx="577215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 algn="l"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GB" altLang="en-US" sz="3600" b="1" dirty="0">
                <a:latin typeface="+mn-lt"/>
              </a:rPr>
              <a:t>Hierarchical clustering</a:t>
            </a: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3581402" y="1657351"/>
            <a:ext cx="14857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altLang="en-US" b="1" dirty="0"/>
              <a:t>Single linkage</a:t>
            </a:r>
            <a:endParaRPr lang="en-GB" altLang="en-US" b="1" dirty="0"/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5410202" y="1657351"/>
            <a:ext cx="18356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altLang="en-US" b="1"/>
              <a:t>Complete linkage</a:t>
            </a:r>
            <a:endParaRPr lang="en-GB" altLang="en-US" b="1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7410450" y="1657351"/>
            <a:ext cx="16852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altLang="en-US" b="1"/>
              <a:t>Average linkage</a:t>
            </a:r>
            <a:endParaRPr lang="en-GB" altLang="en-US" b="1"/>
          </a:p>
        </p:txBody>
      </p:sp>
      <p:pic>
        <p:nvPicPr>
          <p:cNvPr id="113670" name="Picture 6" descr="Sturn2001-1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2057402"/>
            <a:ext cx="5943600" cy="395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1323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63753" y="116632"/>
            <a:ext cx="4990007" cy="994172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Partitioning methods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3195" y="1760219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K-means clustering</a:t>
            </a:r>
          </a:p>
          <a:p>
            <a:r>
              <a:rPr lang="en-US" altLang="en-US" sz="2400" dirty="0"/>
              <a:t>Self-organizing maps (SOM)</a:t>
            </a:r>
          </a:p>
          <a:p>
            <a:r>
              <a:rPr lang="en-US" altLang="en-US" sz="2400" dirty="0"/>
              <a:t>Bayesian Hierarchical Clustering (BHC)</a:t>
            </a:r>
          </a:p>
          <a:p>
            <a:r>
              <a:rPr lang="en-US" altLang="en-US" sz="2400" dirty="0"/>
              <a:t>Partitioning around </a:t>
            </a:r>
            <a:r>
              <a:rPr lang="en-US" altLang="en-US" sz="2400" dirty="0" err="1"/>
              <a:t>medoids</a:t>
            </a:r>
            <a:r>
              <a:rPr lang="en-US" altLang="en-US" sz="2400" dirty="0"/>
              <a:t> (PAM)</a:t>
            </a:r>
          </a:p>
          <a:p>
            <a:r>
              <a:rPr lang="en-US" altLang="en-US" sz="2400" dirty="0"/>
              <a:t>Model-based clustering</a:t>
            </a:r>
          </a:p>
        </p:txBody>
      </p:sp>
    </p:spTree>
    <p:extLst>
      <p:ext uri="{BB962C8B-B14F-4D97-AF65-F5344CB8AC3E}">
        <p14:creationId xmlns:p14="http://schemas.microsoft.com/office/powerpoint/2010/main" val="38245326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FD9A-1F55-8475-DEB9-A603FCEA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73D8A-5FAE-09ED-3F32-2BC145941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5923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AFE1-2018-431D-902F-B89E1CE3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latin typeface="Abadi" panose="020B0604020104020204" pitchFamily="34" charset="0"/>
              </a:rPr>
              <a:t>Clustering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78354-D5A2-4577-9B14-8A25C059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fontAlgn="base">
              <a:buNone/>
            </a:pPr>
            <a:r>
              <a:rPr lang="en-GB" b="1" i="0" dirty="0">
                <a:effectLst/>
              </a:rPr>
              <a:t>The Dataset</a:t>
            </a:r>
          </a:p>
          <a:p>
            <a:pPr algn="l" fontAlgn="base"/>
            <a:r>
              <a:rPr lang="en-GB" b="1" i="0" dirty="0" err="1">
                <a:effectLst/>
              </a:rPr>
              <a:t>mtcars</a:t>
            </a:r>
            <a:r>
              <a:rPr lang="en-GB" b="0" i="0" dirty="0">
                <a:effectLst/>
              </a:rPr>
              <a:t>(motor trend car road test) comprise fuel consumption, performance, and 10 aspects of automobile design for 32 automobiles. </a:t>
            </a:r>
          </a:p>
          <a:p>
            <a:pPr algn="l" fontAlgn="base"/>
            <a:r>
              <a:rPr lang="en-GB" b="0" i="0" dirty="0">
                <a:effectLst/>
              </a:rPr>
              <a:t>It comes pre-installed with </a:t>
            </a:r>
            <a:r>
              <a:rPr lang="en-GB" b="0" i="0" dirty="0" err="1">
                <a:effectLst/>
              </a:rPr>
              <a:t>dplyr</a:t>
            </a:r>
            <a:r>
              <a:rPr lang="en-GB" b="0" i="0" dirty="0">
                <a:effectLst/>
              </a:rPr>
              <a:t> package in R.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12310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D84ECB3-AACD-409C-A596-6FBB66273F95}"/>
              </a:ext>
            </a:extLst>
          </p:cNvPr>
          <p:cNvSpPr txBox="1"/>
          <p:nvPr/>
        </p:nvSpPr>
        <p:spPr>
          <a:xfrm>
            <a:off x="453006" y="110629"/>
            <a:ext cx="1078824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Installing the package</a:t>
            </a:r>
          </a:p>
          <a:p>
            <a:r>
              <a:rPr lang="en-GB" sz="1400" dirty="0" err="1">
                <a:latin typeface="Abadi" panose="020B0604020104020204" pitchFamily="34" charset="0"/>
              </a:rPr>
              <a:t>install.packages</a:t>
            </a:r>
            <a:r>
              <a:rPr lang="en-GB" sz="1400" dirty="0">
                <a:latin typeface="Abadi" panose="020B0604020104020204" pitchFamily="34" charset="0"/>
              </a:rPr>
              <a:t>("</a:t>
            </a:r>
            <a:r>
              <a:rPr lang="en-GB" sz="1400" dirty="0" err="1">
                <a:latin typeface="Abadi" panose="020B0604020104020204" pitchFamily="34" charset="0"/>
              </a:rPr>
              <a:t>dplyr</a:t>
            </a:r>
            <a:r>
              <a:rPr lang="en-GB" sz="1400" dirty="0">
                <a:latin typeface="Abadi" panose="020B0604020104020204" pitchFamily="34" charset="0"/>
              </a:rPr>
              <a:t>")</a:t>
            </a:r>
          </a:p>
          <a:p>
            <a:r>
              <a:rPr lang="en-GB" sz="1400" dirty="0">
                <a:latin typeface="Abadi" panose="020B0604020104020204" pitchFamily="34" charset="0"/>
              </a:rPr>
              <a:t>   </a:t>
            </a: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Loading package</a:t>
            </a:r>
          </a:p>
          <a:p>
            <a:r>
              <a:rPr lang="en-GB" sz="1400" dirty="0">
                <a:latin typeface="Abadi" panose="020B0604020104020204" pitchFamily="34" charset="0"/>
              </a:rPr>
              <a:t>library(</a:t>
            </a:r>
            <a:r>
              <a:rPr lang="en-GB" sz="1400" dirty="0" err="1">
                <a:latin typeface="Abadi" panose="020B0604020104020204" pitchFamily="34" charset="0"/>
              </a:rPr>
              <a:t>dplyr</a:t>
            </a:r>
            <a:r>
              <a:rPr lang="en-GB" sz="1400" dirty="0">
                <a:latin typeface="Abadi" panose="020B0604020104020204" pitchFamily="34" charset="0"/>
              </a:rPr>
              <a:t>)</a:t>
            </a:r>
          </a:p>
          <a:p>
            <a:r>
              <a:rPr lang="en-GB" sz="1400" dirty="0">
                <a:latin typeface="Abadi" panose="020B0604020104020204" pitchFamily="34" charset="0"/>
              </a:rPr>
              <a:t>   </a:t>
            </a: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Summary of dataset in package</a:t>
            </a:r>
          </a:p>
          <a:p>
            <a:r>
              <a:rPr lang="en-GB" sz="1400" dirty="0">
                <a:latin typeface="Abadi" panose="020B0604020104020204" pitchFamily="34" charset="0"/>
              </a:rPr>
              <a:t>head(</a:t>
            </a:r>
            <a:r>
              <a:rPr lang="en-GB" sz="1400" dirty="0" err="1">
                <a:latin typeface="Abadi" panose="020B0604020104020204" pitchFamily="34" charset="0"/>
              </a:rPr>
              <a:t>mtcars</a:t>
            </a:r>
            <a:r>
              <a:rPr lang="en-GB" sz="1400" dirty="0">
                <a:latin typeface="Abadi" panose="020B0604020104020204" pitchFamily="34" charset="0"/>
              </a:rPr>
              <a:t>)</a:t>
            </a:r>
          </a:p>
          <a:p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Finding distance matrix</a:t>
            </a:r>
          </a:p>
          <a:p>
            <a:r>
              <a:rPr lang="en-GB" sz="1400" dirty="0" err="1">
                <a:latin typeface="Abadi" panose="020B0604020104020204" pitchFamily="34" charset="0"/>
              </a:rPr>
              <a:t>distance_mat</a:t>
            </a:r>
            <a:r>
              <a:rPr lang="en-GB" sz="1400" dirty="0">
                <a:latin typeface="Abadi" panose="020B0604020104020204" pitchFamily="34" charset="0"/>
              </a:rPr>
              <a:t> &lt;- </a:t>
            </a:r>
            <a:r>
              <a:rPr lang="en-GB" sz="1400" dirty="0" err="1">
                <a:latin typeface="Abadi" panose="020B0604020104020204" pitchFamily="34" charset="0"/>
              </a:rPr>
              <a:t>dist</a:t>
            </a:r>
            <a:r>
              <a:rPr lang="en-GB" sz="1400" dirty="0">
                <a:latin typeface="Abadi" panose="020B0604020104020204" pitchFamily="34" charset="0"/>
              </a:rPr>
              <a:t>(</a:t>
            </a:r>
            <a:r>
              <a:rPr lang="en-GB" sz="1400" dirty="0" err="1">
                <a:latin typeface="Abadi" panose="020B0604020104020204" pitchFamily="34" charset="0"/>
              </a:rPr>
              <a:t>mtcars</a:t>
            </a:r>
            <a:r>
              <a:rPr lang="en-GB" sz="1400" dirty="0">
                <a:latin typeface="Abadi" panose="020B0604020104020204" pitchFamily="34" charset="0"/>
              </a:rPr>
              <a:t>, method = '</a:t>
            </a:r>
            <a:r>
              <a:rPr lang="en-GB" sz="1400" dirty="0" err="1">
                <a:latin typeface="Abadi" panose="020B0604020104020204" pitchFamily="34" charset="0"/>
              </a:rPr>
              <a:t>euclidean</a:t>
            </a:r>
            <a:r>
              <a:rPr lang="en-GB" sz="1400" dirty="0">
                <a:latin typeface="Abadi" panose="020B0604020104020204" pitchFamily="34" charset="0"/>
              </a:rPr>
              <a:t>')</a:t>
            </a:r>
          </a:p>
          <a:p>
            <a:r>
              <a:rPr lang="en-GB" sz="1400" dirty="0">
                <a:latin typeface="Abadi" panose="020B0604020104020204" pitchFamily="34" charset="0"/>
              </a:rPr>
              <a:t> </a:t>
            </a: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Fitting Hierarchical clustering Model</a:t>
            </a:r>
          </a:p>
          <a:p>
            <a:r>
              <a:rPr lang="en-GB" sz="1400" dirty="0" err="1">
                <a:latin typeface="Abadi" panose="020B0604020104020204" pitchFamily="34" charset="0"/>
              </a:rPr>
              <a:t>set.seed</a:t>
            </a:r>
            <a:r>
              <a:rPr lang="en-GB" sz="1400" dirty="0">
                <a:latin typeface="Abadi" panose="020B0604020104020204" pitchFamily="34" charset="0"/>
              </a:rPr>
              <a:t>(240)  # Setting seed</a:t>
            </a:r>
          </a:p>
          <a:p>
            <a:r>
              <a:rPr lang="en-GB" sz="1400" dirty="0" err="1">
                <a:latin typeface="Abadi" panose="020B0604020104020204" pitchFamily="34" charset="0"/>
              </a:rPr>
              <a:t>Hierar_cl</a:t>
            </a:r>
            <a:r>
              <a:rPr lang="en-GB" sz="1400" dirty="0">
                <a:latin typeface="Abadi" panose="020B0604020104020204" pitchFamily="34" charset="0"/>
              </a:rPr>
              <a:t> &lt;- </a:t>
            </a:r>
            <a:r>
              <a:rPr lang="en-GB" sz="1400" dirty="0" err="1">
                <a:latin typeface="Abadi" panose="020B0604020104020204" pitchFamily="34" charset="0"/>
              </a:rPr>
              <a:t>hclust</a:t>
            </a:r>
            <a:r>
              <a:rPr lang="en-GB" sz="1400" dirty="0">
                <a:latin typeface="Abadi" panose="020B0604020104020204" pitchFamily="34" charset="0"/>
              </a:rPr>
              <a:t>(</a:t>
            </a:r>
            <a:r>
              <a:rPr lang="en-GB" sz="1400" dirty="0" err="1">
                <a:latin typeface="Abadi" panose="020B0604020104020204" pitchFamily="34" charset="0"/>
              </a:rPr>
              <a:t>distance_mat</a:t>
            </a:r>
            <a:r>
              <a:rPr lang="en-GB" sz="1400" dirty="0">
                <a:latin typeface="Abadi" panose="020B0604020104020204" pitchFamily="34" charset="0"/>
              </a:rPr>
              <a:t>, method = "average")</a:t>
            </a:r>
          </a:p>
          <a:p>
            <a:r>
              <a:rPr lang="en-GB" sz="1400" dirty="0" err="1">
                <a:latin typeface="Abadi" panose="020B0604020104020204" pitchFamily="34" charset="0"/>
              </a:rPr>
              <a:t>Hierar_cl</a:t>
            </a:r>
            <a:endParaRPr lang="en-GB" sz="1400" dirty="0">
              <a:latin typeface="Abadi" panose="020B0604020104020204" pitchFamily="34" charset="0"/>
            </a:endParaRPr>
          </a:p>
          <a:p>
            <a:r>
              <a:rPr lang="en-GB" sz="1400" dirty="0">
                <a:latin typeface="Abadi" panose="020B0604020104020204" pitchFamily="34" charset="0"/>
              </a:rPr>
              <a:t> </a:t>
            </a: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Plotting dendrogram</a:t>
            </a:r>
          </a:p>
          <a:p>
            <a:r>
              <a:rPr lang="en-GB" sz="1400" dirty="0">
                <a:latin typeface="Abadi" panose="020B0604020104020204" pitchFamily="34" charset="0"/>
              </a:rPr>
              <a:t>plot(</a:t>
            </a:r>
            <a:r>
              <a:rPr lang="en-GB" sz="1400" dirty="0" err="1">
                <a:latin typeface="Abadi" panose="020B0604020104020204" pitchFamily="34" charset="0"/>
              </a:rPr>
              <a:t>Hierar_cl</a:t>
            </a:r>
            <a:r>
              <a:rPr lang="en-GB" sz="1400" dirty="0">
                <a:latin typeface="Abadi" panose="020B0604020104020204" pitchFamily="34" charset="0"/>
              </a:rPr>
              <a:t>)</a:t>
            </a:r>
          </a:p>
          <a:p>
            <a:r>
              <a:rPr lang="en-GB" sz="1400" dirty="0">
                <a:latin typeface="Abadi" panose="020B0604020104020204" pitchFamily="34" charset="0"/>
              </a:rPr>
              <a:t> </a:t>
            </a: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Choosing no. of clusters</a:t>
            </a: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Cutting tree by height</a:t>
            </a:r>
          </a:p>
          <a:p>
            <a:r>
              <a:rPr lang="en-GB" sz="1400" dirty="0" err="1">
                <a:latin typeface="Abadi" panose="020B0604020104020204" pitchFamily="34" charset="0"/>
              </a:rPr>
              <a:t>abline</a:t>
            </a:r>
            <a:r>
              <a:rPr lang="en-GB" sz="1400" dirty="0">
                <a:latin typeface="Abadi" panose="020B0604020104020204" pitchFamily="34" charset="0"/>
              </a:rPr>
              <a:t>(h = 110, col = "green")</a:t>
            </a:r>
          </a:p>
          <a:p>
            <a:r>
              <a:rPr lang="en-GB" sz="1400" dirty="0">
                <a:latin typeface="Abadi" panose="020B0604020104020204" pitchFamily="34" charset="0"/>
              </a:rPr>
              <a:t> </a:t>
            </a:r>
          </a:p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</a:rPr>
              <a:t># Cutting tree by no. of clusters</a:t>
            </a:r>
          </a:p>
          <a:p>
            <a:r>
              <a:rPr lang="en-GB" sz="1400" dirty="0">
                <a:latin typeface="Abadi" panose="020B0604020104020204" pitchFamily="34" charset="0"/>
              </a:rPr>
              <a:t>fit &lt;- </a:t>
            </a:r>
            <a:r>
              <a:rPr lang="en-GB" sz="1400" dirty="0" err="1">
                <a:latin typeface="Abadi" panose="020B0604020104020204" pitchFamily="34" charset="0"/>
              </a:rPr>
              <a:t>cutree</a:t>
            </a:r>
            <a:r>
              <a:rPr lang="en-GB" sz="1400" dirty="0">
                <a:latin typeface="Abadi" panose="020B0604020104020204" pitchFamily="34" charset="0"/>
              </a:rPr>
              <a:t>(</a:t>
            </a:r>
            <a:r>
              <a:rPr lang="en-GB" sz="1400" dirty="0" err="1">
                <a:latin typeface="Abadi" panose="020B0604020104020204" pitchFamily="34" charset="0"/>
              </a:rPr>
              <a:t>Hierar_cl</a:t>
            </a:r>
            <a:r>
              <a:rPr lang="en-GB" sz="1400" dirty="0">
                <a:latin typeface="Abadi" panose="020B0604020104020204" pitchFamily="34" charset="0"/>
              </a:rPr>
              <a:t>, k = 3 )</a:t>
            </a:r>
          </a:p>
          <a:p>
            <a:r>
              <a:rPr lang="en-GB" sz="1400" dirty="0">
                <a:latin typeface="Abadi" panose="020B0604020104020204" pitchFamily="34" charset="0"/>
              </a:rPr>
              <a:t>fit</a:t>
            </a:r>
          </a:p>
          <a:p>
            <a:r>
              <a:rPr lang="en-GB" sz="1400" dirty="0">
                <a:latin typeface="Abadi" panose="020B0604020104020204" pitchFamily="34" charset="0"/>
              </a:rPr>
              <a:t> </a:t>
            </a:r>
          </a:p>
          <a:p>
            <a:r>
              <a:rPr lang="en-GB" sz="1400" dirty="0">
                <a:latin typeface="Abadi" panose="020B0604020104020204" pitchFamily="34" charset="0"/>
              </a:rPr>
              <a:t>table(fit)</a:t>
            </a:r>
          </a:p>
          <a:p>
            <a:r>
              <a:rPr lang="en-GB" sz="1400" dirty="0" err="1">
                <a:latin typeface="Abadi" panose="020B0604020104020204" pitchFamily="34" charset="0"/>
              </a:rPr>
              <a:t>rect.hclust</a:t>
            </a:r>
            <a:r>
              <a:rPr lang="en-GB" sz="1400" dirty="0">
                <a:latin typeface="Abadi" panose="020B0604020104020204" pitchFamily="34" charset="0"/>
              </a:rPr>
              <a:t>(</a:t>
            </a:r>
            <a:r>
              <a:rPr lang="en-GB" sz="1400" dirty="0" err="1">
                <a:latin typeface="Abadi" panose="020B0604020104020204" pitchFamily="34" charset="0"/>
              </a:rPr>
              <a:t>Hierar_cl</a:t>
            </a:r>
            <a:r>
              <a:rPr lang="en-GB" sz="1400" dirty="0">
                <a:latin typeface="Abadi" panose="020B0604020104020204" pitchFamily="34" charset="0"/>
              </a:rPr>
              <a:t>, k = 3, border = "green")</a:t>
            </a:r>
          </a:p>
        </p:txBody>
      </p:sp>
    </p:spTree>
    <p:extLst>
      <p:ext uri="{BB962C8B-B14F-4D97-AF65-F5344CB8AC3E}">
        <p14:creationId xmlns:p14="http://schemas.microsoft.com/office/powerpoint/2010/main" val="26091602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8479B-7141-45FD-B32A-02A29E0B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55" y="212346"/>
            <a:ext cx="5135319" cy="161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C4494-EF9D-46F2-85A9-0063E0493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55" y="1829546"/>
            <a:ext cx="6099380" cy="458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939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5D66-7DC3-8E2B-952A-F0830ECB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How to decide number of clusters?</a:t>
            </a:r>
            <a:br>
              <a:rPr lang="en-GB" sz="4000" dirty="0"/>
            </a:br>
            <a:r>
              <a:rPr lang="en-GB" sz="4000" dirty="0"/>
              <a:t>Missing data imputation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C6507-046B-21DF-A189-A2D2B9F9B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Animesh Acharjee</a:t>
            </a:r>
          </a:p>
        </p:txBody>
      </p:sp>
    </p:spTree>
    <p:extLst>
      <p:ext uri="{BB962C8B-B14F-4D97-AF65-F5344CB8AC3E}">
        <p14:creationId xmlns:p14="http://schemas.microsoft.com/office/powerpoint/2010/main" val="9330405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DE54-AAD6-888E-AC2B-26EBE4A8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Methods to decide number of the clusters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3B35C-67EA-DC15-B6BA-C88B00AAE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Elbow Method</a:t>
            </a:r>
          </a:p>
          <a:p>
            <a:r>
              <a:rPr lang="en-GB" dirty="0"/>
              <a:t>The Gap Statistic</a:t>
            </a:r>
          </a:p>
          <a:p>
            <a:r>
              <a:rPr lang="en-GB" dirty="0"/>
              <a:t>The Silhouette Method</a:t>
            </a:r>
          </a:p>
          <a:p>
            <a:r>
              <a:rPr lang="en-GB" dirty="0"/>
              <a:t>The Sum of Squares Method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22383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20D2-EEB3-B9B0-2BDB-52C1900D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72857"/>
            <a:ext cx="10515600" cy="846054"/>
          </a:xfrm>
        </p:spPr>
        <p:txBody>
          <a:bodyPr>
            <a:normAutofit/>
          </a:bodyPr>
          <a:lstStyle/>
          <a:p>
            <a:r>
              <a:rPr lang="en-GB" sz="3600" dirty="0"/>
              <a:t>The "Elbow"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87C3-7399-7801-A79E-AD30331D4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979" y="1497639"/>
            <a:ext cx="5909511" cy="2014872"/>
          </a:xfrm>
        </p:spPr>
        <p:txBody>
          <a:bodyPr>
            <a:normAutofit/>
          </a:bodyPr>
          <a:lstStyle/>
          <a:p>
            <a:r>
              <a:rPr lang="en-GB" sz="1800" dirty="0"/>
              <a:t>The "Elbow" method is a technique used to determine the optimal number of clusters in a dataset for a k-means clustering algorithm.</a:t>
            </a:r>
          </a:p>
          <a:p>
            <a:r>
              <a:rPr lang="en-GB" sz="1800" dirty="0"/>
              <a:t>It involves running the k-means clustering algorithm on the dataset for a range of values of k (number of clusters) and plotting the within-cluster sum of squares (WCSS) against the number of clusters. </a:t>
            </a:r>
          </a:p>
          <a:p>
            <a:endParaRPr lang="en-GB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EE5422-704A-4CF0-7910-11DDEC6C2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545" y="1057275"/>
            <a:ext cx="5152313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426AB1-2C98-40E7-A2FF-966241B828F3}"/>
              </a:ext>
            </a:extLst>
          </p:cNvPr>
          <p:cNvSpPr txBox="1"/>
          <p:nvPr/>
        </p:nvSpPr>
        <p:spPr>
          <a:xfrm>
            <a:off x="272715" y="3952875"/>
            <a:ext cx="113898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b="1" dirty="0"/>
              <a:t>Steps 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Choose a range of values for k (number of clusters).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For each value of k, run the k-means clustering algorithm on the dataset and calculate the WCSS.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Plot the WCSS values against the corresponding values of k.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Look for the point on the plot where the rate of decrease in WCSS sharply changes or levels off, forming an "elbow" shape.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The value of k at the elbow is considered a good estimate for the optimal number of clusters.</a:t>
            </a:r>
          </a:p>
        </p:txBody>
      </p:sp>
    </p:spTree>
    <p:extLst>
      <p:ext uri="{BB962C8B-B14F-4D97-AF65-F5344CB8AC3E}">
        <p14:creationId xmlns:p14="http://schemas.microsoft.com/office/powerpoint/2010/main" val="11451497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926C-5911-DE4B-715B-F164E822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69" y="637841"/>
            <a:ext cx="10515600" cy="613443"/>
          </a:xfrm>
        </p:spPr>
        <p:txBody>
          <a:bodyPr>
            <a:noAutofit/>
          </a:bodyPr>
          <a:lstStyle/>
          <a:p>
            <a:r>
              <a:rPr lang="en-GB" sz="3600" dirty="0"/>
              <a:t>The Gap Statistic</a:t>
            </a:r>
            <a:br>
              <a:rPr lang="en-GB" sz="3600" dirty="0"/>
            </a:b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1BFA-75B8-2E7D-88D2-1F0751FD0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31" y="1315453"/>
            <a:ext cx="5498432" cy="5037221"/>
          </a:xfrm>
        </p:spPr>
        <p:txBody>
          <a:bodyPr>
            <a:normAutofit/>
          </a:bodyPr>
          <a:lstStyle/>
          <a:p>
            <a:endParaRPr lang="en-GB" sz="1800" dirty="0"/>
          </a:p>
          <a:p>
            <a:r>
              <a:rPr lang="en-GB" sz="1800" dirty="0"/>
              <a:t>The gap statistic assesses the total within-cluster variation for various values of k by comparing them to their expected values within a null reference distribution of the data.</a:t>
            </a:r>
          </a:p>
          <a:p>
            <a:r>
              <a:rPr lang="en-GB" sz="1800" dirty="0"/>
              <a:t>The optimal number of clusters is estimated as the value that maximizes the gap statistic, indicating a significant departure from the random, uniform distribution of points. </a:t>
            </a:r>
          </a:p>
          <a:p>
            <a:r>
              <a:rPr lang="en-GB" sz="1800" dirty="0"/>
              <a:t>In other words, it identifies the clustering structure that deviates most from random chance.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37615-F298-980A-0073-EEA6F040B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558" y="1825625"/>
            <a:ext cx="6264442" cy="25157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6047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7F13-1B68-28B7-69CF-493151A2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 Silhouette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3A106-2EC9-E85F-1ADA-A101B32FE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137" y="2256639"/>
            <a:ext cx="11509171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The Silhouette Method is a way of evaluating the effectiveness of clustering in a dataset. 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The Silhouette Score for each data point is then computed using the similarity and dissimilarity measures.</a:t>
            </a:r>
          </a:p>
          <a:p>
            <a:pPr lvl="1"/>
            <a:r>
              <a:rPr lang="en-GB" sz="1800" dirty="0"/>
              <a:t> The score ranges from -1 to 1.</a:t>
            </a:r>
          </a:p>
          <a:p>
            <a:endParaRPr lang="en-GB" sz="2000" dirty="0"/>
          </a:p>
          <a:p>
            <a:r>
              <a:rPr lang="en-GB" sz="2000" dirty="0"/>
              <a:t>A high Silhouette Score (close to 1) </a:t>
            </a:r>
          </a:p>
          <a:p>
            <a:pPr lvl="1"/>
            <a:r>
              <a:rPr lang="en-GB" sz="1800" dirty="0"/>
              <a:t>indicates that the data point is well-matched to its own cluster and clearly separated from other clusters.</a:t>
            </a:r>
          </a:p>
          <a:p>
            <a:endParaRPr lang="en-GB" sz="2000" dirty="0"/>
          </a:p>
          <a:p>
            <a:r>
              <a:rPr lang="en-GB" sz="2000" dirty="0"/>
              <a:t>A low Silhouette Score (close to -1) </a:t>
            </a:r>
          </a:p>
          <a:p>
            <a:pPr lvl="1"/>
            <a:r>
              <a:rPr lang="en-GB" sz="1800" dirty="0"/>
              <a:t>suggests that the data point may be assigned to the wrong cluster, as it is more similar to points in a neighbouring cluster.</a:t>
            </a:r>
          </a:p>
        </p:txBody>
      </p:sp>
      <p:pic>
        <p:nvPicPr>
          <p:cNvPr id="1026" name="Picture 2" descr="Selecting optimal number of clusters in KMeans Algorithm(Silhouette Score)  | by Jyoti Yadav | Medium">
            <a:extLst>
              <a:ext uri="{FF2B5EF4-FFF2-40B4-BE49-F238E27FC236}">
                <a16:creationId xmlns:a16="http://schemas.microsoft.com/office/drawing/2014/main" id="{609FE767-58CF-36D6-FAB9-49DFCFD03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533" y="62218"/>
            <a:ext cx="3085905" cy="219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1497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D2BF-A503-7EE4-EFD6-90740AE3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 Sum of Squares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967A-96C0-4AFF-97B1-B5EBD2C3E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Sum of Squares Within Clusters (SSW):</a:t>
            </a:r>
          </a:p>
          <a:p>
            <a:endParaRPr lang="en-GB" dirty="0"/>
          </a:p>
          <a:p>
            <a:r>
              <a:rPr lang="en-GB" dirty="0"/>
              <a:t>For a given number of clusters (k), the Sum of Squares Within Clusters (SSW) is calculated. </a:t>
            </a:r>
          </a:p>
          <a:p>
            <a:r>
              <a:rPr lang="en-GB" dirty="0"/>
              <a:t>SSW measures the total squared distance of each data point within its assigned cluster from the cluster's centroid (</a:t>
            </a:r>
            <a:r>
              <a:rPr lang="en-GB" dirty="0" err="1"/>
              <a:t>center</a:t>
            </a:r>
            <a:r>
              <a:rPr lang="en-GB" dirty="0"/>
              <a:t> point).</a:t>
            </a:r>
          </a:p>
        </p:txBody>
      </p:sp>
    </p:spTree>
    <p:extLst>
      <p:ext uri="{BB962C8B-B14F-4D97-AF65-F5344CB8AC3E}">
        <p14:creationId xmlns:p14="http://schemas.microsoft.com/office/powerpoint/2010/main" val="2882619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AD1F-3254-AE9B-9C6A-B79CE7D3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242424"/>
                </a:solidFill>
              </a:rPr>
              <a:t>R </a:t>
            </a:r>
            <a:r>
              <a:rPr lang="en-GB" sz="3600" b="0" i="0" dirty="0">
                <a:solidFill>
                  <a:srgbClr val="242424"/>
                </a:solidFill>
                <a:effectLst/>
                <a:latin typeface="+mj-lt"/>
              </a:rPr>
              <a:t>packages</a:t>
            </a:r>
            <a:br>
              <a:rPr lang="en-GB" sz="3600" b="0" i="0" dirty="0">
                <a:solidFill>
                  <a:srgbClr val="242424"/>
                </a:solidFill>
                <a:effectLst/>
                <a:latin typeface="+mj-lt"/>
              </a:rPr>
            </a:b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421F-2AC1-2CF0-84CD-06FD417F7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8376" cy="4351338"/>
          </a:xfrm>
        </p:spPr>
        <p:txBody>
          <a:bodyPr/>
          <a:lstStyle/>
          <a:p>
            <a:r>
              <a:rPr lang="en-GB" i="0" dirty="0">
                <a:solidFill>
                  <a:srgbClr val="242424"/>
                </a:solidFill>
                <a:effectLst/>
                <a:latin typeface="+mj-lt"/>
              </a:rPr>
              <a:t>Excellent</a:t>
            </a:r>
            <a:r>
              <a:rPr lang="en-GB" dirty="0">
                <a:solidFill>
                  <a:srgbClr val="242424"/>
                </a:solidFill>
                <a:latin typeface="+mj-lt"/>
              </a:rPr>
              <a:t> packages for clustering </a:t>
            </a:r>
          </a:p>
          <a:p>
            <a:pPr lvl="1"/>
            <a:r>
              <a:rPr lang="en-GB" i="0" dirty="0" err="1">
                <a:solidFill>
                  <a:srgbClr val="242424"/>
                </a:solidFill>
                <a:effectLst/>
                <a:latin typeface="+mj-lt"/>
              </a:rPr>
              <a:t>NbClust</a:t>
            </a:r>
            <a:r>
              <a:rPr lang="en-GB" i="0" dirty="0">
                <a:solidFill>
                  <a:srgbClr val="242424"/>
                </a:solidFill>
                <a:effectLst/>
                <a:latin typeface="+mj-lt"/>
              </a:rPr>
              <a:t> </a:t>
            </a:r>
          </a:p>
          <a:p>
            <a:pPr lvl="1"/>
            <a:r>
              <a:rPr lang="en-GB" i="0" dirty="0" err="1">
                <a:solidFill>
                  <a:srgbClr val="242424"/>
                </a:solidFill>
                <a:effectLst/>
                <a:latin typeface="+mj-lt"/>
              </a:rPr>
              <a:t>Clustree</a:t>
            </a:r>
            <a:endParaRPr lang="en-GB" i="0" dirty="0">
              <a:solidFill>
                <a:srgbClr val="242424"/>
              </a:solidFill>
              <a:effectLst/>
              <a:latin typeface="+mj-lt"/>
            </a:endParaRPr>
          </a:p>
          <a:p>
            <a:pPr lvl="1"/>
            <a:r>
              <a:rPr lang="en-GB" i="0" dirty="0" err="1">
                <a:solidFill>
                  <a:srgbClr val="242424"/>
                </a:solidFill>
                <a:effectLst/>
                <a:latin typeface="+mj-lt"/>
              </a:rPr>
              <a:t>cValid</a:t>
            </a:r>
            <a:r>
              <a:rPr lang="en-GB" dirty="0">
                <a:solidFill>
                  <a:srgbClr val="242424"/>
                </a:solidFill>
                <a:latin typeface="+mj-lt"/>
              </a:rPr>
              <a:t>	</a:t>
            </a:r>
            <a:endParaRPr lang="en-GB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A39C1-A98B-CA8F-3574-2B32405A5F28}"/>
              </a:ext>
            </a:extLst>
          </p:cNvPr>
          <p:cNvSpPr txBox="1"/>
          <p:nvPr/>
        </p:nvSpPr>
        <p:spPr>
          <a:xfrm>
            <a:off x="580937" y="533940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https://www.rdocumentation.org/packages/NbClust/versions/3.0.1/topics/NbClust</a:t>
            </a:r>
          </a:p>
        </p:txBody>
      </p:sp>
    </p:spTree>
    <p:extLst>
      <p:ext uri="{BB962C8B-B14F-4D97-AF65-F5344CB8AC3E}">
        <p14:creationId xmlns:p14="http://schemas.microsoft.com/office/powerpoint/2010/main" val="121155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8985</TotalTime>
  <Words>3067</Words>
  <Application>Microsoft Office PowerPoint</Application>
  <PresentationFormat>Widescreen</PresentationFormat>
  <Paragraphs>487</Paragraphs>
  <Slides>74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6" baseType="lpstr">
      <vt:lpstr>Abadi</vt:lpstr>
      <vt:lpstr>Arial</vt:lpstr>
      <vt:lpstr>Calibri</vt:lpstr>
      <vt:lpstr>Calibri Light</vt:lpstr>
      <vt:lpstr>Cambria Math</vt:lpstr>
      <vt:lpstr>Karla</vt:lpstr>
      <vt:lpstr>Lato Extended</vt:lpstr>
      <vt:lpstr>STIXGeneral</vt:lpstr>
      <vt:lpstr>Symbol</vt:lpstr>
      <vt:lpstr>Wingdings</vt:lpstr>
      <vt:lpstr>Office Theme</vt:lpstr>
      <vt:lpstr>Equation</vt:lpstr>
      <vt:lpstr>     LM Big Data Management in Finance (36320) Birmingham Business School  Fundamentals of Machine Learning</vt:lpstr>
      <vt:lpstr>Review Questions </vt:lpstr>
      <vt:lpstr>Regression </vt:lpstr>
      <vt:lpstr>Regression: Basics </vt:lpstr>
      <vt:lpstr>PowerPoint Presentation</vt:lpstr>
      <vt:lpstr>PowerPoint Presentation</vt:lpstr>
      <vt:lpstr>PowerPoint Presentation</vt:lpstr>
      <vt:lpstr>Multicollinearity</vt:lpstr>
      <vt:lpstr>Bouncing betas</vt:lpstr>
      <vt:lpstr>Multicollinearity</vt:lpstr>
      <vt:lpstr>Also possible solutions</vt:lpstr>
      <vt:lpstr>Practical </vt:lpstr>
      <vt:lpstr>PowerPoint Presentation</vt:lpstr>
      <vt:lpstr>How to pre-process using caret? </vt:lpstr>
      <vt:lpstr>PowerPoint Presentation</vt:lpstr>
      <vt:lpstr>PowerPoint Presentation</vt:lpstr>
      <vt:lpstr>PowerPoint Presentation</vt:lpstr>
      <vt:lpstr>PowerPoint Presentation</vt:lpstr>
      <vt:lpstr>Methods </vt:lpstr>
      <vt:lpstr>Penalization / Regularaization/ Sparse/ Shrinkage  methods  Lasso, Ridge and Elastic Net </vt:lpstr>
      <vt:lpstr>PowerPoint Presentation</vt:lpstr>
      <vt:lpstr>Why is regularization important? </vt:lpstr>
      <vt:lpstr>PowerPoint Presentation</vt:lpstr>
      <vt:lpstr>Regularization: An Overview</vt:lpstr>
      <vt:lpstr>Introduction to LASSO</vt:lpstr>
      <vt:lpstr>Properties of LASSO</vt:lpstr>
      <vt:lpstr>Ridge Regression</vt:lpstr>
      <vt:lpstr>Choosing l </vt:lpstr>
      <vt:lpstr>PowerPoint Presentation</vt:lpstr>
      <vt:lpstr>PowerPoint Presentation</vt:lpstr>
      <vt:lpstr>PowerPoint Presentation</vt:lpstr>
      <vt:lpstr>Elastic Net Regression </vt:lpstr>
      <vt:lpstr>Elastic Net Regression </vt:lpstr>
      <vt:lpstr>PowerPoint Presentation</vt:lpstr>
      <vt:lpstr>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distance measure to use?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Partitioning methods</vt:lpstr>
      <vt:lpstr>Practical </vt:lpstr>
      <vt:lpstr>Clustering  </vt:lpstr>
      <vt:lpstr>PowerPoint Presentation</vt:lpstr>
      <vt:lpstr>PowerPoint Presentation</vt:lpstr>
      <vt:lpstr>How to decide number of clusters? Missing data imputation </vt:lpstr>
      <vt:lpstr>Methods to decide number of the clusters </vt:lpstr>
      <vt:lpstr>The "Elbow" method</vt:lpstr>
      <vt:lpstr>The Gap Statistic </vt:lpstr>
      <vt:lpstr>The Silhouette Method</vt:lpstr>
      <vt:lpstr>The Sum of Squares Method</vt:lpstr>
      <vt:lpstr>R packages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Animesh Acharjee (Cancer and Genomic Sciences)</dc:creator>
  <cp:lastModifiedBy>Animesh Acharjee (Cancer and Genomic Sciences)</cp:lastModifiedBy>
  <cp:revision>298</cp:revision>
  <dcterms:created xsi:type="dcterms:W3CDTF">2021-10-16T23:34:08Z</dcterms:created>
  <dcterms:modified xsi:type="dcterms:W3CDTF">2026-03-04T21:08:48Z</dcterms:modified>
</cp:coreProperties>
</file>