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7"/>
  </p:notesMasterIdLst>
  <p:sldIdLst>
    <p:sldId id="1418" r:id="rId2"/>
    <p:sldId id="1419" r:id="rId3"/>
    <p:sldId id="1062" r:id="rId4"/>
    <p:sldId id="260" r:id="rId5"/>
    <p:sldId id="259" r:id="rId6"/>
    <p:sldId id="281" r:id="rId7"/>
    <p:sldId id="273" r:id="rId8"/>
    <p:sldId id="1068" r:id="rId9"/>
    <p:sldId id="1063" r:id="rId10"/>
    <p:sldId id="1065" r:id="rId11"/>
    <p:sldId id="1066" r:id="rId12"/>
    <p:sldId id="1067" r:id="rId13"/>
    <p:sldId id="1070" r:id="rId14"/>
    <p:sldId id="1071" r:id="rId15"/>
    <p:sldId id="1073" r:id="rId16"/>
    <p:sldId id="1072" r:id="rId17"/>
    <p:sldId id="1075" r:id="rId18"/>
    <p:sldId id="1421" r:id="rId19"/>
    <p:sldId id="1422" r:id="rId20"/>
    <p:sldId id="1423" r:id="rId21"/>
    <p:sldId id="1426" r:id="rId22"/>
    <p:sldId id="1424" r:id="rId23"/>
    <p:sldId id="1047" r:id="rId24"/>
    <p:sldId id="1050" r:id="rId25"/>
    <p:sldId id="1051" r:id="rId26"/>
    <p:sldId id="1052" r:id="rId27"/>
    <p:sldId id="1053" r:id="rId28"/>
    <p:sldId id="1054" r:id="rId29"/>
    <p:sldId id="1055" r:id="rId30"/>
    <p:sldId id="1082" r:id="rId31"/>
    <p:sldId id="1085" r:id="rId32"/>
    <p:sldId id="1083" r:id="rId33"/>
    <p:sldId id="1432" r:id="rId34"/>
    <p:sldId id="1430" r:id="rId35"/>
    <p:sldId id="1084" r:id="rId36"/>
    <p:sldId id="289" r:id="rId37"/>
    <p:sldId id="1086" r:id="rId38"/>
    <p:sldId id="1087" r:id="rId39"/>
    <p:sldId id="292" r:id="rId40"/>
    <p:sldId id="294" r:id="rId41"/>
    <p:sldId id="1089" r:id="rId42"/>
    <p:sldId id="1088" r:id="rId43"/>
    <p:sldId id="1431" r:id="rId44"/>
    <p:sldId id="1427" r:id="rId45"/>
    <p:sldId id="1428" r:id="rId46"/>
  </p:sldIdLst>
  <p:sldSz cx="12192000" cy="6858000"/>
  <p:notesSz cx="6858000" cy="9144000"/>
  <p:embeddedFontLst>
    <p:embeddedFont>
      <p:font typeface="Abadi" panose="020B0604020104020204" pitchFamily="34" charset="0"/>
      <p:regular r:id="rId48"/>
      <p:bold r:id="rId49"/>
      <p:italic r:id="rId50"/>
      <p:boldItalic r:id="rId51"/>
    </p:embeddedFont>
    <p:embeddedFont>
      <p:font typeface="Arial Rounded MT Bold" panose="020F0704030504030204" pitchFamily="34" charset="0"/>
      <p:regular r:id="rId52"/>
    </p:embeddedFont>
    <p:embeddedFont>
      <p:font typeface="Cambria Math" panose="02040503050406030204" pitchFamily="18" charset="0"/>
      <p:regular r:id="rId53"/>
    </p:embeddedFont>
    <p:embeddedFont>
      <p:font typeface="Karla" pitchFamily="2" charset="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Sheet1!$E$2:$E$11</c:f>
              <c:numCache>
                <c:formatCode>General</c:formatCode>
                <c:ptCount val="10"/>
                <c:pt idx="0">
                  <c:v>3.4</c:v>
                </c:pt>
                <c:pt idx="1">
                  <c:v>4.0999999999999996</c:v>
                </c:pt>
                <c:pt idx="2">
                  <c:v>4.9000000000000004</c:v>
                </c:pt>
                <c:pt idx="3">
                  <c:v>5.3</c:v>
                </c:pt>
                <c:pt idx="4">
                  <c:v>6.5</c:v>
                </c:pt>
                <c:pt idx="5">
                  <c:v>6.8</c:v>
                </c:pt>
                <c:pt idx="6">
                  <c:v>7.8</c:v>
                </c:pt>
                <c:pt idx="7">
                  <c:v>8.1</c:v>
                </c:pt>
                <c:pt idx="8">
                  <c:v>8.1999999999999993</c:v>
                </c:pt>
                <c:pt idx="9">
                  <c:v>9.6999999999999993</c:v>
                </c:pt>
              </c:numCache>
            </c:numRef>
          </c:xVal>
          <c:yVal>
            <c:numRef>
              <c:f>Sheet1!$F$2:$F$11</c:f>
              <c:numCache>
                <c:formatCode>General</c:formatCode>
                <c:ptCount val="10"/>
                <c:pt idx="0">
                  <c:v>3.8</c:v>
                </c:pt>
                <c:pt idx="1">
                  <c:v>4.7</c:v>
                </c:pt>
                <c:pt idx="2">
                  <c:v>4.3</c:v>
                </c:pt>
                <c:pt idx="3">
                  <c:v>5.8</c:v>
                </c:pt>
                <c:pt idx="4">
                  <c:v>7</c:v>
                </c:pt>
                <c:pt idx="5">
                  <c:v>6.1</c:v>
                </c:pt>
                <c:pt idx="6">
                  <c:v>7.2</c:v>
                </c:pt>
                <c:pt idx="7">
                  <c:v>8.6999999999999993</c:v>
                </c:pt>
                <c:pt idx="8">
                  <c:v>7.3</c:v>
                </c:pt>
                <c:pt idx="9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3F3-4D34-A5DC-B2DB6B635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6072144"/>
        <c:axId val="226072928"/>
      </c:scatterChart>
      <c:valAx>
        <c:axId val="2260721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400" b="1" baseline="0" dirty="0">
                    <a:solidFill>
                      <a:sysClr val="windowText" lastClr="000000"/>
                    </a:solidFill>
                  </a:rPr>
                  <a:t>(</a:t>
                </a:r>
                <a:r>
                  <a:rPr lang="en-GB" sz="1400" b="1" dirty="0">
                    <a:solidFill>
                      <a:sysClr val="windowText" lastClr="000000"/>
                    </a:solidFill>
                  </a:rPr>
                  <a:t>X</a:t>
                </a:r>
                <a:r>
                  <a:rPr lang="en-GB" sz="1400" b="1" baseline="-25000" dirty="0">
                    <a:solidFill>
                      <a:sysClr val="windowText" lastClr="000000"/>
                    </a:solidFill>
                  </a:rPr>
                  <a:t>1</a:t>
                </a:r>
                <a:r>
                  <a:rPr lang="en-GB" sz="1400" b="1" dirty="0">
                    <a:solidFill>
                      <a:sysClr val="windowText" lastClr="000000"/>
                    </a:solidFill>
                  </a:rPr>
                  <a:t>)</a:t>
                </a:r>
                <a:r>
                  <a:rPr lang="en-GB" sz="1400" b="1" baseline="0" dirty="0">
                    <a:solidFill>
                      <a:sysClr val="windowText" lastClr="000000"/>
                    </a:solidFill>
                  </a:rPr>
                  <a:t> </a:t>
                </a:r>
                <a:endParaRPr lang="en-GB" sz="1400" b="1" dirty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072928"/>
        <c:crosses val="autoZero"/>
        <c:crossBetween val="midCat"/>
      </c:valAx>
      <c:valAx>
        <c:axId val="2260729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 b="1" dirty="0">
                    <a:solidFill>
                      <a:schemeClr val="tx1"/>
                    </a:solidFill>
                  </a:rPr>
                  <a:t>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072144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E224C-128D-456A-A4F4-65D190DF7DD3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362CC-BD67-4709-A014-638E88006A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31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36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655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443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21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85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114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8387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30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7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0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AF1A4B-F830-4706-BA10-EDF401B603C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377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ECABC065-FEDA-4DB6-AB1E-48DDC45DDADE}" type="datetime1">
              <a:rPr lang="en-GB" altLang="en-US">
                <a:solidFill>
                  <a:prstClr val="black"/>
                </a:solidFill>
              </a:rPr>
              <a:pPr/>
              <a:t>04/03/2026</a:t>
            </a:fld>
            <a:endParaRPr lang="en-GB" altLang="en-US">
              <a:solidFill>
                <a:prstClr val="black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339A46-73FB-4898-A149-1B29BFFD3AE6}" type="slidenum">
              <a:rPr lang="en-GB" altLang="en-US">
                <a:solidFill>
                  <a:prstClr val="black"/>
                </a:solidFill>
              </a:rPr>
              <a:pPr/>
              <a:t>26</a:t>
            </a:fld>
            <a:endParaRPr lang="en-GB" altLang="en-US">
              <a:solidFill>
                <a:prstClr val="black"/>
              </a:solidFill>
            </a:endParaRPr>
          </a:p>
        </p:txBody>
      </p:sp>
      <p:sp>
        <p:nvSpPr>
          <p:cNvPr id="7065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noProof="1"/>
          </a:p>
        </p:txBody>
      </p:sp>
    </p:spTree>
    <p:extLst>
      <p:ext uri="{BB962C8B-B14F-4D97-AF65-F5344CB8AC3E}">
        <p14:creationId xmlns:p14="http://schemas.microsoft.com/office/powerpoint/2010/main" val="2957261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D021-FA61-4DF5-9AEE-86CE54C67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56DA3-42EC-4490-A5AB-D429EC28E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109A-E55F-4A1E-BBA4-F5F9E0CC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E06EC-071B-4FAC-BDFB-0CB0E2153C75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AC8E-129E-49A7-AC2F-54C6F7A7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92DB4-620E-4D61-AC13-248AD66C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66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CFF0-9A3A-44CF-9D51-38276818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E322-360A-4B6E-B893-897407749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badi" panose="020B0604020104020204" pitchFamily="34" charset="0"/>
              </a:defRPr>
            </a:lvl1pPr>
            <a:lvl2pPr>
              <a:defRPr>
                <a:latin typeface="Abadi" panose="020B0604020104020204" pitchFamily="34" charset="0"/>
              </a:defRPr>
            </a:lvl2pPr>
            <a:lvl3pPr>
              <a:defRPr>
                <a:latin typeface="Abadi" panose="020B0604020104020204" pitchFamily="34" charset="0"/>
              </a:defRPr>
            </a:lvl3pPr>
            <a:lvl4pPr>
              <a:defRPr>
                <a:latin typeface="Abadi" panose="020B0604020104020204" pitchFamily="34" charset="0"/>
              </a:defRPr>
            </a:lvl4pPr>
            <a:lvl5pPr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3C2CC-8213-4458-8363-5221404B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8A3B-BDB8-444B-B2A0-9D4F0EB91944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73433-DE65-48CB-8218-5773258B6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E99C2-3B97-4818-BC4D-6E404AE1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2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A91E-F0A2-4C8E-B9F8-4AEE834B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A5E67-D9FA-4C9C-AA12-C3FD44D0E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FA990-87F1-4930-9DAC-42F32B5E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5590B-804C-43FE-A533-BD4DC20DC9AC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80673-D490-4784-97C2-F9443C1A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52AF9-B23D-4BD1-97F5-6BD2DF4B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00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FADB-25CF-4787-B11A-36BFBB7F7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7D744-0A07-45C4-A854-88E11AD7E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579A6-8114-4786-B67F-58DC7B5AE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72DF5-2AF6-4C55-9397-02196E0E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F78C-2BC2-43D4-9BE6-CEC6AAFCF5D2}" type="datetime1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DFCF5-9DA9-4C0F-8791-DE5412B4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A5AE4-F7AC-4022-ABF8-7F61FF71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8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5A4E-22F8-4EB9-AC08-82F204A8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376BE-B81D-4072-9748-A4DFB7048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E5E9E-C0EC-44D4-8C75-19C9C72D7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252C2-F124-4F3F-9D7A-138B4E806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BDA60-4A68-4918-9D35-022B2FFA9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B3987-FF07-4633-9DF4-76076C53A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7CAB-DA9C-4E58-AE0C-4E50A23BDFE7}" type="datetime1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1DDD5D-C131-472D-BA1F-D461BA73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0C21F-B0BC-464D-8E0C-B0708108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86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A3FF-5EC9-4630-B957-18BF10082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A7540-2B0D-429E-9DF4-5AA355DC3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463E9-0154-442D-846A-CBA72B4A3C82}" type="datetime1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CF9AA-309C-4FEA-8F31-A5D76277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09102-6437-49DB-B818-F0EA1D85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83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8B534-D509-47FF-8AFF-78F08AA4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2C03C-5254-441A-A423-94D3AAC51EDB}" type="datetime1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B252AD-4B30-4AA8-985F-E31D2243B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047F7-20F4-42C4-B326-3078FB1B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76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9AB6-88E4-47D5-8302-B29A0D66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3A85-EBA3-4C56-951B-5513CD4C4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EB638-C205-464C-8C2C-DCFD9CEC8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1980B-B4F7-4096-9368-8EA4D0FB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AF7DC-830C-4AA7-80D5-AE86C7057FC3}" type="datetime1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00B30-951D-4770-9383-D39574463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722EC-190E-451E-831F-D78AF11C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28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CE81-6CE1-490C-8E9B-B0CD5A65F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0EBF4-97DD-4E7A-A2A9-A22E8D686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137AE-2BEB-4D7D-BE02-251856542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1DFA5-5125-4AF2-A7E5-B56EFACD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6B026-4542-499F-9A1D-A721DF2FFC20}" type="datetime1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B42B2-6B0B-4CBF-8E3C-1D247832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7D182-51CD-4A84-88CC-B8EAC17D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776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CD44-5DF9-483F-9FE2-5E21B235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B9E2E-C598-42CB-85BF-92A5A0F8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AB771-2910-40A5-AF24-70696D29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616E-0D47-4B31-A704-2B6013569931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EB6F3-10A9-4F97-A55F-54DBAFCD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C9F26-88B1-4A68-81B1-9F6635C0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30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F4710-C43C-4930-98B6-3F350F9E2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C17B7-C2DF-4510-96AA-B0DF696CF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6639F-5AEE-4D67-913A-718020CC2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F5F61-46F7-4C03-A365-B69D6F1C2835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3CC79-9E04-4BBA-B819-73FCF614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F9845-A630-4755-AC4A-6DDE60B4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579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CC2FB-3387-4817-AA29-0AF90F95E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A60DA-4AB1-4055-9BB2-8D7AA55F3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43867-B67C-43B9-9B78-ECABB505C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FB243-0F96-4CDD-8A9A-8745CC9885B4}" type="datetime1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0401-B907-4180-9E7B-7008DCEFD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Copyright@Dr. Animesh Acharjee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F21ED-C270-4B01-B79D-992BEDAA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0F508-D1E0-4939-8C09-0055131870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63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B06040201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Machine_learn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BE84-9302-4ACF-A44E-EB6B7C49C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9508" y="2397489"/>
            <a:ext cx="11232859" cy="229195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br>
              <a:rPr lang="en-GB" sz="4000" b="1" i="0" dirty="0">
                <a:effectLst/>
                <a:latin typeface="Abadi" panose="020B0604020104020204" pitchFamily="34" charset="0"/>
              </a:rPr>
            </a:br>
            <a:r>
              <a:rPr lang="en-GB" sz="3200" b="1" i="0" dirty="0">
                <a:effectLst/>
                <a:latin typeface="Abadi" panose="020B0604020104020204" pitchFamily="34" charset="0"/>
              </a:rPr>
              <a:t>LM Big Data Management in Finance </a:t>
            </a:r>
            <a:br>
              <a:rPr lang="en-GB" sz="3200" b="1" i="0" dirty="0">
                <a:effectLst/>
                <a:latin typeface="Abadi" panose="020B0604020104020204" pitchFamily="34" charset="0"/>
              </a:rPr>
            </a:br>
            <a:r>
              <a:rPr lang="en-GB" sz="2800" b="0" i="0" dirty="0">
                <a:effectLst/>
                <a:latin typeface="Abadi" panose="020B0604020104020204" pitchFamily="34" charset="0"/>
              </a:rPr>
              <a:t>Birmingham Business School</a:t>
            </a:r>
            <a:br>
              <a:rPr lang="en-GB" sz="2800" b="0" i="0" dirty="0">
                <a:effectLst/>
                <a:latin typeface="Abadi" panose="020B0604020104020204" pitchFamily="34" charset="0"/>
              </a:rPr>
            </a:br>
            <a:br>
              <a:rPr lang="en-GB" sz="2800" b="0" i="0" dirty="0">
                <a:effectLst/>
                <a:latin typeface="Abadi" panose="020B0604020104020204" pitchFamily="34" charset="0"/>
              </a:rPr>
            </a:br>
            <a:r>
              <a:rPr lang="en-GB" sz="2800" b="0" i="0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Fundamentals of </a:t>
            </a:r>
            <a:r>
              <a:rPr lang="en-GB" sz="2800" dirty="0">
                <a:solidFill>
                  <a:srgbClr val="0070C0"/>
                </a:solidFill>
                <a:latin typeface="Abadi" panose="020B0604020104020204" pitchFamily="34" charset="0"/>
              </a:rPr>
              <a:t>M</a:t>
            </a:r>
            <a:r>
              <a:rPr lang="en-GB" sz="2800" b="0" i="0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achine </a:t>
            </a:r>
            <a:r>
              <a:rPr lang="en-GB" sz="2800" dirty="0">
                <a:solidFill>
                  <a:srgbClr val="0070C0"/>
                </a:solidFill>
                <a:latin typeface="Abadi" panose="020B0604020104020204" pitchFamily="34" charset="0"/>
              </a:rPr>
              <a:t>L</a:t>
            </a:r>
            <a:r>
              <a:rPr lang="en-GB" sz="2800" b="0" i="0" dirty="0">
                <a:solidFill>
                  <a:srgbClr val="0070C0"/>
                </a:solidFill>
                <a:effectLst/>
                <a:latin typeface="Abadi" panose="020B0604020104020204" pitchFamily="34" charset="0"/>
              </a:rPr>
              <a:t>earning </a:t>
            </a:r>
            <a:br>
              <a:rPr lang="en-GB" sz="2800" b="0" i="0" dirty="0">
                <a:effectLst/>
                <a:latin typeface="Abadi" panose="020B0604020104020204" pitchFamily="34" charset="0"/>
              </a:rPr>
            </a:br>
            <a:endParaRPr lang="en-GB" sz="2800" dirty="0">
              <a:latin typeface="Abadi" panose="020B06040201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A3B7B-82CD-44D2-AD75-A12E51C7D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9721"/>
            <a:ext cx="9144000" cy="1035174"/>
          </a:xfrm>
        </p:spPr>
        <p:txBody>
          <a:bodyPr>
            <a:normAutofit/>
          </a:bodyPr>
          <a:lstStyle/>
          <a:p>
            <a:r>
              <a:rPr lang="en-GB" b="0" i="0" dirty="0" err="1">
                <a:effectLst/>
                <a:latin typeface="Abadi" panose="020B0604020104020204" pitchFamily="34" charset="0"/>
              </a:rPr>
              <a:t>Dr.</a:t>
            </a:r>
            <a:r>
              <a:rPr lang="en-GB" b="0" i="0" dirty="0">
                <a:effectLst/>
                <a:latin typeface="Abadi" panose="020B0604020104020204" pitchFamily="34" charset="0"/>
              </a:rPr>
              <a:t> Animesh Acharjee </a:t>
            </a:r>
          </a:p>
        </p:txBody>
      </p:sp>
      <p:pic>
        <p:nvPicPr>
          <p:cNvPr id="1026" name="Picture 2" descr="On the Move to the University of Birmingham – Professor Fiona de Londras">
            <a:extLst>
              <a:ext uri="{FF2B5EF4-FFF2-40B4-BE49-F238E27FC236}">
                <a16:creationId xmlns:a16="http://schemas.microsoft.com/office/drawing/2014/main" id="{EE19BDDD-C5EE-4128-9385-990B24C27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124" y="118144"/>
            <a:ext cx="2403183" cy="212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37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7526E-CFF6-4C36-B4A3-A75E287C0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badi" panose="020B0604020104020204" pitchFamily="34" charset="0"/>
              </a:rPr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3BB3A-7743-40FD-81E7-E438B336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machine learning</a:t>
            </a:r>
          </a:p>
          <a:p>
            <a:r>
              <a:rPr lang="en-GB" dirty="0"/>
              <a:t>Types of machine learning </a:t>
            </a:r>
          </a:p>
          <a:p>
            <a:r>
              <a:rPr lang="en-GB" dirty="0"/>
              <a:t>Fundamentals of machine learning</a:t>
            </a:r>
          </a:p>
          <a:p>
            <a:r>
              <a:rPr lang="en-GB" dirty="0"/>
              <a:t>Validation matrices  </a:t>
            </a:r>
          </a:p>
          <a:p>
            <a:r>
              <a:rPr lang="en-GB" dirty="0"/>
              <a:t>Why penalization methods required?</a:t>
            </a:r>
          </a:p>
          <a:p>
            <a:r>
              <a:rPr lang="en-GB" dirty="0"/>
              <a:t>What is penalization? </a:t>
            </a:r>
          </a:p>
        </p:txBody>
      </p:sp>
    </p:spTree>
    <p:extLst>
      <p:ext uri="{BB962C8B-B14F-4D97-AF65-F5344CB8AC3E}">
        <p14:creationId xmlns:p14="http://schemas.microsoft.com/office/powerpoint/2010/main" val="1505151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2396" y="866775"/>
            <a:ext cx="10754686" cy="57269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Machine learning, a branch of artificial intelligence, concerns the </a:t>
            </a:r>
            <a:r>
              <a:rPr lang="en-GB" sz="2400" dirty="0">
                <a:solidFill>
                  <a:srgbClr val="FF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construction</a:t>
            </a: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 and </a:t>
            </a:r>
            <a:r>
              <a:rPr lang="en-GB" sz="2400" dirty="0">
                <a:solidFill>
                  <a:srgbClr val="FF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study of systems</a:t>
            </a: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 that can </a:t>
            </a:r>
            <a:r>
              <a:rPr lang="en-GB" sz="2400" dirty="0">
                <a:solidFill>
                  <a:srgbClr val="FF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learn</a:t>
            </a: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 from </a:t>
            </a:r>
            <a:r>
              <a:rPr lang="en-GB" sz="2400" dirty="0">
                <a:solidFill>
                  <a:srgbClr val="FF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data </a:t>
            </a: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(</a:t>
            </a: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  <a:hlinkClick r:id="rId3"/>
              </a:rPr>
              <a:t>http://en.wikipedia.org/wiki/Machine_learning</a:t>
            </a: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)</a:t>
            </a:r>
          </a:p>
          <a:p>
            <a:endParaRPr lang="en-GB" sz="24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 Why we should use machine learning? </a:t>
            </a:r>
          </a:p>
          <a:p>
            <a:pPr marL="714375" lvl="1" indent="-25717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Machine learning methods are not based on statistical assumptions such as normality, independence etc. </a:t>
            </a:r>
          </a:p>
          <a:p>
            <a:endParaRPr lang="en-GB" sz="24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All machine learning methods are non-parametric but reverse is </a:t>
            </a:r>
            <a:r>
              <a:rPr lang="en-GB" sz="2400" i="1" dirty="0">
                <a:solidFill>
                  <a:srgbClr val="FF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not</a:t>
            </a: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 always true</a:t>
            </a:r>
          </a:p>
          <a:p>
            <a:endParaRPr lang="en-GB" sz="24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Some machine learning algorithms are inspired by biological phenomena. Ex: Genetic algorithm, ant colony optimization  </a:t>
            </a:r>
            <a:endParaRPr lang="en-GB" sz="20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47728" y="332657"/>
            <a:ext cx="52725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Abadi" panose="020B0604020104020204" pitchFamily="34" charset="0"/>
                <a:cs typeface="Arial" panose="020B0604020202020204" pitchFamily="34" charset="0"/>
              </a:rPr>
              <a:t>What is machine learning </a:t>
            </a:r>
            <a:endParaRPr lang="en-GB" sz="36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42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D94757-8EA0-41E5-88CA-E46496F9C323}"/>
              </a:ext>
            </a:extLst>
          </p:cNvPr>
          <p:cNvSpPr txBox="1"/>
          <p:nvPr/>
        </p:nvSpPr>
        <p:spPr>
          <a:xfrm>
            <a:off x="643469" y="2205875"/>
            <a:ext cx="5186880" cy="3551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Classical models are presented with rules and data to get answers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Abadi" panose="020B0604020104020204" pitchFamily="34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Machine learning systems is trained rather explicitly programmed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AB1B917-FDE4-4681-B23E-EC3E4C4F964D}"/>
              </a:ext>
            </a:extLst>
          </p:cNvPr>
          <p:cNvSpPr txBox="1">
            <a:spLocks/>
          </p:cNvSpPr>
          <p:nvPr/>
        </p:nvSpPr>
        <p:spPr>
          <a:xfrm>
            <a:off x="377816" y="231703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3300" b="1" dirty="0">
                <a:latin typeface="Abadi" panose="020B0604020104020204" pitchFamily="34" charset="0"/>
              </a:rPr>
              <a:t>Classical vs. machine learning models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CB7BA2B-105D-4EF1-B341-F4880C23F46B}"/>
              </a:ext>
            </a:extLst>
          </p:cNvPr>
          <p:cNvGrpSpPr/>
          <p:nvPr/>
        </p:nvGrpSpPr>
        <p:grpSpPr>
          <a:xfrm>
            <a:off x="5979173" y="1941350"/>
            <a:ext cx="5197074" cy="3143250"/>
            <a:chOff x="5979173" y="2099971"/>
            <a:chExt cx="5197074" cy="31432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40998B-CE9C-4BFE-BEC0-8D4251E71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79173" y="2099971"/>
              <a:ext cx="5048250" cy="31432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5ECEA7D-0715-484F-B6D1-4733024CD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66597" y="2536257"/>
              <a:ext cx="100965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223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78F2-512B-417D-A6F1-32CC67D63881}"/>
              </a:ext>
            </a:extLst>
          </p:cNvPr>
          <p:cNvSpPr txBox="1">
            <a:spLocks/>
          </p:cNvSpPr>
          <p:nvPr/>
        </p:nvSpPr>
        <p:spPr>
          <a:xfrm>
            <a:off x="643467" y="321734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Abadi" panose="020B0604020104020204" pitchFamily="34" charset="0"/>
              </a:rPr>
              <a:t>Artificial intelligence, machine learning, and deep learning</a:t>
            </a:r>
            <a:br>
              <a:rPr lang="en-US" sz="3600" b="1" kern="1200" dirty="0">
                <a:solidFill>
                  <a:schemeClr val="tx1"/>
                </a:solidFill>
                <a:latin typeface="Abadi" panose="020B0604020104020204" pitchFamily="34" charset="0"/>
              </a:rPr>
            </a:br>
            <a:endParaRPr lang="en-US" sz="3600" kern="12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E696C-BEC1-4E37-931A-A9F4C1018B0A}"/>
              </a:ext>
            </a:extLst>
          </p:cNvPr>
          <p:cNvSpPr txBox="1">
            <a:spLocks/>
          </p:cNvSpPr>
          <p:nvPr/>
        </p:nvSpPr>
        <p:spPr>
          <a:xfrm>
            <a:off x="670705" y="1457471"/>
            <a:ext cx="5452531" cy="43939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dirty="0">
                <a:latin typeface="Abadi" panose="020B0604020104020204" pitchFamily="34" charset="0"/>
              </a:rPr>
              <a:t>Artificial Intelligence (AI)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Involves machines that can perform tasks/job that are characteristic of human intelligence.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Might involve some machine learning</a:t>
            </a:r>
          </a:p>
          <a:p>
            <a:pPr lvl="1"/>
            <a:endParaRPr lang="en-US" sz="2000" dirty="0">
              <a:latin typeface="Abadi" panose="020B0604020104020204" pitchFamily="34" charset="0"/>
            </a:endParaRPr>
          </a:p>
          <a:p>
            <a:pPr marL="0"/>
            <a:r>
              <a:rPr lang="en-US" dirty="0">
                <a:latin typeface="Abadi" panose="020B0604020104020204" pitchFamily="34" charset="0"/>
              </a:rPr>
              <a:t>Machine Learning (ML)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Development of algorithms, which improve by presenting data</a:t>
            </a:r>
          </a:p>
          <a:p>
            <a:pPr marL="457200" lvl="1" indent="0">
              <a:buNone/>
            </a:pPr>
            <a:endParaRPr lang="en-US" sz="2000" dirty="0">
              <a:latin typeface="Abadi" panose="020B0604020104020204" pitchFamily="34" charset="0"/>
            </a:endParaRPr>
          </a:p>
          <a:p>
            <a:pPr marL="0"/>
            <a:r>
              <a:rPr lang="en-US" dirty="0">
                <a:latin typeface="Abadi" panose="020B0604020104020204" pitchFamily="34" charset="0"/>
              </a:rPr>
              <a:t>Deep Learning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Part of machine learning and AI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Deep models</a:t>
            </a:r>
          </a:p>
          <a:p>
            <a:pPr lvl="1"/>
            <a:r>
              <a:rPr lang="en-US" sz="2000" dirty="0">
                <a:latin typeface="Abadi" panose="020B0604020104020204" pitchFamily="34" charset="0"/>
              </a:rPr>
              <a:t>Based on artificial neural networks.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3D6E41-FFFB-4575-8011-65A321D6C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32774" y="1861284"/>
            <a:ext cx="5015757" cy="337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812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331F-8554-6253-B484-3735E0888FC2}"/>
              </a:ext>
            </a:extLst>
          </p:cNvPr>
          <p:cNvSpPr txBox="1">
            <a:spLocks/>
          </p:cNvSpPr>
          <p:nvPr/>
        </p:nvSpPr>
        <p:spPr>
          <a:xfrm>
            <a:off x="801115" y="134200"/>
            <a:ext cx="10515600" cy="5848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>
                <a:latin typeface="Aptos Display" panose="020B0004020202020204" pitchFamily="34" charset="0"/>
              </a:rPr>
              <a:t>Explainable/Interpretable AI (XAI)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BFFAC-4454-BCE6-0ECE-F477A8BB228F}"/>
              </a:ext>
            </a:extLst>
          </p:cNvPr>
          <p:cNvSpPr txBox="1">
            <a:spLocks/>
          </p:cNvSpPr>
          <p:nvPr/>
        </p:nvSpPr>
        <p:spPr>
          <a:xfrm>
            <a:off x="382037" y="1216122"/>
            <a:ext cx="5289072" cy="194469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latin typeface="Aptos Display" panose="020B0004020202020204" pitchFamily="34" charset="0"/>
              </a:rPr>
              <a:t>Why</a:t>
            </a:r>
          </a:p>
          <a:p>
            <a:r>
              <a:rPr lang="en-GB" sz="1800" dirty="0">
                <a:latin typeface="Aptos Display" panose="020B0004020202020204" pitchFamily="34" charset="0"/>
              </a:rPr>
              <a:t>Interpretability </a:t>
            </a:r>
          </a:p>
          <a:p>
            <a:r>
              <a:rPr lang="en-GB" sz="1800" dirty="0">
                <a:latin typeface="Aptos Display" panose="020B0004020202020204" pitchFamily="34" charset="0"/>
              </a:rPr>
              <a:t>The best explanation of a simple model is the model itself</a:t>
            </a:r>
          </a:p>
          <a:p>
            <a:r>
              <a:rPr lang="en-GB" sz="1800" dirty="0">
                <a:latin typeface="Aptos Display" panose="020B0004020202020204" pitchFamily="34" charset="0"/>
              </a:rPr>
              <a:t>It perfectly represents itself and is easy to understand.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BE22E-DA92-25ED-6027-C3EC1ED56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728" y="4913306"/>
            <a:ext cx="5289072" cy="1944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ACF83D-6C8B-BD51-BBF7-6B783BB06DC1}"/>
              </a:ext>
            </a:extLst>
          </p:cNvPr>
          <p:cNvSpPr txBox="1">
            <a:spLocks/>
          </p:cNvSpPr>
          <p:nvPr/>
        </p:nvSpPr>
        <p:spPr>
          <a:xfrm>
            <a:off x="382037" y="3315325"/>
            <a:ext cx="5684520" cy="31707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800" b="1" dirty="0">
                <a:solidFill>
                  <a:schemeClr val="tx1"/>
                </a:solidFill>
                <a:latin typeface="Aptos Display" panose="020B0004020202020204" pitchFamily="34" charset="0"/>
              </a:rPr>
              <a:t>Many different types </a:t>
            </a:r>
          </a:p>
          <a:p>
            <a:r>
              <a:rPr lang="en-GB" sz="1800" dirty="0">
                <a:solidFill>
                  <a:schemeClr val="tx1"/>
                </a:solidFill>
                <a:latin typeface="Aptos Display" panose="020B0004020202020204" pitchFamily="34" charset="0"/>
              </a:rPr>
              <a:t>LIME (Local interpretable model-agnostic explanations)</a:t>
            </a:r>
          </a:p>
          <a:p>
            <a:r>
              <a:rPr lang="en-GB" sz="18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DeepLIFT</a:t>
            </a:r>
            <a:endParaRPr lang="en-GB" sz="1800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r>
              <a:rPr lang="en-GB" sz="1800" dirty="0">
                <a:solidFill>
                  <a:schemeClr val="tx1"/>
                </a:solidFill>
                <a:latin typeface="Aptos Display" panose="020B0004020202020204" pitchFamily="34" charset="0"/>
              </a:rPr>
              <a:t>Layer-Wise Relevance Propagation</a:t>
            </a:r>
          </a:p>
          <a:p>
            <a:r>
              <a:rPr lang="en-GB" sz="1800" dirty="0">
                <a:solidFill>
                  <a:schemeClr val="tx1"/>
                </a:solidFill>
                <a:latin typeface="Aptos Display" panose="020B0004020202020204" pitchFamily="34" charset="0"/>
              </a:rPr>
              <a:t>Model-Specific Approximation</a:t>
            </a:r>
          </a:p>
          <a:p>
            <a:pPr lvl="1"/>
            <a:r>
              <a:rPr lang="en-GB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Linear SHAP</a:t>
            </a:r>
          </a:p>
          <a:p>
            <a:pPr lvl="1"/>
            <a:r>
              <a:rPr lang="en-GB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Low-Order SHAP</a:t>
            </a:r>
          </a:p>
          <a:p>
            <a:pPr lvl="1"/>
            <a:r>
              <a:rPr lang="en-GB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Max SHAP</a:t>
            </a:r>
          </a:p>
          <a:p>
            <a:pPr lvl="1"/>
            <a:r>
              <a:rPr lang="en-GB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Deep SHAP (</a:t>
            </a:r>
            <a:r>
              <a:rPr lang="en-GB" sz="1600" dirty="0" err="1">
                <a:solidFill>
                  <a:schemeClr val="tx1"/>
                </a:solidFill>
                <a:latin typeface="Aptos Display" panose="020B0004020202020204" pitchFamily="34" charset="0"/>
              </a:rPr>
              <a:t>DeepLIFT</a:t>
            </a:r>
            <a:r>
              <a:rPr lang="en-GB" sz="1600" dirty="0">
                <a:solidFill>
                  <a:schemeClr val="tx1"/>
                </a:solidFill>
                <a:latin typeface="Aptos Display" panose="020B0004020202020204" pitchFamily="34" charset="0"/>
              </a:rPr>
              <a:t> + Shapley values)</a:t>
            </a:r>
          </a:p>
          <a:p>
            <a:endParaRPr lang="en-GB" sz="1400"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E567A-1249-499D-F8D1-25D9D6F02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643" y="2162641"/>
            <a:ext cx="5326157" cy="2532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8E54E-BD3C-347E-1923-EA6307799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046" y="719085"/>
            <a:ext cx="3407669" cy="233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25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62133AB-07AD-4DF8-ADC6-D0E23FAC440F}"/>
              </a:ext>
            </a:extLst>
          </p:cNvPr>
          <p:cNvGrpSpPr/>
          <p:nvPr/>
        </p:nvGrpSpPr>
        <p:grpSpPr>
          <a:xfrm>
            <a:off x="2152651" y="76200"/>
            <a:ext cx="7886699" cy="6139190"/>
            <a:chOff x="628650" y="533400"/>
            <a:chExt cx="7886699" cy="6139190"/>
          </a:xfrm>
        </p:grpSpPr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697E3DB0-1ED4-44C0-8F54-48A54189E3D5}"/>
                </a:ext>
              </a:extLst>
            </p:cNvPr>
            <p:cNvSpPr txBox="1">
              <a:spLocks/>
            </p:cNvSpPr>
            <p:nvPr/>
          </p:nvSpPr>
          <p:spPr>
            <a:xfrm>
              <a:off x="628650" y="1075568"/>
              <a:ext cx="7886699" cy="699516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2500" lnSpcReduction="1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Aft>
                  <a:spcPts val="450"/>
                </a:spcAft>
              </a:pPr>
              <a:r>
                <a:rPr lang="en-US" sz="2700" b="1" dirty="0">
                  <a:latin typeface="Abadi" panose="020B0604020104020204" pitchFamily="34" charset="0"/>
                </a:rPr>
                <a:t>Types of learning </a:t>
              </a:r>
              <a:br>
                <a:rPr lang="en-US" sz="2700" b="1" dirty="0">
                  <a:latin typeface="Abadi" panose="020B0604020104020204" pitchFamily="34" charset="0"/>
                </a:rPr>
              </a:br>
              <a:endParaRPr lang="en-US" sz="2700" dirty="0">
                <a:latin typeface="Abadi" panose="020B060402010402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BE0D8E-9DE3-436F-B584-0D33BDDA2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7445" y="533400"/>
              <a:ext cx="7109110" cy="467424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E8C23AB-6CD2-4DBA-9243-C9E763059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95600" y="5064637"/>
              <a:ext cx="1438275" cy="152534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A19B180-C6EC-4186-B47E-9D1C37098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5125034"/>
              <a:ext cx="1438275" cy="154755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005397A-8BAA-4CE7-B50B-A90E458D55B9}"/>
              </a:ext>
            </a:extLst>
          </p:cNvPr>
          <p:cNvSpPr txBox="1"/>
          <p:nvPr/>
        </p:nvSpPr>
        <p:spPr>
          <a:xfrm>
            <a:off x="2573258" y="3259723"/>
            <a:ext cx="1733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Abadi" panose="020B0604020104020204" pitchFamily="34" charset="0"/>
              </a:rPr>
              <a:t>Unlabelled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10A0DC-4904-44E6-9530-6010C6F4EA03}"/>
              </a:ext>
            </a:extLst>
          </p:cNvPr>
          <p:cNvSpPr txBox="1"/>
          <p:nvPr/>
        </p:nvSpPr>
        <p:spPr>
          <a:xfrm>
            <a:off x="6135581" y="3202885"/>
            <a:ext cx="17335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latin typeface="Abadi" panose="020B0604020104020204" pitchFamily="34" charset="0"/>
              </a:rPr>
              <a:t>Labeled</a:t>
            </a:r>
            <a:r>
              <a:rPr lang="en-GB" sz="1600" dirty="0">
                <a:latin typeface="Abadi" panose="020B0604020104020204" pitchFamily="34" charset="0"/>
              </a:rPr>
              <a:t>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830EDA-82E0-4D7A-8B37-76F0C5757DFF}"/>
              </a:ext>
            </a:extLst>
          </p:cNvPr>
          <p:cNvSpPr txBox="1"/>
          <p:nvPr/>
        </p:nvSpPr>
        <p:spPr>
          <a:xfrm>
            <a:off x="8077200" y="3275112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Abadi" panose="020B0604020104020204" pitchFamily="34" charset="0"/>
              </a:rPr>
              <a:t>Make a sequence of decisions from complex environment </a:t>
            </a:r>
          </a:p>
        </p:txBody>
      </p:sp>
    </p:spTree>
    <p:extLst>
      <p:ext uri="{BB962C8B-B14F-4D97-AF65-F5344CB8AC3E}">
        <p14:creationId xmlns:p14="http://schemas.microsoft.com/office/powerpoint/2010/main" val="3404364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11824" y="11380"/>
            <a:ext cx="3061320" cy="72008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70451" y="1031846"/>
            <a:ext cx="10326848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Machine learning tasks are typically classified into three broad categories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000" dirty="0">
              <a:latin typeface="Abadi" panose="020B0604020104020204" pitchFamily="34" charset="0"/>
            </a:endParaRPr>
          </a:p>
          <a:p>
            <a:r>
              <a:rPr lang="en-GB" sz="2000" dirty="0">
                <a:solidFill>
                  <a:srgbClr val="0070C0"/>
                </a:solidFill>
                <a:latin typeface="Abadi" panose="020B0604020104020204" pitchFamily="34" charset="0"/>
              </a:rPr>
              <a:t>Supervised learning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The computer/algorithm is presented with example inputs and their desired outputs, given by a “teacher” (user), and the goal is to learn a general rule that maps inputs to outputs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r>
              <a:rPr lang="en-GB" sz="2000" dirty="0">
                <a:solidFill>
                  <a:srgbClr val="0070C0"/>
                </a:solidFill>
                <a:latin typeface="Abadi" panose="020B0604020104020204" pitchFamily="34" charset="0"/>
              </a:rPr>
              <a:t>Unsupervised learning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No labels are given to the learning algorithm, leaving it on its own to find structure in its input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Unsupervised learning can be a goal in itself (discovering hidden patterns in data) </a:t>
            </a:r>
          </a:p>
          <a:p>
            <a:endParaRPr lang="en-GB" sz="2000" dirty="0">
              <a:latin typeface="Abadi" panose="020B0604020104020204" pitchFamily="34" charset="0"/>
            </a:endParaRPr>
          </a:p>
          <a:p>
            <a:r>
              <a:rPr lang="en-GB" sz="2000" dirty="0">
                <a:solidFill>
                  <a:srgbClr val="0070C0"/>
                </a:solidFill>
                <a:latin typeface="Abadi" panose="020B0604020104020204" pitchFamily="34" charset="0"/>
              </a:rPr>
              <a:t>Reinforcement learning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A computer program interacts with a dynamic environment in which it must perform a certain goal (such as driving a vehicle), without a teacher explicitly telling it whether it has come close to its goal or not</a:t>
            </a:r>
          </a:p>
          <a:p>
            <a:endParaRPr lang="en-GB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129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21" y="1166121"/>
            <a:ext cx="4820874" cy="3342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57089" y="181855"/>
            <a:ext cx="60651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Abadi" panose="020B0604020104020204" pitchFamily="34" charset="0"/>
                <a:cs typeface="Arial" panose="020B0604020202020204" pitchFamily="34" charset="0"/>
              </a:rPr>
              <a:t>Machine learning vs. Statistics </a:t>
            </a:r>
            <a:endParaRPr lang="en-GB" sz="3600" dirty="0">
              <a:latin typeface="Abadi" panose="020B0604020104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104112" y="1376905"/>
            <a:ext cx="3232644" cy="1835944"/>
            <a:chOff x="5633426" y="1973703"/>
            <a:chExt cx="3232644" cy="1835944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3426" y="1973703"/>
              <a:ext cx="1893094" cy="1835944"/>
            </a:xfrm>
            <a:prstGeom prst="rect">
              <a:avLst/>
            </a:prstGeom>
          </p:spPr>
        </p:pic>
        <p:grpSp>
          <p:nvGrpSpPr>
            <p:cNvPr id="8" name="Group 7"/>
            <p:cNvGrpSpPr/>
            <p:nvPr/>
          </p:nvGrpSpPr>
          <p:grpSpPr>
            <a:xfrm>
              <a:off x="7630201" y="2116578"/>
              <a:ext cx="1235869" cy="1693069"/>
              <a:chOff x="10173601" y="1679103"/>
              <a:chExt cx="1647825" cy="2257425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73601" y="1679103"/>
                <a:ext cx="1647825" cy="2257425"/>
              </a:xfrm>
              <a:prstGeom prst="rect">
                <a:avLst/>
              </a:prstGeom>
            </p:spPr>
          </p:pic>
          <p:sp>
            <p:nvSpPr>
              <p:cNvPr id="7" name="Rectangle 6"/>
              <p:cNvSpPr/>
              <p:nvPr/>
            </p:nvSpPr>
            <p:spPr>
              <a:xfrm>
                <a:off x="10379675" y="2890193"/>
                <a:ext cx="1375720" cy="40494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dirty="0">
                    <a:latin typeface="Arial Rounded MT Bold" panose="020F0704030504030204" pitchFamily="34" charset="0"/>
                  </a:rPr>
                  <a:t>y=</a:t>
                </a:r>
                <a:r>
                  <a:rPr lang="el-GR" sz="900" dirty="0"/>
                  <a:t>α</a:t>
                </a:r>
                <a:r>
                  <a:rPr lang="en-GB" sz="900" dirty="0">
                    <a:latin typeface="Arial Rounded MT Bold" panose="020F0704030504030204" pitchFamily="34" charset="0"/>
                  </a:rPr>
                  <a:t>+</a:t>
                </a:r>
                <a:r>
                  <a:rPr lang="el-GR" sz="900" dirty="0"/>
                  <a:t> α</a:t>
                </a:r>
                <a:r>
                  <a:rPr lang="en-GB" sz="900" baseline="-25000" dirty="0">
                    <a:latin typeface="Arial Rounded MT Bold" panose="020F0704030504030204" pitchFamily="34" charset="0"/>
                  </a:rPr>
                  <a:t>1</a:t>
                </a:r>
                <a:r>
                  <a:rPr lang="en-GB" sz="900" dirty="0">
                    <a:latin typeface="Arial Rounded MT Bold" panose="020F0704030504030204" pitchFamily="34" charset="0"/>
                  </a:rPr>
                  <a:t>x</a:t>
                </a:r>
                <a:r>
                  <a:rPr lang="en-GB" sz="900" baseline="-25000" dirty="0">
                    <a:latin typeface="Arial Rounded MT Bold" panose="020F0704030504030204" pitchFamily="34" charset="0"/>
                  </a:rPr>
                  <a:t>1</a:t>
                </a:r>
                <a:r>
                  <a:rPr lang="en-GB" sz="900" dirty="0">
                    <a:latin typeface="Arial Rounded MT Bold" panose="020F0704030504030204" pitchFamily="34" charset="0"/>
                  </a:rPr>
                  <a:t>+</a:t>
                </a:r>
                <a:r>
                  <a:rPr lang="el-GR" sz="900" dirty="0"/>
                  <a:t> α</a:t>
                </a:r>
                <a:r>
                  <a:rPr lang="en-GB" sz="900" baseline="-25000" dirty="0"/>
                  <a:t>2</a:t>
                </a:r>
                <a:r>
                  <a:rPr lang="en-GB" sz="900" dirty="0"/>
                  <a:t>x</a:t>
                </a:r>
                <a:r>
                  <a:rPr lang="en-GB" sz="900" baseline="-25000" dirty="0"/>
                  <a:t>2</a:t>
                </a:r>
                <a:r>
                  <a:rPr lang="en-GB" sz="900" dirty="0"/>
                  <a:t>+…+</a:t>
                </a:r>
                <a:r>
                  <a:rPr lang="el-GR" sz="900" dirty="0"/>
                  <a:t> α</a:t>
                </a:r>
                <a:r>
                  <a:rPr lang="en-GB" sz="900" baseline="-25000" dirty="0" err="1"/>
                  <a:t>n</a:t>
                </a:r>
                <a:r>
                  <a:rPr lang="en-GB" sz="900" dirty="0" err="1"/>
                  <a:t>x</a:t>
                </a:r>
                <a:r>
                  <a:rPr lang="en-GB" sz="900" baseline="-25000" dirty="0" err="1"/>
                  <a:t>n</a:t>
                </a:r>
                <a:endParaRPr lang="en-GB" sz="900" baseline="-25000" dirty="0">
                  <a:latin typeface="Arial Rounded MT Bold" panose="020F0704030504030204" pitchFamily="34" charset="0"/>
                </a:endParaRPr>
              </a:p>
            </p:txBody>
          </p:sp>
        </p:grp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801" y="4509120"/>
            <a:ext cx="4626475" cy="2348880"/>
          </a:xfrm>
          <a:prstGeom prst="rect">
            <a:avLst/>
          </a:prstGeom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Copyright@Dr. Animesh Acharjee</a:t>
            </a:r>
            <a:endParaRPr lang="fy-NL"/>
          </a:p>
        </p:txBody>
      </p:sp>
    </p:spTree>
    <p:extLst>
      <p:ext uri="{BB962C8B-B14F-4D97-AF65-F5344CB8AC3E}">
        <p14:creationId xmlns:p14="http://schemas.microsoft.com/office/powerpoint/2010/main" val="47657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2282" y="1042602"/>
            <a:ext cx="1501906" cy="67962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38849" y="1790185"/>
            <a:ext cx="1501906" cy="67962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Input Data/</a:t>
            </a:r>
          </a:p>
          <a:p>
            <a:pPr algn="ctr"/>
            <a:r>
              <a:rPr lang="en-GB" sz="135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Data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1983" y="3231353"/>
            <a:ext cx="1501906" cy="67962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Parameters / 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5681" y="3910975"/>
            <a:ext cx="1501906" cy="6796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Training/Testing 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5416" y="2537767"/>
            <a:ext cx="1501906" cy="679622"/>
          </a:xfrm>
          <a:prstGeom prst="rect">
            <a:avLst/>
          </a:prstGeom>
          <a:solidFill>
            <a:srgbClr val="CC99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Algorithm/</a:t>
            </a:r>
          </a:p>
          <a:p>
            <a:pPr algn="ctr"/>
            <a:r>
              <a:rPr lang="en-GB" sz="135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Method 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5117" y="4789787"/>
            <a:ext cx="1501906" cy="679622"/>
          </a:xfrm>
          <a:prstGeom prst="rect">
            <a:avLst/>
          </a:prstGeom>
          <a:gradFill>
            <a:gsLst>
              <a:gs pos="61000">
                <a:schemeClr val="dk1">
                  <a:tint val="40000"/>
                  <a:satMod val="350000"/>
                </a:schemeClr>
              </a:gs>
              <a:gs pos="100000">
                <a:schemeClr val="dk1">
                  <a:tint val="45000"/>
                  <a:shade val="99000"/>
                  <a:satMod val="350000"/>
                </a:schemeClr>
              </a:gs>
              <a:gs pos="100000">
                <a:schemeClr val="dk1">
                  <a:shade val="20000"/>
                  <a:satMod val="255000"/>
                </a:schemeClr>
              </a:gs>
            </a:gsLst>
          </a:gradFill>
        </p:spPr>
        <p:style>
          <a:lnRef idx="0">
            <a:schemeClr val="accent5"/>
          </a:lnRef>
          <a:fillRef idx="1002">
            <a:schemeClr val="dk1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Evaluation 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195805" y="1790185"/>
            <a:ext cx="615821" cy="44566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439109" y="2551668"/>
            <a:ext cx="615821" cy="44566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895328" y="4086930"/>
            <a:ext cx="615821" cy="44566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635758" y="3348332"/>
            <a:ext cx="615821" cy="44566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134032" y="4841106"/>
            <a:ext cx="615821" cy="445664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650474" y="46416"/>
            <a:ext cx="6489708" cy="8742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Work Flow of Machine Learning Methods</a:t>
            </a:r>
          </a:p>
        </p:txBody>
      </p:sp>
      <p:pic>
        <p:nvPicPr>
          <p:cNvPr id="2050" name="Picture 2" descr="http://shakthydoss.com/wp-content/uploads/2014/06/machine-learn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31" y="5756732"/>
            <a:ext cx="1675987" cy="865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c 7">
            <a:extLst>
              <a:ext uri="{FF2B5EF4-FFF2-40B4-BE49-F238E27FC236}">
                <a16:creationId xmlns:a16="http://schemas.microsoft.com/office/drawing/2014/main" id="{3327A33E-C8B1-4719-8DF3-3A26BE8C56FE}"/>
              </a:ext>
            </a:extLst>
          </p:cNvPr>
          <p:cNvSpPr/>
          <p:nvPr/>
        </p:nvSpPr>
        <p:spPr>
          <a:xfrm flipH="1" flipV="1">
            <a:off x="796954" y="1042602"/>
            <a:ext cx="9882230" cy="4714130"/>
          </a:xfrm>
          <a:prstGeom prst="arc">
            <a:avLst>
              <a:gd name="adj1" fmla="val 13495019"/>
              <a:gd name="adj2" fmla="val 1386901"/>
            </a:avLst>
          </a:prstGeom>
          <a:ln w="3492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86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44617" y="1812022"/>
            <a:ext cx="10880521" cy="4399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Questions are usually in two categories</a:t>
            </a:r>
          </a:p>
          <a:p>
            <a:endParaRPr lang="en-US" sz="2800" b="1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Observation/individual  related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How observations are clustered? For example: Credit card fraud or not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Outliers 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Missing values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Feature/Variable related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How variables/features are clusters?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Which variables are making differences among many classes?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Which variables are correlated ?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Is it possible to identify them in the data set?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Are those variables being predictive? Can be used as a stratification in different location?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Are those variables being stable?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Are those variables statistically significant? 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endParaRPr lang="en-GB" sz="15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GB" sz="15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GB" sz="15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GB" sz="15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943872" y="260649"/>
            <a:ext cx="2995216" cy="60286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Questions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725" y="260649"/>
            <a:ext cx="957568" cy="95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64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1874623" y="1276220"/>
            <a:ext cx="8370725" cy="1472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Input data can have different structures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It is very important to understand what type of question is being asked and does data support that </a:t>
            </a:r>
          </a:p>
          <a:p>
            <a:endParaRPr lang="en-GB" sz="1500" dirty="0">
              <a:solidFill>
                <a:schemeClr val="tx1"/>
              </a:solidFill>
              <a:latin typeface="Abadi" panose="020B06040201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799857" y="301560"/>
            <a:ext cx="2973761" cy="49708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Input 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905" y="2896116"/>
            <a:ext cx="8158163" cy="16930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014" y="4663495"/>
            <a:ext cx="2621756" cy="113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38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779" y="1400961"/>
            <a:ext cx="11560029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0075" lvl="1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Supervised Learning: Classification and regression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Decision trees Ensembles 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Support vector machine (SVM)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k-NN Linear regression 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Naive Bayes 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Neural networks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Logistic regression Perceptron </a:t>
            </a:r>
          </a:p>
          <a:p>
            <a:pPr marL="600075" lvl="1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Unsupervised Learning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Hierarchical Clustering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k-means Clustering </a:t>
            </a:r>
          </a:p>
          <a:p>
            <a:pPr marL="600075" lvl="1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Reinforcement Learning </a:t>
            </a:r>
          </a:p>
          <a:p>
            <a:pPr marL="1285875" lvl="3" indent="-257175" fontAlgn="base">
              <a:buFont typeface="Arial" panose="020B0604020202020204" pitchFamily="34" charset="0"/>
              <a:buChar char="•"/>
            </a:pPr>
            <a:r>
              <a:rPr lang="en-GB" sz="2000" dirty="0">
                <a:latin typeface="Abadi" panose="020B0604020104020204" pitchFamily="34" charset="0"/>
              </a:rPr>
              <a:t>Markov Decision Process </a:t>
            </a:r>
          </a:p>
          <a:p>
            <a:pPr marL="600075" lvl="1" indent="-257175" fontAlgn="base">
              <a:buFont typeface="Arial" panose="020B0604020202020204" pitchFamily="34" charset="0"/>
              <a:buChar char="•"/>
            </a:pPr>
            <a:endParaRPr lang="en-GB" sz="1500" dirty="0">
              <a:latin typeface="Abadi" panose="020B06040201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007769" y="404665"/>
            <a:ext cx="4743451" cy="6762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Example: Algorithm</a:t>
            </a:r>
          </a:p>
        </p:txBody>
      </p:sp>
    </p:spTree>
    <p:extLst>
      <p:ext uri="{BB962C8B-B14F-4D97-AF65-F5344CB8AC3E}">
        <p14:creationId xmlns:p14="http://schemas.microsoft.com/office/powerpoint/2010/main" val="3198184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593910" y="386002"/>
            <a:ext cx="6495277" cy="5690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Parameters and hyperparameter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7158" y="1635853"/>
            <a:ext cx="1003848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Each of the machine learning algorithms associated with some extra parameters </a:t>
            </a:r>
          </a:p>
          <a:p>
            <a:endParaRPr lang="en-GB" sz="2400" dirty="0">
              <a:latin typeface="Abadi" panose="020B0604020104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 Called as hyper parameters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400" dirty="0">
              <a:latin typeface="Abadi" panose="020B0604020104020204" pitchFamily="34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For example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GB" sz="2400" dirty="0">
              <a:latin typeface="Abadi" panose="020B0604020104020204" pitchFamily="34" charset="0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Number of decision trees need to use in the Random Forest Model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endParaRPr lang="en-GB" sz="2400" dirty="0">
              <a:latin typeface="Abadi" panose="020B0604020104020204" pitchFamily="34" charset="0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In classical statistics view : How many components need to use in PLS-DA model ? </a:t>
            </a:r>
          </a:p>
        </p:txBody>
      </p:sp>
    </p:spTree>
    <p:extLst>
      <p:ext uri="{BB962C8B-B14F-4D97-AF65-F5344CB8AC3E}">
        <p14:creationId xmlns:p14="http://schemas.microsoft.com/office/powerpoint/2010/main" val="3428847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659" y="1430779"/>
            <a:ext cx="3493294" cy="1721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710902" y="1442847"/>
            <a:ext cx="625403" cy="391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solidFill>
                  <a:schemeClr val="accent1">
                    <a:lumMod val="75000"/>
                  </a:schemeClr>
                </a:solidFill>
                <a:latin typeface="Abadi" panose="020B0604020104020204" pitchFamily="34" charset="0"/>
              </a:rPr>
              <a:t>Test set </a:t>
            </a:r>
          </a:p>
        </p:txBody>
      </p:sp>
      <p:sp>
        <p:nvSpPr>
          <p:cNvPr id="2" name="Down Arrow 1"/>
          <p:cNvSpPr/>
          <p:nvPr/>
        </p:nvSpPr>
        <p:spPr>
          <a:xfrm>
            <a:off x="5554553" y="2618910"/>
            <a:ext cx="312701" cy="594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atin typeface="Abadi" panose="020B0604020104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475821" y="2906237"/>
            <a:ext cx="3345430" cy="1065224"/>
            <a:chOff x="2699792" y="2862207"/>
            <a:chExt cx="4460573" cy="1420299"/>
          </a:xfrm>
        </p:grpSpPr>
        <p:sp>
          <p:nvSpPr>
            <p:cNvPr id="4" name="Rectangle 3"/>
            <p:cNvSpPr/>
            <p:nvPr/>
          </p:nvSpPr>
          <p:spPr>
            <a:xfrm>
              <a:off x="2699792" y="3407228"/>
              <a:ext cx="2597292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350" dirty="0">
                  <a:latin typeface="Abadi" panose="020B0604020104020204" pitchFamily="34" charset="0"/>
                </a:rPr>
                <a:t>Prediction Function, f(</a:t>
              </a:r>
              <a:r>
                <a:rPr lang="el-GR" sz="1350" dirty="0"/>
                <a:t>α</a:t>
              </a:r>
              <a:r>
                <a:rPr lang="en-GB" sz="1350" dirty="0">
                  <a:latin typeface="Abadi" panose="020B0604020104020204" pitchFamily="34" charset="0"/>
                </a:rPr>
                <a:t>)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V="1">
              <a:off x="5477532" y="3140968"/>
              <a:ext cx="620561" cy="317342"/>
            </a:xfrm>
            <a:prstGeom prst="straightConnector1">
              <a:avLst/>
            </a:prstGeom>
            <a:ln w="47625"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5551941" y="3591895"/>
              <a:ext cx="558863" cy="76200"/>
            </a:xfrm>
            <a:prstGeom prst="straightConnector1">
              <a:avLst/>
            </a:prstGeom>
            <a:ln w="47625">
              <a:solidFill>
                <a:srgbClr val="00B05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5477532" y="3890296"/>
              <a:ext cx="633272" cy="114768"/>
            </a:xfrm>
            <a:prstGeom prst="straightConnector1">
              <a:avLst/>
            </a:prstGeom>
            <a:ln w="47625">
              <a:solidFill>
                <a:srgbClr val="7030A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098092" y="2862207"/>
              <a:ext cx="994187" cy="396044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50" dirty="0">
                  <a:solidFill>
                    <a:schemeClr val="tx1"/>
                  </a:solidFill>
                  <a:latin typeface="Abadi" panose="020B0604020104020204" pitchFamily="34" charset="0"/>
                </a:rPr>
                <a:t>Class 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034873" y="3380517"/>
              <a:ext cx="1120623" cy="3960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50" dirty="0">
                  <a:solidFill>
                    <a:schemeClr val="tx1"/>
                  </a:solidFill>
                  <a:latin typeface="Abadi" panose="020B0604020104020204" pitchFamily="34" charset="0"/>
                </a:rPr>
                <a:t>Class 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034873" y="3886462"/>
              <a:ext cx="1125492" cy="396044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50" dirty="0">
                  <a:solidFill>
                    <a:schemeClr val="tx1"/>
                  </a:solidFill>
                  <a:latin typeface="Abadi" panose="020B0604020104020204" pitchFamily="34" charset="0"/>
                </a:rPr>
                <a:t>Class 3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434903" y="2847263"/>
            <a:ext cx="985838" cy="1537675"/>
            <a:chOff x="7458075" y="1046571"/>
            <a:chExt cx="1314450" cy="2050233"/>
          </a:xfrm>
        </p:grpSpPr>
        <p:sp>
          <p:nvSpPr>
            <p:cNvPr id="23" name="Oval 22"/>
            <p:cNvSpPr/>
            <p:nvPr/>
          </p:nvSpPr>
          <p:spPr>
            <a:xfrm>
              <a:off x="7458075" y="1046571"/>
              <a:ext cx="1314450" cy="1564458"/>
            </a:xfrm>
            <a:prstGeom prst="ellipse">
              <a:avLst/>
            </a:prstGeom>
            <a:noFill/>
            <a:ln w="381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latin typeface="Abadi" panose="020B0604020104020204" pitchFamily="34" charset="0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7936706" y="14983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8051006" y="16507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8165306" y="18031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8279606" y="19555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8051006" y="16507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8165306" y="18031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8279606" y="19555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8393906" y="21079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8508206" y="2260396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8368187" y="1444990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8063863" y="2209188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8063863" y="1835354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7848124" y="1849597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8065294" y="1298371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8433909" y="1777592"/>
              <a:ext cx="34289" cy="51208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 flipV="1">
              <a:off x="7700962" y="1651408"/>
              <a:ext cx="34289" cy="50596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628097" y="2639604"/>
              <a:ext cx="928685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350" dirty="0">
                  <a:solidFill>
                    <a:srgbClr val="0070C0"/>
                  </a:solidFill>
                  <a:latin typeface="Abadi" panose="020B0604020104020204" pitchFamily="34" charset="0"/>
                </a:rPr>
                <a:t>Test set </a:t>
              </a: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821879" y="4977555"/>
            <a:ext cx="2178050" cy="49739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Out of sample error /</a:t>
            </a:r>
          </a:p>
          <a:p>
            <a:pPr algn="ctr"/>
            <a:r>
              <a:rPr lang="en-GB" sz="135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Generalized error</a:t>
            </a:r>
          </a:p>
        </p:txBody>
      </p:sp>
      <p:sp>
        <p:nvSpPr>
          <p:cNvPr id="43" name="Right Arrow 42"/>
          <p:cNvSpPr/>
          <p:nvPr/>
        </p:nvSpPr>
        <p:spPr>
          <a:xfrm rot="9478609">
            <a:off x="6809060" y="4705424"/>
            <a:ext cx="1537476" cy="363474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2048" name="Right Arrow 2047"/>
          <p:cNvSpPr/>
          <p:nvPr/>
        </p:nvSpPr>
        <p:spPr>
          <a:xfrm>
            <a:off x="7986211" y="3234311"/>
            <a:ext cx="372382" cy="588634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46" name="Title 1"/>
          <p:cNvSpPr txBox="1">
            <a:spLocks/>
          </p:cNvSpPr>
          <p:nvPr/>
        </p:nvSpPr>
        <p:spPr>
          <a:xfrm>
            <a:off x="5024395" y="367767"/>
            <a:ext cx="2548725" cy="49708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Evaluation</a:t>
            </a:r>
          </a:p>
        </p:txBody>
      </p:sp>
      <p:sp>
        <p:nvSpPr>
          <p:cNvPr id="2049" name="Rectangle 2048"/>
          <p:cNvSpPr/>
          <p:nvPr/>
        </p:nvSpPr>
        <p:spPr>
          <a:xfrm>
            <a:off x="1703288" y="6490233"/>
            <a:ext cx="819976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latin typeface="Abadi" panose="020B0604020104020204" pitchFamily="34" charset="0"/>
              </a:rPr>
              <a:t>Hastie et al., (2009) 2</a:t>
            </a:r>
            <a:r>
              <a:rPr lang="en-GB" sz="1400" baseline="30000" dirty="0">
                <a:latin typeface="Abadi" panose="020B0604020104020204" pitchFamily="34" charset="0"/>
              </a:rPr>
              <a:t>nd</a:t>
            </a:r>
            <a:r>
              <a:rPr lang="en-GB" sz="1400" dirty="0">
                <a:latin typeface="Abadi" panose="020B0604020104020204" pitchFamily="34" charset="0"/>
              </a:rPr>
              <a:t> Ed., The Elements of Statistical Learning : Data Mining, Inference, and Prediction. </a:t>
            </a:r>
          </a:p>
        </p:txBody>
      </p:sp>
    </p:spTree>
    <p:extLst>
      <p:ext uri="{BB962C8B-B14F-4D97-AF65-F5344CB8AC3E}">
        <p14:creationId xmlns:p14="http://schemas.microsoft.com/office/powerpoint/2010/main" val="661348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scott.fortmann-roe.com/docs/docs/MeasuringError/crossvalida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26" y="1648277"/>
            <a:ext cx="2970281" cy="40927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26716" y="931178"/>
            <a:ext cx="7726958" cy="5840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How to do it?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Split the data in different parts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Keep aside test data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Build a model on training data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Evaluate on test set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Repeat</a:t>
            </a:r>
          </a:p>
          <a:p>
            <a:pPr lvl="1"/>
            <a:endParaRPr lang="en-GB" dirty="0">
              <a:latin typeface="Abadi" panose="020B0604020104020204" pitchFamily="34" charset="0"/>
            </a:endParaRPr>
          </a:p>
          <a:p>
            <a:r>
              <a:rPr lang="en-GB" dirty="0">
                <a:latin typeface="Abadi" panose="020B0604020104020204" pitchFamily="34" charset="0"/>
              </a:rPr>
              <a:t>Types of Cross Validation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5 fold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10 fold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Leave one out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Resampling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Why it is used for?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Picking variables to include in the model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Picking the type of prediction function to use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Picking the parameters in the prediction function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Comparing different predictors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Depends on how many total samples are available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GB" dirty="0">
                <a:latin typeface="Abadi" panose="020B0604020104020204" pitchFamily="34" charset="0"/>
              </a:rPr>
              <a:t>Some times double cross validation is recommended due to hyper parameters </a:t>
            </a:r>
          </a:p>
          <a:p>
            <a:pPr lvl="1"/>
            <a:endParaRPr lang="en-GB" sz="1350" dirty="0">
              <a:latin typeface="Abadi" panose="020B0604020104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617862" y="86762"/>
            <a:ext cx="5679962" cy="5830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276097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5907" y="984317"/>
            <a:ext cx="3345025" cy="425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0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Prediction model design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08" y="1610260"/>
            <a:ext cx="3408953" cy="42710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206" y="1610261"/>
            <a:ext cx="3950494" cy="3971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5925717" y="984317"/>
            <a:ext cx="2043404" cy="4257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100" b="1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Rule of thumb</a:t>
            </a:r>
          </a:p>
        </p:txBody>
      </p:sp>
      <p:sp>
        <p:nvSpPr>
          <p:cNvPr id="3" name="Rectangle 2"/>
          <p:cNvSpPr/>
          <p:nvPr/>
        </p:nvSpPr>
        <p:spPr>
          <a:xfrm rot="19293762">
            <a:off x="6067585" y="3148963"/>
            <a:ext cx="3803073" cy="65116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300" dirty="0">
                <a:solidFill>
                  <a:schemeClr val="tx1"/>
                </a:solidFill>
                <a:latin typeface="Abadi" panose="020B0604020104020204" pitchFamily="34" charset="0"/>
              </a:rPr>
              <a:t>Subjective!!!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5CDCA69-A9FB-4932-A3F1-2B4A4EC24A02}"/>
              </a:ext>
            </a:extLst>
          </p:cNvPr>
          <p:cNvSpPr txBox="1">
            <a:spLocks/>
          </p:cNvSpPr>
          <p:nvPr/>
        </p:nvSpPr>
        <p:spPr>
          <a:xfrm>
            <a:off x="4791168" y="165460"/>
            <a:ext cx="2779192" cy="50788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18112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E9B8-51AA-41D0-80C8-0DE4AF82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i="0" u="none" strike="noStrike" baseline="0" dirty="0">
                <a:solidFill>
                  <a:srgbClr val="000000"/>
                </a:solidFill>
                <a:latin typeface="Abadi" panose="020B0604020104020204" pitchFamily="34" charset="0"/>
              </a:rPr>
              <a:t>Evaluating Performance </a:t>
            </a:r>
            <a:br>
              <a:rPr lang="en-GB" sz="3600" b="1" i="0" u="none" strike="noStrike" baseline="0" dirty="0">
                <a:solidFill>
                  <a:srgbClr val="000000"/>
                </a:solidFill>
                <a:latin typeface="Abadi" panose="020B0604020104020204" pitchFamily="34" charset="0"/>
              </a:rPr>
            </a:br>
            <a:endParaRPr lang="en-GB" sz="3600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D0E2-4F94-45D2-9DE5-78DB8ED8F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b="0" i="0" u="none" strike="noStrike" baseline="0" dirty="0">
                <a:solidFill>
                  <a:srgbClr val="000000"/>
                </a:solidFill>
              </a:rPr>
              <a:t>Widely used evaluation metrics for classifiers:</a:t>
            </a:r>
          </a:p>
          <a:p>
            <a:pPr algn="l"/>
            <a:r>
              <a:rPr lang="en-GB" sz="2400" b="1" i="0" u="none" strike="noStrike" baseline="0" dirty="0"/>
              <a:t>Accuracy </a:t>
            </a:r>
            <a:r>
              <a:rPr lang="en-GB" sz="2400" b="0" i="0" u="none" strike="noStrike" baseline="0" dirty="0"/>
              <a:t>is the amount of correctly classified instances of the total instances; defined as the ratio of number of correct predictions to the total number of predictions.</a:t>
            </a:r>
          </a:p>
          <a:p>
            <a:pPr algn="l"/>
            <a:r>
              <a:rPr lang="en-GB" b="1" i="0" u="none" strike="noStrike" baseline="0" dirty="0"/>
              <a:t>Confusion matrix</a:t>
            </a:r>
          </a:p>
          <a:p>
            <a:pPr lvl="1"/>
            <a:r>
              <a:rPr lang="en-GB" b="1" i="0" u="none" strike="noStrike" baseline="0" dirty="0"/>
              <a:t>Confusion matrix </a:t>
            </a:r>
            <a:r>
              <a:rPr lang="en-GB" b="0" i="0" u="none" strike="noStrike" baseline="0" dirty="0"/>
              <a:t>- is a table that records the number of instances in a dataset that fall in a particular category.</a:t>
            </a:r>
            <a:endParaRPr lang="en-GB" b="1" i="0" u="none" strike="noStrike" baseline="0" dirty="0"/>
          </a:p>
          <a:p>
            <a:pPr algn="l"/>
            <a:r>
              <a:rPr lang="en-GB" b="1" i="0" u="none" strike="noStrike" baseline="0" dirty="0">
                <a:solidFill>
                  <a:srgbClr val="000000"/>
                </a:solidFill>
              </a:rPr>
              <a:t>Precision </a:t>
            </a:r>
          </a:p>
          <a:p>
            <a:pPr algn="l"/>
            <a:r>
              <a:rPr lang="en-GB" b="1" i="0" u="none" strike="noStrike" baseline="0" dirty="0">
                <a:solidFill>
                  <a:srgbClr val="000000"/>
                </a:solidFill>
              </a:rPr>
              <a:t>Recall/sensitivity</a:t>
            </a:r>
            <a:r>
              <a:rPr lang="en-GB" b="0" i="0" u="none" strike="noStrike" baseline="0" dirty="0">
                <a:solidFill>
                  <a:srgbClr val="000000"/>
                </a:solidFill>
              </a:rPr>
              <a:t>.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286013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D0A2F-500B-4B10-A4B0-D9D0E00E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879" y="89552"/>
            <a:ext cx="5607591" cy="816459"/>
          </a:xfrm>
        </p:spPr>
        <p:txBody>
          <a:bodyPr anchor="ctr">
            <a:normAutofit/>
          </a:bodyPr>
          <a:lstStyle/>
          <a:p>
            <a:pPr algn="ctr"/>
            <a:r>
              <a:rPr lang="en-GB" sz="3600" b="1" i="0" u="none" strike="noStrike" baseline="0" dirty="0">
                <a:solidFill>
                  <a:srgbClr val="000000"/>
                </a:solidFill>
                <a:latin typeface="Abadi" panose="020B0604020104020204" pitchFamily="34" charset="0"/>
              </a:rPr>
              <a:t>Evaluating Performance</a:t>
            </a:r>
            <a:endParaRPr lang="en-GB" sz="3600" dirty="0"/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D41F8792-C818-42E4-B626-495F27E9D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577" y="995563"/>
            <a:ext cx="5058999" cy="22639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166AC0-6833-40BC-AE6B-88DF22CCD48D}"/>
              </a:ext>
            </a:extLst>
          </p:cNvPr>
          <p:cNvSpPr txBox="1"/>
          <p:nvPr/>
        </p:nvSpPr>
        <p:spPr>
          <a:xfrm>
            <a:off x="488309" y="3500029"/>
            <a:ext cx="5607692" cy="3357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 baseline="0" dirty="0">
                <a:latin typeface="Abadi" panose="020B0604020104020204" pitchFamily="34" charset="0"/>
              </a:rPr>
              <a:t>True Positives (TP) and True Negatives (TN) are number of positive and negative instances predicted correctly.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 baseline="0" dirty="0">
                <a:latin typeface="Abadi" panose="020B0604020104020204" pitchFamily="34" charset="0"/>
              </a:rPr>
              <a:t>False Positives (FP) and False Negatives(FN) are misclassified instances.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958E43-599E-4204-9CD4-A93995FEC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001" y="3633902"/>
            <a:ext cx="3028950" cy="790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B81A39-E742-4190-9EFC-F0AAF7DA26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5001" y="4829879"/>
            <a:ext cx="25812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86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DD59-D661-425D-B918-46C7CAE7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i="0" u="none" strike="noStrike" baseline="0" dirty="0">
                <a:latin typeface="Abadi" panose="020B0604020104020204" pitchFamily="34" charset="0"/>
              </a:rPr>
              <a:t>F-Measure</a:t>
            </a:r>
            <a:endParaRPr lang="en-GB" sz="3600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A76A7-7511-4CA3-BE14-667C56E35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400" b="1" i="0" u="none" strike="noStrike" baseline="0" dirty="0">
                <a:solidFill>
                  <a:srgbClr val="203864"/>
                </a:solidFill>
              </a:rPr>
              <a:t>F-Measure</a:t>
            </a:r>
            <a:r>
              <a:rPr lang="en-GB" sz="2400" b="0" i="0" u="none" strike="noStrike" baseline="0" dirty="0">
                <a:solidFill>
                  <a:srgbClr val="203864"/>
                </a:solidFill>
              </a:rPr>
              <a:t>- </a:t>
            </a:r>
            <a:r>
              <a:rPr lang="en-GB" sz="2400" b="0" i="0" u="none" strike="noStrike" baseline="0" dirty="0">
                <a:solidFill>
                  <a:srgbClr val="000000"/>
                </a:solidFill>
              </a:rPr>
              <a:t>is a metric of a test’s accuracy</a:t>
            </a:r>
          </a:p>
          <a:p>
            <a:pPr algn="l"/>
            <a:r>
              <a:rPr lang="en-GB" sz="2400" b="0" i="0" u="none" strike="noStrike" baseline="0" dirty="0"/>
              <a:t>F measure reaches its best value at 1 (perfect precision and recall) and worst at 0.</a:t>
            </a: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37E57-1FC7-4421-B251-7C1B6FDB6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455" y="3255600"/>
            <a:ext cx="5244445" cy="115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01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A6681-F763-4E7B-9A60-F36546539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704" y="751414"/>
            <a:ext cx="6053734" cy="580458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FCD28AA-3F9E-42AD-9E14-C4E53B6C2B55}"/>
              </a:ext>
            </a:extLst>
          </p:cNvPr>
          <p:cNvSpPr txBox="1">
            <a:spLocks/>
          </p:cNvSpPr>
          <p:nvPr/>
        </p:nvSpPr>
        <p:spPr>
          <a:xfrm>
            <a:off x="469085" y="101815"/>
            <a:ext cx="10515600" cy="66278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1" dirty="0">
                <a:latin typeface="Abadi" panose="020B0604020104020204" pitchFamily="34" charset="0"/>
              </a:rPr>
              <a:t>Other matrices </a:t>
            </a:r>
            <a:endParaRPr lang="en-GB" sz="36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698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3403-C894-4975-9FC8-C15E3F185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7732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Abadi" panose="020B0604020104020204" pitchFamily="34" charset="0"/>
              </a:rPr>
              <a:t>Regression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2302D-1CC0-4B38-B5CF-6434A07B7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400" b="1" i="0" u="none" strike="noStrike" baseline="0" dirty="0">
                <a:solidFill>
                  <a:srgbClr val="0070C0"/>
                </a:solidFill>
              </a:rPr>
              <a:t>RMSE </a:t>
            </a:r>
            <a:r>
              <a:rPr lang="en-GB" sz="2400" b="0" i="0" u="none" strike="noStrike" baseline="0" dirty="0"/>
              <a:t>is defined as the square root of the average squared distance between the actual score and the predicted score</a:t>
            </a:r>
            <a:endParaRPr lang="en-GB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6A5AA-3E7E-4B8A-9D41-0410B0E80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013" y="2819400"/>
            <a:ext cx="2638294" cy="8910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AC76EC-9683-4282-B118-64C2FB34A43D}"/>
              </a:ext>
            </a:extLst>
          </p:cNvPr>
          <p:cNvSpPr txBox="1"/>
          <p:nvPr/>
        </p:nvSpPr>
        <p:spPr>
          <a:xfrm>
            <a:off x="838200" y="3429871"/>
            <a:ext cx="111384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sz="2400" dirty="0">
              <a:latin typeface="Abadi" panose="020B0604020104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i="0" u="none" strike="noStrike" baseline="0" dirty="0">
                <a:solidFill>
                  <a:srgbClr val="0070C0"/>
                </a:solidFill>
                <a:latin typeface="Abadi" panose="020B0604020104020204" pitchFamily="34" charset="0"/>
              </a:rPr>
              <a:t>Median Absolute Percentage Error </a:t>
            </a:r>
            <a:endParaRPr lang="en-GB" sz="2400" dirty="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06CDA8-45CF-4A95-A3F6-75F179FD3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236" y="4641858"/>
            <a:ext cx="3273071" cy="7041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513058-D5CD-4EB1-8855-B9752FFC0BB6}"/>
              </a:ext>
            </a:extLst>
          </p:cNvPr>
          <p:cNvSpPr txBox="1"/>
          <p:nvPr/>
        </p:nvSpPr>
        <p:spPr>
          <a:xfrm>
            <a:off x="109057" y="5988734"/>
            <a:ext cx="118676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0" i="0" u="none" strike="noStrike" baseline="0" dirty="0">
                <a:latin typeface="Abadi" panose="020B0604020104020204" pitchFamily="34" charset="0"/>
              </a:rPr>
              <a:t>where </a:t>
            </a:r>
            <a:r>
              <a:rPr lang="en-GB" sz="2400" b="0" i="0" u="none" strike="noStrike" baseline="0" dirty="0" err="1">
                <a:solidFill>
                  <a:srgbClr val="0070C0"/>
                </a:solidFill>
                <a:latin typeface="Abadi" panose="020B0604020104020204" pitchFamily="34" charset="0"/>
              </a:rPr>
              <a:t>y</a:t>
            </a:r>
            <a:r>
              <a:rPr lang="en-GB" sz="2400" b="0" i="0" u="none" strike="noStrike" baseline="-25000" dirty="0" err="1">
                <a:solidFill>
                  <a:srgbClr val="0070C0"/>
                </a:solidFill>
                <a:latin typeface="Abadi" panose="020B0604020104020204" pitchFamily="34" charset="0"/>
              </a:rPr>
              <a:t>i</a:t>
            </a:r>
            <a:r>
              <a:rPr lang="en-GB" sz="2400" b="0" i="0" u="none" strike="noStrike" baseline="0" dirty="0">
                <a:solidFill>
                  <a:srgbClr val="0070C0"/>
                </a:solidFill>
                <a:latin typeface="Abadi" panose="020B0604020104020204" pitchFamily="34" charset="0"/>
              </a:rPr>
              <a:t> </a:t>
            </a:r>
            <a:r>
              <a:rPr lang="en-GB" sz="2400" b="0" i="0" u="none" strike="noStrike" baseline="0" dirty="0">
                <a:latin typeface="Abadi" panose="020B0604020104020204" pitchFamily="34" charset="0"/>
              </a:rPr>
              <a:t>is the true value for the </a:t>
            </a:r>
            <a:r>
              <a:rPr lang="en-GB" sz="2400" b="0" i="0" u="none" strike="noStrike" baseline="0" dirty="0" err="1">
                <a:solidFill>
                  <a:srgbClr val="0070C0"/>
                </a:solidFill>
                <a:latin typeface="Abadi" panose="020B0604020104020204" pitchFamily="34" charset="0"/>
              </a:rPr>
              <a:t>ith</a:t>
            </a:r>
            <a:r>
              <a:rPr lang="en-GB" sz="2400" b="0" i="0" u="none" strike="noStrike" baseline="0" dirty="0">
                <a:latin typeface="Abadi" panose="020B0604020104020204" pitchFamily="34" charset="0"/>
              </a:rPr>
              <a:t> data point, </a:t>
            </a:r>
            <a:r>
              <a:rPr lang="en-GB" sz="2400" b="0" i="0" u="none" strike="noStrike" baseline="0" dirty="0" err="1">
                <a:solidFill>
                  <a:srgbClr val="0070C0"/>
                </a:solidFill>
                <a:latin typeface="Abadi" panose="020B0604020104020204" pitchFamily="34" charset="0"/>
              </a:rPr>
              <a:t>y</a:t>
            </a:r>
            <a:r>
              <a:rPr lang="en-GB" sz="2400" b="0" i="0" u="none" strike="noStrike" baseline="-25000" dirty="0" err="1">
                <a:solidFill>
                  <a:srgbClr val="0070C0"/>
                </a:solidFill>
                <a:latin typeface="Abadi" panose="020B0604020104020204" pitchFamily="34" charset="0"/>
              </a:rPr>
              <a:t>i</a:t>
            </a:r>
            <a:r>
              <a:rPr lang="en-GB" sz="2400" b="0" i="0" u="none" strike="noStrike" baseline="0" dirty="0">
                <a:solidFill>
                  <a:srgbClr val="0070C0"/>
                </a:solidFill>
                <a:latin typeface="Abadi" panose="020B0604020104020204" pitchFamily="34" charset="0"/>
              </a:rPr>
              <a:t>-hat</a:t>
            </a:r>
            <a:r>
              <a:rPr lang="en-GB" sz="2400" b="0" i="0" u="none" strike="noStrike" baseline="0" dirty="0">
                <a:latin typeface="Abadi" panose="020B0604020104020204" pitchFamily="34" charset="0"/>
              </a:rPr>
              <a:t> is the predicted value, and </a:t>
            </a:r>
            <a:r>
              <a:rPr lang="en-GB" sz="2400" b="0" i="0" u="none" strike="noStrike" baseline="0" dirty="0">
                <a:solidFill>
                  <a:srgbClr val="0070C0"/>
                </a:solidFill>
                <a:latin typeface="Abadi" panose="020B0604020104020204" pitchFamily="34" charset="0"/>
              </a:rPr>
              <a:t>n</a:t>
            </a:r>
            <a:r>
              <a:rPr lang="en-GB" sz="2400" b="0" i="0" u="none" strike="noStrike" baseline="0" dirty="0">
                <a:latin typeface="Abadi" panose="020B0604020104020204" pitchFamily="34" charset="0"/>
              </a:rPr>
              <a:t> is the number of data points.</a:t>
            </a:r>
          </a:p>
        </p:txBody>
      </p:sp>
    </p:spTree>
    <p:extLst>
      <p:ext uri="{BB962C8B-B14F-4D97-AF65-F5344CB8AC3E}">
        <p14:creationId xmlns:p14="http://schemas.microsoft.com/office/powerpoint/2010/main" val="932414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9777" y="2636912"/>
            <a:ext cx="4359548" cy="1029077"/>
          </a:xfrm>
        </p:spPr>
        <p:txBody>
          <a:bodyPr>
            <a:noAutofit/>
          </a:bodyPr>
          <a:lstStyle/>
          <a:p>
            <a:r>
              <a:rPr lang="en-GB" sz="4400" b="1" dirty="0">
                <a:latin typeface="Abadi" panose="020B0604020104020204" pitchFamily="34" charset="0"/>
                <a:cs typeface="Arial" panose="020B0604020202020204" pitchFamily="34" charset="0"/>
              </a:rPr>
              <a:t>Regression revisit</a:t>
            </a:r>
          </a:p>
        </p:txBody>
      </p:sp>
    </p:spTree>
    <p:extLst>
      <p:ext uri="{BB962C8B-B14F-4D97-AF65-F5344CB8AC3E}">
        <p14:creationId xmlns:p14="http://schemas.microsoft.com/office/powerpoint/2010/main" val="371586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849304" y="118593"/>
            <a:ext cx="6768752" cy="1322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b="1" dirty="0">
                <a:latin typeface="Abadi" panose="020B0604020104020204" pitchFamily="34" charset="0"/>
              </a:rPr>
              <a:t>Regression: </a:t>
            </a:r>
            <a:r>
              <a:rPr lang="en-US" altLang="en-US" b="1" dirty="0">
                <a:solidFill>
                  <a:prstClr val="black"/>
                </a:solidFill>
                <a:latin typeface="Abadi" panose="020B0604020104020204" pitchFamily="34" charset="0"/>
              </a:rPr>
              <a:t>One example</a:t>
            </a: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5695803"/>
              </p:ext>
            </p:extLst>
          </p:nvPr>
        </p:nvGraphicFramePr>
        <p:xfrm>
          <a:off x="1991544" y="1471883"/>
          <a:ext cx="3733750" cy="2428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992004" y="1071356"/>
            <a:ext cx="417646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Here: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y  = Response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 = Predictor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495600" y="4365105"/>
            <a:ext cx="70567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lvl="1"/>
            <a:r>
              <a:rPr lang="en-US" altLang="en-US" sz="2400" dirty="0">
                <a:latin typeface="Abadi" panose="020B0604020104020204" pitchFamily="34" charset="0"/>
              </a:rPr>
              <a:t>y (</a:t>
            </a:r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Response</a:t>
            </a:r>
            <a:r>
              <a:rPr lang="en-US" altLang="en-US" sz="2400" dirty="0">
                <a:latin typeface="Abadi" panose="020B0604020104020204" pitchFamily="34" charset="0"/>
              </a:rPr>
              <a:t>) = </a:t>
            </a:r>
            <a:r>
              <a:rPr lang="en-AU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24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Abadi" panose="020B0604020104020204" pitchFamily="34" charset="0"/>
              </a:rPr>
              <a:t>+ </a:t>
            </a:r>
            <a:r>
              <a:rPr lang="en-AU" altLang="en-US" sz="24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24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latin typeface="Abadi" panose="020B0604020104020204" pitchFamily="34" charset="0"/>
              </a:rPr>
              <a:t>* X</a:t>
            </a:r>
            <a:r>
              <a:rPr lang="en-US" altLang="en-US" sz="2400" baseline="-25000" dirty="0">
                <a:latin typeface="Abadi" panose="020B0604020104020204" pitchFamily="34" charset="0"/>
              </a:rPr>
              <a:t>1</a:t>
            </a:r>
            <a:r>
              <a:rPr lang="en-US" altLang="en-US" sz="2400" dirty="0">
                <a:latin typeface="Abadi" panose="020B0604020104020204" pitchFamily="34" charset="0"/>
              </a:rPr>
              <a:t> + Error</a:t>
            </a:r>
            <a:endParaRPr lang="en-US" altLang="en-US" sz="2400" baseline="-25000" dirty="0">
              <a:latin typeface="Abadi" panose="020B0604020104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5549290" y="4857310"/>
            <a:ext cx="330686" cy="659923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079776" y="5547772"/>
            <a:ext cx="4176464" cy="40150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Abadi" panose="020B0604020104020204" pitchFamily="34" charset="0"/>
              </a:rPr>
              <a:t>Slope / Coefficient/ Weights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35760" y="2564904"/>
            <a:ext cx="1440160" cy="0"/>
          </a:xfrm>
          <a:prstGeom prst="line">
            <a:avLst/>
          </a:prstGeom>
          <a:ln w="2222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>
            <a:off x="4151784" y="2420888"/>
            <a:ext cx="144016" cy="288032"/>
          </a:xfrm>
          <a:prstGeom prst="arc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98281" y="2082915"/>
            <a:ext cx="404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altLang="en-US" dirty="0">
                <a:solidFill>
                  <a:srgbClr val="FF0000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baseline="-25000" dirty="0">
                <a:solidFill>
                  <a:srgbClr val="FF0000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endParaRPr lang="en-GB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53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3755716" y="25027"/>
            <a:ext cx="5445511" cy="673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solidFill>
                  <a:prstClr val="black"/>
                </a:solidFill>
                <a:latin typeface="Abadi" panose="020B0604020104020204" pitchFamily="34" charset="0"/>
              </a:rPr>
              <a:t>Multiple linear regression</a:t>
            </a: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4694962" y="2549602"/>
            <a:ext cx="5973039" cy="89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 marL="0" indent="0">
              <a:buClr>
                <a:srgbClr val="0563C1"/>
              </a:buClr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Abadi" panose="020B0604020104020204" pitchFamily="34" charset="0"/>
              </a:rPr>
              <a:t>Regression Equation : Surface </a:t>
            </a:r>
          </a:p>
          <a:p>
            <a:pPr marL="257175" lvl="1" indent="0">
              <a:buNone/>
            </a:pPr>
            <a:r>
              <a:rPr lang="en-US" altLang="en-US" sz="1800" dirty="0">
                <a:latin typeface="Abadi" panose="020B0604020104020204" pitchFamily="34" charset="0"/>
              </a:rPr>
              <a:t>y =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latin typeface="Abadi" panose="020B0604020104020204" pitchFamily="34" charset="0"/>
              </a:rPr>
              <a:t>* X</a:t>
            </a:r>
            <a:r>
              <a:rPr lang="en-US" altLang="en-US" sz="1800" baseline="-25000" dirty="0">
                <a:latin typeface="Abadi" panose="020B0604020104020204" pitchFamily="34" charset="0"/>
              </a:rPr>
              <a:t>1</a:t>
            </a:r>
            <a:r>
              <a:rPr lang="en-US" altLang="en-US" sz="1800" dirty="0"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2 </a:t>
            </a:r>
            <a:r>
              <a:rPr lang="en-US" altLang="en-US" sz="1800" dirty="0">
                <a:latin typeface="Abadi" panose="020B0604020104020204" pitchFamily="34" charset="0"/>
              </a:rPr>
              <a:t>* X</a:t>
            </a:r>
            <a:r>
              <a:rPr lang="en-US" altLang="en-US" sz="1800" baseline="-25000" dirty="0">
                <a:latin typeface="Abadi" panose="020B0604020104020204" pitchFamily="34" charset="0"/>
              </a:rPr>
              <a:t>2</a:t>
            </a:r>
            <a:r>
              <a:rPr lang="en-US" altLang="en-US" sz="1800" dirty="0">
                <a:latin typeface="Abadi" panose="020B0604020104020204" pitchFamily="34" charset="0"/>
              </a:rPr>
              <a:t> + Error</a:t>
            </a:r>
            <a:endParaRPr lang="en-US" altLang="en-US" sz="1800" baseline="-25000" dirty="0">
              <a:latin typeface="Abadi" panose="020B0604020104020204" pitchFamily="34" charset="0"/>
            </a:endParaRPr>
          </a:p>
          <a:p>
            <a:pPr>
              <a:buClr>
                <a:srgbClr val="0563C1"/>
              </a:buClr>
            </a:pPr>
            <a:endParaRPr lang="en-US" altLang="en-US" sz="1575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775520" y="4516954"/>
            <a:ext cx="4932998" cy="1097114"/>
          </a:xfrm>
          <a:prstGeom prst="rect">
            <a:avLst/>
          </a:prstGeom>
          <a:noFill/>
          <a:ln w="31750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 marL="0" indent="0">
              <a:buClr>
                <a:srgbClr val="0563C1"/>
              </a:buClr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Abadi" panose="020B0604020104020204" pitchFamily="34" charset="0"/>
              </a:rPr>
              <a:t>More general Equation: multidimensional surface</a:t>
            </a:r>
          </a:p>
          <a:p>
            <a:pPr marL="257175" lvl="1" indent="0">
              <a:buNone/>
            </a:pP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y =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3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… 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 err="1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 err="1">
                <a:solidFill>
                  <a:prstClr val="black"/>
                </a:solidFill>
                <a:latin typeface="Abadi" panose="020B0604020104020204" pitchFamily="34" charset="0"/>
              </a:rPr>
              <a:t>p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Error</a:t>
            </a:r>
            <a:endParaRPr lang="en-US" altLang="en-US" sz="1800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0" indent="0">
              <a:buClr>
                <a:srgbClr val="0563C1"/>
              </a:buClr>
              <a:buNone/>
            </a:pPr>
            <a:endParaRPr lang="en-US" altLang="en-US" sz="1600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631505" y="678608"/>
            <a:ext cx="2942035" cy="2506694"/>
            <a:chOff x="765869" y="789171"/>
            <a:chExt cx="2942035" cy="2506694"/>
          </a:xfrm>
        </p:grpSpPr>
        <p:sp>
          <p:nvSpPr>
            <p:cNvPr id="3" name="Rectangle 2"/>
            <p:cNvSpPr/>
            <p:nvPr/>
          </p:nvSpPr>
          <p:spPr>
            <a:xfrm rot="5400000">
              <a:off x="793921" y="1713960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y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568" y="789171"/>
              <a:ext cx="2651336" cy="2369279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 rot="21165814">
              <a:off x="2785032" y="2957311"/>
              <a:ext cx="3561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x</a:t>
              </a:r>
              <a:r>
                <a:rPr lang="en-US" altLang="en-US" sz="1600" b="1" baseline="-25000" dirty="0">
                  <a:solidFill>
                    <a:prstClr val="black"/>
                  </a:solidFill>
                  <a:latin typeface="Abadi" panose="020B0604020104020204" pitchFamily="34" charset="0"/>
                </a:rPr>
                <a:t>1</a:t>
              </a:r>
              <a:endParaRPr lang="en-US" altLang="en-US" sz="1600" b="1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992604">
              <a:off x="1333244" y="2846059"/>
              <a:ext cx="3561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x</a:t>
              </a:r>
              <a:r>
                <a:rPr lang="en-US" altLang="en-US" sz="1600" b="1" baseline="-25000" dirty="0">
                  <a:solidFill>
                    <a:prstClr val="black"/>
                  </a:solidFill>
                  <a:latin typeface="Abadi" panose="020B0604020104020204" pitchFamily="34" charset="0"/>
                </a:rPr>
                <a:t>2</a:t>
              </a:r>
              <a:endParaRPr lang="en-US" altLang="en-US" sz="1600" b="1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6888089" y="4465347"/>
            <a:ext cx="51249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Abadi" panose="020B0604020104020204" pitchFamily="34" charset="0"/>
              </a:rPr>
              <a:t>Question:</a:t>
            </a:r>
          </a:p>
          <a:p>
            <a:r>
              <a:rPr lang="en-GB" sz="2400" b="1" dirty="0">
                <a:solidFill>
                  <a:srgbClr val="FF0000"/>
                </a:solidFill>
                <a:latin typeface="Abadi" panose="020B0604020104020204" pitchFamily="34" charset="0"/>
              </a:rPr>
              <a:t>Do you see any problem / Issue in this example?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930184" y="717707"/>
            <a:ext cx="417646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Same example but with x</a:t>
            </a:r>
            <a:r>
              <a:rPr lang="en-US" altLang="en-US" sz="24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</a:t>
            </a:r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:</a:t>
            </a:r>
          </a:p>
          <a:p>
            <a:endParaRPr lang="en-US" altLang="en-US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y  = Response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 = Predictor 1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 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= Predictor 1</a:t>
            </a:r>
          </a:p>
          <a:p>
            <a:endParaRPr lang="en-US" altLang="en-US" sz="2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1" y="5770680"/>
            <a:ext cx="5119159" cy="919125"/>
            <a:chOff x="0" y="5770679"/>
            <a:chExt cx="5119159" cy="91912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7530" y="5770679"/>
              <a:ext cx="3031629" cy="9191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0" name="Rectangle 9"/>
            <p:cNvSpPr/>
            <p:nvPr/>
          </p:nvSpPr>
          <p:spPr>
            <a:xfrm>
              <a:off x="0" y="6045576"/>
              <a:ext cx="193674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latin typeface="Abadi" panose="020B0604020104020204" pitchFamily="34" charset="0"/>
                </a:rPr>
                <a:t>Or in closed form 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800782" y="3909563"/>
            <a:ext cx="38186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If </a:t>
            </a:r>
            <a:r>
              <a:rPr lang="en-GB" sz="2400" b="1" dirty="0" err="1">
                <a:solidFill>
                  <a:srgbClr val="0070C0"/>
                </a:solidFill>
                <a:latin typeface="Abadi" panose="020B0604020104020204" pitchFamily="34" charset="0"/>
              </a:rPr>
              <a:t>nr</a:t>
            </a:r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. of variable= “p”, then  </a:t>
            </a:r>
          </a:p>
        </p:txBody>
      </p:sp>
    </p:spTree>
    <p:extLst>
      <p:ext uri="{BB962C8B-B14F-4D97-AF65-F5344CB8AC3E}">
        <p14:creationId xmlns:p14="http://schemas.microsoft.com/office/powerpoint/2010/main" val="202713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83832" y="260648"/>
            <a:ext cx="3600400" cy="72008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Multicollinearity</a:t>
            </a:r>
            <a:endParaRPr lang="nl-NL" altLang="en-US" sz="3600" b="1" dirty="0">
              <a:latin typeface="Abadi" panose="020B0604020104020204" pitchFamily="34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223" y="1124744"/>
            <a:ext cx="11752977" cy="5517232"/>
          </a:xfrm>
        </p:spPr>
        <p:txBody>
          <a:bodyPr>
            <a:noAutofit/>
          </a:bodyPr>
          <a:lstStyle/>
          <a:p>
            <a:r>
              <a:rPr lang="en-US" altLang="en-US" sz="2400" dirty="0">
                <a:latin typeface="Abadi" panose="020B0604020104020204" pitchFamily="34" charset="0"/>
              </a:rPr>
              <a:t>X</a:t>
            </a:r>
            <a:r>
              <a:rPr lang="en-US" altLang="en-US" sz="2400" b="1" baseline="-25000" dirty="0">
                <a:latin typeface="Abadi" panose="020B0604020104020204" pitchFamily="34" charset="0"/>
              </a:rPr>
              <a:t>1 </a:t>
            </a:r>
            <a:r>
              <a:rPr lang="en-US" altLang="en-US" sz="2400" dirty="0">
                <a:latin typeface="Abadi" panose="020B0604020104020204" pitchFamily="34" charset="0"/>
              </a:rPr>
              <a:t>and X</a:t>
            </a:r>
            <a:r>
              <a:rPr lang="en-US" altLang="en-US" sz="2400" b="1" baseline="-25000" dirty="0">
                <a:latin typeface="Abadi" panose="020B0604020104020204" pitchFamily="34" charset="0"/>
              </a:rPr>
              <a:t>2</a:t>
            </a:r>
            <a:r>
              <a:rPr lang="en-US" altLang="en-US" sz="2400" dirty="0">
                <a:latin typeface="Abadi" panose="020B0604020104020204" pitchFamily="34" charset="0"/>
              </a:rPr>
              <a:t>might be correlated</a:t>
            </a:r>
          </a:p>
          <a:p>
            <a:r>
              <a:rPr lang="en-US" altLang="en-US" sz="2400" dirty="0">
                <a:latin typeface="Abadi" panose="020B0604020104020204" pitchFamily="34" charset="0"/>
              </a:rPr>
              <a:t>Exact or near linear relationships between the x variables</a:t>
            </a:r>
          </a:p>
          <a:p>
            <a:r>
              <a:rPr lang="en-US" altLang="en-US" sz="2400" dirty="0">
                <a:latin typeface="Abadi" panose="020B0604020104020204" pitchFamily="34" charset="0"/>
              </a:rPr>
              <a:t>Also called as : collinearity, near-collinearity or ill-conditioning</a:t>
            </a:r>
          </a:p>
          <a:p>
            <a:pPr marL="0" indent="0">
              <a:buNone/>
            </a:pPr>
            <a:endParaRPr lang="en-US" altLang="en-US" sz="2400" b="1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What are the consequences? 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Regression coefficients 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Unstable (sensitive to small changes)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Not uniquely defined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Have high variance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Coefficients can get the wrong sign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Absolute values of regression coefficients can be absurdly high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Impossible to interpret individually</a:t>
            </a:r>
          </a:p>
          <a:p>
            <a:pPr lvl="1"/>
            <a:r>
              <a:rPr lang="en-US" altLang="en-US" sz="2600" dirty="0">
                <a:latin typeface="Abadi" panose="020B0604020104020204" pitchFamily="34" charset="0"/>
              </a:rPr>
              <a:t>Relative importance of variables cannot be estimated reliably</a:t>
            </a:r>
            <a:endParaRPr lang="en-US" altLang="en-US" sz="2600" noProof="1">
              <a:latin typeface="Abadi" panose="020B0604020104020204" pitchFamily="34" charset="0"/>
            </a:endParaRPr>
          </a:p>
          <a:p>
            <a:pPr marL="342900" lvl="1" indent="0">
              <a:buNone/>
            </a:pPr>
            <a:endParaRPr lang="en-US" altLang="en-US" dirty="0"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altLang="en-US" sz="2400" dirty="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222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9023" y="997203"/>
            <a:ext cx="2777672" cy="257865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rgbClr val="0070C0"/>
                </a:solidFill>
                <a:latin typeface="Abadi" panose="020B0604020104020204" pitchFamily="34" charset="0"/>
              </a:rPr>
              <a:t>Bouncing betas</a:t>
            </a:r>
          </a:p>
        </p:txBody>
      </p:sp>
      <p:pic>
        <p:nvPicPr>
          <p:cNvPr id="77828" name="Picture 4" descr="neuralnet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1340768"/>
            <a:ext cx="7718798" cy="484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927648" y="44624"/>
            <a:ext cx="6824986" cy="112474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prstClr val="black"/>
                </a:solidFill>
                <a:latin typeface="Abadi" panose="020B0604020104020204" pitchFamily="34" charset="0"/>
              </a:rPr>
              <a:t>Consequences of Multicollinearity</a:t>
            </a:r>
            <a:br>
              <a:rPr lang="nl-NL" altLang="en-US" sz="3600" b="1" dirty="0">
                <a:solidFill>
                  <a:prstClr val="black"/>
                </a:solidFill>
                <a:latin typeface="Abadi" panose="020B0604020104020204" pitchFamily="34" charset="0"/>
              </a:rPr>
            </a:br>
            <a:endParaRPr lang="en-US" altLang="en-US" sz="3600" b="1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9023" y="6167045"/>
            <a:ext cx="116439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>
                <a:latin typeface="Abadi" panose="020B0604020104020204" pitchFamily="34" charset="0"/>
              </a:rPr>
              <a:t>The Elements of Statistical Learning: Data Mining, Inference, and Prediction ; Trevor Hastie, Robert </a:t>
            </a:r>
            <a:r>
              <a:rPr lang="en-GB" i="1" dirty="0" err="1">
                <a:latin typeface="Abadi" panose="020B0604020104020204" pitchFamily="34" charset="0"/>
              </a:rPr>
              <a:t>Tibshirani</a:t>
            </a:r>
            <a:r>
              <a:rPr lang="en-GB" i="1" dirty="0">
                <a:latin typeface="Abadi" panose="020B0604020104020204" pitchFamily="34" charset="0"/>
              </a:rPr>
              <a:t>, Jerome Friedman</a:t>
            </a:r>
          </a:p>
        </p:txBody>
      </p:sp>
    </p:spTree>
    <p:extLst>
      <p:ext uri="{BB962C8B-B14F-4D97-AF65-F5344CB8AC3E}">
        <p14:creationId xmlns:p14="http://schemas.microsoft.com/office/powerpoint/2010/main" val="952233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3006" y="1088740"/>
            <a:ext cx="10872132" cy="4680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Always occurs when </a:t>
            </a:r>
          </a:p>
          <a:p>
            <a:pPr lvl="1"/>
            <a:r>
              <a:rPr lang="en-US" altLang="en-US" sz="2000" dirty="0">
                <a:latin typeface="Abadi" panose="020B0604020104020204" pitchFamily="34" charset="0"/>
              </a:rPr>
              <a:t>More variables (p) than objects (n) (p&gt;n)</a:t>
            </a:r>
          </a:p>
          <a:p>
            <a:r>
              <a:rPr lang="en-US" altLang="en-US" sz="2000" dirty="0">
                <a:latin typeface="Abadi" panose="020B0604020104020204" pitchFamily="34" charset="0"/>
              </a:rPr>
              <a:t>Therefore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Normal multiple linear regression not possible !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Traditional solutions</a:t>
            </a:r>
            <a:endParaRPr lang="en-US" altLang="en-US" sz="24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r>
              <a:rPr lang="en-US" altLang="en-US" sz="2000" dirty="0">
                <a:latin typeface="Abadi" panose="020B0604020104020204" pitchFamily="34" charset="0"/>
              </a:rPr>
              <a:t>Collect more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Takes lots of time, money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Sometime  impossible because of logistics (Project plan)</a:t>
            </a:r>
          </a:p>
          <a:p>
            <a:r>
              <a:rPr lang="en-US" altLang="en-US" sz="2000" dirty="0">
                <a:latin typeface="Abadi" panose="020B0604020104020204" pitchFamily="34" charset="0"/>
              </a:rPr>
              <a:t>Use a set of variables </a:t>
            </a:r>
            <a:r>
              <a:rPr lang="en-US" altLang="en-US" sz="2000" dirty="0" err="1">
                <a:latin typeface="Abadi" panose="020B0604020104020204" pitchFamily="34" charset="0"/>
              </a:rPr>
              <a:t>p</a:t>
            </a:r>
            <a:r>
              <a:rPr lang="en-US" altLang="en-US" sz="2000" baseline="-25000" dirty="0" err="1">
                <a:latin typeface="Abadi" panose="020B0604020104020204" pitchFamily="34" charset="0"/>
              </a:rPr>
              <a:t>subset</a:t>
            </a:r>
            <a:r>
              <a:rPr lang="en-US" altLang="en-US" sz="2000" dirty="0">
                <a:latin typeface="Abadi" panose="020B0604020104020204" pitchFamily="34" charset="0"/>
              </a:rPr>
              <a:t> &lt; 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Filter on quality criteria: ok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Still p &gt;&gt; 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badi" panose="020B0604020104020204" pitchFamily="34" charset="0"/>
              </a:rPr>
              <a:t>Do not want to remove more if not known whether important</a:t>
            </a:r>
          </a:p>
          <a:p>
            <a:pPr marL="257175" lvl="1" indent="0">
              <a:buNone/>
            </a:pPr>
            <a:endParaRPr lang="en-US" altLang="en-US" dirty="0">
              <a:latin typeface="Abadi" panose="020B0604020104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392163" y="99854"/>
            <a:ext cx="3292153" cy="648072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latin typeface="Abadi" panose="020B0604020104020204" pitchFamily="34" charset="0"/>
              </a:rPr>
              <a:t>Multicollinearity</a:t>
            </a:r>
            <a:endParaRPr lang="nl-NL" altLang="en-US" sz="3200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54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3719737" y="260648"/>
            <a:ext cx="4757713" cy="720080"/>
          </a:xfrm>
        </p:spPr>
        <p:txBody>
          <a:bodyPr>
            <a:no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Also possible solutions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7353" y="1774907"/>
            <a:ext cx="9410497" cy="348499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>
                <a:latin typeface="Abadi" panose="020B0604020104020204" pitchFamily="34" charset="0"/>
              </a:rPr>
              <a:t>Use selected variables based on </a:t>
            </a:r>
            <a:r>
              <a:rPr lang="en-US" altLang="en-US" dirty="0">
                <a:solidFill>
                  <a:srgbClr val="0070C0"/>
                </a:solidFill>
                <a:latin typeface="Abadi" panose="020B0604020104020204" pitchFamily="34" charset="0"/>
              </a:rPr>
              <a:t>“some”  </a:t>
            </a:r>
            <a:r>
              <a:rPr lang="en-US" altLang="en-US" dirty="0">
                <a:latin typeface="Abadi" panose="020B0604020104020204" pitchFamily="34" charset="0"/>
              </a:rPr>
              <a:t>criteria </a:t>
            </a:r>
          </a:p>
          <a:p>
            <a:r>
              <a:rPr lang="en-US" altLang="en-US" dirty="0">
                <a:latin typeface="Abadi" panose="020B0604020104020204" pitchFamily="34" charset="0"/>
              </a:rPr>
              <a:t>Filter first on univariate methods (t-test, correlation, ANOVA)</a:t>
            </a:r>
          </a:p>
          <a:p>
            <a:pPr lvl="1"/>
            <a:r>
              <a:rPr lang="en-US" altLang="en-US" sz="2800" dirty="0">
                <a:latin typeface="Abadi" panose="020B0604020104020204" pitchFamily="34" charset="0"/>
              </a:rPr>
              <a:t>Problem</a:t>
            </a:r>
          </a:p>
          <a:p>
            <a:pPr lvl="2"/>
            <a:r>
              <a:rPr lang="en-US" altLang="en-US" sz="2800" dirty="0">
                <a:latin typeface="Abadi" panose="020B0604020104020204" pitchFamily="34" charset="0"/>
              </a:rPr>
              <a:t>Assumption is variables are independent</a:t>
            </a:r>
          </a:p>
          <a:p>
            <a:pPr lvl="2"/>
            <a:r>
              <a:rPr lang="en-US" altLang="en-US" sz="2800" dirty="0">
                <a:latin typeface="Abadi" panose="020B0604020104020204" pitchFamily="34" charset="0"/>
              </a:rPr>
              <a:t>Multiple testing </a:t>
            </a:r>
          </a:p>
          <a:p>
            <a:pPr lvl="1"/>
            <a:endParaRPr lang="en-US" altLang="en-US" sz="2800" dirty="0">
              <a:latin typeface="Abadi" panose="020B0604020104020204" pitchFamily="34" charset="0"/>
            </a:endParaRPr>
          </a:p>
          <a:p>
            <a:r>
              <a:rPr lang="en-US" altLang="en-US" dirty="0">
                <a:latin typeface="Abadi" panose="020B0604020104020204" pitchFamily="34" charset="0"/>
              </a:rPr>
              <a:t>Dimension reduction (PCA, clustering)</a:t>
            </a:r>
          </a:p>
          <a:p>
            <a:r>
              <a:rPr lang="en-US" altLang="en-US" dirty="0">
                <a:latin typeface="Abadi" panose="020B0604020104020204" pitchFamily="34" charset="0"/>
              </a:rPr>
              <a:t>Machine learning methods</a:t>
            </a:r>
          </a:p>
          <a:p>
            <a:r>
              <a:rPr lang="en-US" altLang="en-US" dirty="0">
                <a:latin typeface="Abadi" panose="020B0604020104020204" pitchFamily="34" charset="0"/>
              </a:rPr>
              <a:t>Penalized methods</a:t>
            </a:r>
          </a:p>
          <a:p>
            <a:pPr marL="0" indent="0">
              <a:buNone/>
            </a:pPr>
            <a:endParaRPr lang="en-US" altLang="en-US" sz="1800" dirty="0">
              <a:latin typeface="Abadi" panose="020B0604020104020204" pitchFamily="34" charset="0"/>
            </a:endParaRPr>
          </a:p>
          <a:p>
            <a:pPr marL="257175" lvl="1" indent="0">
              <a:buNone/>
            </a:pPr>
            <a:endParaRPr lang="en-US" alt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897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0785" y="2276871"/>
            <a:ext cx="11249637" cy="2605521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y-NL" b="1" dirty="0">
                <a:latin typeface="Abadi" panose="020B0604020104020204" pitchFamily="34" charset="0"/>
              </a:rPr>
              <a:t>Penalization / Regularaization/</a:t>
            </a:r>
            <a:r>
              <a:rPr lang="en-US" altLang="en-US" b="1" dirty="0">
                <a:latin typeface="Abadi" panose="020B0604020104020204" pitchFamily="34" charset="0"/>
              </a:rPr>
              <a:t> Sparse/ Shrinkage</a:t>
            </a:r>
            <a:r>
              <a:rPr lang="fy-NL" b="1" dirty="0">
                <a:latin typeface="Abadi" panose="020B0604020104020204" pitchFamily="34" charset="0"/>
              </a:rPr>
              <a:t>  methods </a:t>
            </a:r>
            <a:br>
              <a:rPr lang="fy-NL" b="1" dirty="0">
                <a:latin typeface="Abadi" panose="020B0604020104020204" pitchFamily="34" charset="0"/>
              </a:rPr>
            </a:br>
            <a:r>
              <a:rPr lang="en-GB" sz="4400" b="0" i="0" u="none" strike="noStrike" baseline="0" dirty="0">
                <a:latin typeface="Abadi" panose="020B0604020104020204" pitchFamily="34" charset="0"/>
              </a:rPr>
              <a:t>Lasso, Ridge and Elastic Net</a:t>
            </a:r>
            <a:br>
              <a:rPr lang="en-GB" sz="4400" b="0" i="0" u="none" strike="noStrike" baseline="0" dirty="0">
                <a:latin typeface="Abadi" panose="020B0604020104020204" pitchFamily="34" charset="0"/>
              </a:rPr>
            </a:br>
            <a:endParaRPr lang="fy-NL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4793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2595896" y="-24567"/>
            <a:ext cx="7528221" cy="673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1pPr>
            <a:lvl2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2pPr>
            <a:lvl3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3pPr>
            <a:lvl4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4pPr>
            <a:lvl5pPr>
              <a:lnSpc>
                <a:spcPct val="120000"/>
              </a:lnSpc>
              <a:spcBef>
                <a:spcPct val="0"/>
              </a:spcBef>
              <a:defRPr sz="3200">
                <a:solidFill>
                  <a:schemeClr val="tx1"/>
                </a:solidFill>
                <a:latin typeface="News Gothic" pitchFamily="34" charset="0"/>
              </a:defRPr>
            </a:lvl5pPr>
            <a:lvl6pPr marL="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6pPr>
            <a:lvl7pPr marL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7pPr>
            <a:lvl8pPr marL="1371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8pPr>
            <a:lvl9pPr marL="18288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r>
              <a:rPr lang="en-US" altLang="en-US" sz="3600" b="1" dirty="0">
                <a:solidFill>
                  <a:prstClr val="black"/>
                </a:solidFill>
                <a:latin typeface="Abadi" panose="020B0604020104020204" pitchFamily="34" charset="0"/>
              </a:rPr>
              <a:t>Recollect: Multiple linear regression</a:t>
            </a:r>
          </a:p>
        </p:txBody>
      </p:sp>
      <p:sp>
        <p:nvSpPr>
          <p:cNvPr id="97285" name="Rectangle 5"/>
          <p:cNvSpPr>
            <a:spLocks noChangeArrowheads="1"/>
          </p:cNvSpPr>
          <p:nvPr/>
        </p:nvSpPr>
        <p:spPr bwMode="auto">
          <a:xfrm>
            <a:off x="4694962" y="2549602"/>
            <a:ext cx="5973039" cy="89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 marL="0" indent="0">
              <a:buClr>
                <a:srgbClr val="0563C1"/>
              </a:buClr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Abadi" panose="020B0604020104020204" pitchFamily="34" charset="0"/>
              </a:rPr>
              <a:t>Regression Equation : Surface </a:t>
            </a:r>
          </a:p>
          <a:p>
            <a:pPr marL="257175" lvl="1" indent="0">
              <a:buNone/>
            </a:pPr>
            <a:r>
              <a:rPr lang="en-US" altLang="en-US" sz="1800" dirty="0">
                <a:latin typeface="Abadi" panose="020B0604020104020204" pitchFamily="34" charset="0"/>
              </a:rPr>
              <a:t>y =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latin typeface="Abadi" panose="020B0604020104020204" pitchFamily="34" charset="0"/>
              </a:rPr>
              <a:t>* X</a:t>
            </a:r>
            <a:r>
              <a:rPr lang="en-US" altLang="en-US" sz="1800" baseline="-25000" dirty="0">
                <a:latin typeface="Abadi" panose="020B0604020104020204" pitchFamily="34" charset="0"/>
              </a:rPr>
              <a:t>1</a:t>
            </a:r>
            <a:r>
              <a:rPr lang="en-US" altLang="en-US" sz="1800" dirty="0"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latin typeface="Abadi" panose="020B0604020104020204" pitchFamily="34" charset="0"/>
                <a:sym typeface="Symbol" panose="05050102010706020507" pitchFamily="18" charset="2"/>
              </a:rPr>
              <a:t>2 </a:t>
            </a:r>
            <a:r>
              <a:rPr lang="en-US" altLang="en-US" sz="1800" dirty="0">
                <a:latin typeface="Abadi" panose="020B0604020104020204" pitchFamily="34" charset="0"/>
              </a:rPr>
              <a:t>* X</a:t>
            </a:r>
            <a:r>
              <a:rPr lang="en-US" altLang="en-US" sz="1800" baseline="-25000" dirty="0">
                <a:latin typeface="Abadi" panose="020B0604020104020204" pitchFamily="34" charset="0"/>
              </a:rPr>
              <a:t>2</a:t>
            </a:r>
            <a:r>
              <a:rPr lang="en-US" altLang="en-US" sz="1800" dirty="0">
                <a:latin typeface="Abadi" panose="020B0604020104020204" pitchFamily="34" charset="0"/>
              </a:rPr>
              <a:t> + Error</a:t>
            </a:r>
            <a:endParaRPr lang="en-US" altLang="en-US" sz="1800" baseline="-25000" dirty="0">
              <a:latin typeface="Abadi" panose="020B0604020104020204" pitchFamily="34" charset="0"/>
            </a:endParaRPr>
          </a:p>
          <a:p>
            <a:pPr>
              <a:buClr>
                <a:srgbClr val="0563C1"/>
              </a:buClr>
            </a:pPr>
            <a:endParaRPr lang="en-US" altLang="en-US" sz="1575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775520" y="4516954"/>
            <a:ext cx="4932998" cy="1097114"/>
          </a:xfrm>
          <a:prstGeom prst="rect">
            <a:avLst/>
          </a:prstGeom>
          <a:noFill/>
          <a:ln w="31750">
            <a:solidFill>
              <a:srgbClr val="703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4C78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342900" indent="-342900">
              <a:spcBef>
                <a:spcPct val="0"/>
              </a:spcBef>
              <a:spcAft>
                <a:spcPct val="2000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News Gothic" pitchFamily="34" charset="0"/>
              </a:defRPr>
            </a:lvl1pPr>
            <a:lvl2pPr marL="742950" indent="-285750">
              <a:spcBef>
                <a:spcPct val="0"/>
              </a:spcBef>
              <a:spcAft>
                <a:spcPct val="20000"/>
              </a:spcAft>
              <a:buClr>
                <a:srgbClr val="80BA64"/>
              </a:buClr>
              <a:buSzPct val="75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News Gothic" pitchFamily="34" charset="0"/>
              </a:defRPr>
            </a:lvl2pPr>
            <a:lvl3pPr marL="1143000" indent="-228600">
              <a:spcBef>
                <a:spcPct val="0"/>
              </a:spcBef>
              <a:spcAft>
                <a:spcPct val="20000"/>
              </a:spcAft>
              <a:buChar char="•"/>
              <a:defRPr>
                <a:solidFill>
                  <a:schemeClr val="tx1"/>
                </a:solidFill>
                <a:latin typeface="News Gothic" pitchFamily="34" charset="0"/>
              </a:defRPr>
            </a:lvl3pPr>
            <a:lvl4pPr marL="1600200" indent="-228600">
              <a:spcBef>
                <a:spcPct val="0"/>
              </a:spcBef>
              <a:spcAft>
                <a:spcPct val="20000"/>
              </a:spcAft>
              <a:buChar char="–"/>
              <a:defRPr>
                <a:solidFill>
                  <a:schemeClr val="tx1"/>
                </a:solidFill>
                <a:latin typeface="News Gothic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News Gothic" pitchFamily="34" charset="0"/>
              </a:defRPr>
            </a:lvl9pPr>
          </a:lstStyle>
          <a:p>
            <a:pPr marL="0" indent="0">
              <a:buClr>
                <a:srgbClr val="0563C1"/>
              </a:buClr>
              <a:buNone/>
            </a:pPr>
            <a:r>
              <a:rPr lang="en-US" altLang="en-US" sz="1800" b="1" dirty="0">
                <a:solidFill>
                  <a:prstClr val="black"/>
                </a:solidFill>
                <a:latin typeface="Abadi" panose="020B0604020104020204" pitchFamily="34" charset="0"/>
              </a:rPr>
              <a:t>More general Equation: multidimensional surface</a:t>
            </a:r>
          </a:p>
          <a:p>
            <a:pPr marL="257175" lvl="1" indent="0">
              <a:buNone/>
            </a:pP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y =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0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3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… + </a:t>
            </a:r>
            <a:r>
              <a:rPr lang="en-AU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</a:t>
            </a:r>
            <a:r>
              <a:rPr lang="en-AU" altLang="en-US" sz="1800" baseline="-250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1800" dirty="0" err="1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1800" baseline="-25000" dirty="0" err="1">
                <a:solidFill>
                  <a:prstClr val="black"/>
                </a:solidFill>
                <a:latin typeface="Abadi" panose="020B0604020104020204" pitchFamily="34" charset="0"/>
              </a:rPr>
              <a:t>p</a:t>
            </a:r>
            <a:r>
              <a:rPr lang="en-US" altLang="en-US" sz="1800" dirty="0">
                <a:solidFill>
                  <a:prstClr val="black"/>
                </a:solidFill>
                <a:latin typeface="Abadi" panose="020B0604020104020204" pitchFamily="34" charset="0"/>
              </a:rPr>
              <a:t>+ Error</a:t>
            </a:r>
            <a:endParaRPr lang="en-US" altLang="en-US" sz="1800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0" indent="0">
              <a:buClr>
                <a:srgbClr val="0563C1"/>
              </a:buClr>
              <a:buNone/>
            </a:pPr>
            <a:endParaRPr lang="en-US" altLang="en-US" sz="1600" baseline="-25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631505" y="678608"/>
            <a:ext cx="2942035" cy="2506694"/>
            <a:chOff x="765869" y="789171"/>
            <a:chExt cx="2942035" cy="2506694"/>
          </a:xfrm>
        </p:grpSpPr>
        <p:sp>
          <p:nvSpPr>
            <p:cNvPr id="3" name="Rectangle 2"/>
            <p:cNvSpPr/>
            <p:nvPr/>
          </p:nvSpPr>
          <p:spPr>
            <a:xfrm rot="5400000">
              <a:off x="793921" y="1713960"/>
              <a:ext cx="28245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y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568" y="789171"/>
              <a:ext cx="2651336" cy="2369279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 rot="21165814">
              <a:off x="2785032" y="2957311"/>
              <a:ext cx="3561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x</a:t>
              </a:r>
              <a:r>
                <a:rPr lang="en-US" altLang="en-US" sz="1600" b="1" baseline="-25000" dirty="0">
                  <a:solidFill>
                    <a:prstClr val="black"/>
                  </a:solidFill>
                  <a:latin typeface="Abadi" panose="020B0604020104020204" pitchFamily="34" charset="0"/>
                </a:rPr>
                <a:t>1</a:t>
              </a:r>
              <a:endParaRPr lang="en-US" altLang="en-US" sz="1600" b="1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992604">
              <a:off x="1333244" y="2846059"/>
              <a:ext cx="3561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1600" b="1" dirty="0">
                  <a:solidFill>
                    <a:prstClr val="black"/>
                  </a:solidFill>
                  <a:latin typeface="Abadi" panose="020B0604020104020204" pitchFamily="34" charset="0"/>
                </a:rPr>
                <a:t>x</a:t>
              </a:r>
              <a:r>
                <a:rPr lang="en-US" altLang="en-US" sz="1600" b="1" baseline="-25000" dirty="0">
                  <a:solidFill>
                    <a:prstClr val="black"/>
                  </a:solidFill>
                  <a:latin typeface="Abadi" panose="020B0604020104020204" pitchFamily="34" charset="0"/>
                </a:rPr>
                <a:t>2</a:t>
              </a:r>
              <a:endParaRPr lang="en-US" altLang="en-US" sz="1600" b="1" dirty="0">
                <a:solidFill>
                  <a:prstClr val="black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6888089" y="4465347"/>
            <a:ext cx="52172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Abadi" panose="020B0604020104020204" pitchFamily="34" charset="0"/>
              </a:rPr>
              <a:t>Question:</a:t>
            </a:r>
          </a:p>
          <a:p>
            <a:r>
              <a:rPr lang="en-GB" sz="2400" b="1" dirty="0">
                <a:solidFill>
                  <a:srgbClr val="FF0000"/>
                </a:solidFill>
                <a:latin typeface="Abadi" panose="020B0604020104020204" pitchFamily="34" charset="0"/>
              </a:rPr>
              <a:t>Do you see any problem / Issue in this example?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4930184" y="717707"/>
            <a:ext cx="4176464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Same example but with x</a:t>
            </a:r>
            <a:r>
              <a:rPr lang="en-US" altLang="en-US" sz="24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</a:t>
            </a:r>
            <a:r>
              <a:rPr lang="en-US" altLang="en-US" sz="2400" dirty="0">
                <a:solidFill>
                  <a:prstClr val="black"/>
                </a:solidFill>
                <a:latin typeface="Abadi" panose="020B0604020104020204" pitchFamily="34" charset="0"/>
              </a:rPr>
              <a:t>:</a:t>
            </a:r>
          </a:p>
          <a:p>
            <a:endParaRPr lang="en-US" altLang="en-US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y  = Response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1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 = Predictor 1</a:t>
            </a:r>
          </a:p>
          <a:p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x</a:t>
            </a:r>
            <a:r>
              <a:rPr lang="en-US" altLang="en-US" sz="2000" baseline="-25000" dirty="0">
                <a:solidFill>
                  <a:prstClr val="black"/>
                </a:solidFill>
                <a:latin typeface="Abadi" panose="020B0604020104020204" pitchFamily="34" charset="0"/>
              </a:rPr>
              <a:t>2 </a:t>
            </a:r>
            <a:r>
              <a:rPr lang="en-US" altLang="en-US" sz="2000" dirty="0">
                <a:solidFill>
                  <a:prstClr val="black"/>
                </a:solidFill>
                <a:latin typeface="Abadi" panose="020B0604020104020204" pitchFamily="34" charset="0"/>
              </a:rPr>
              <a:t>= Predictor 1</a:t>
            </a:r>
          </a:p>
          <a:p>
            <a:endParaRPr lang="en-US" altLang="en-US" sz="2000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1" y="5770680"/>
            <a:ext cx="5119159" cy="919125"/>
            <a:chOff x="0" y="5770679"/>
            <a:chExt cx="5119159" cy="91912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7530" y="5770679"/>
              <a:ext cx="3031629" cy="9191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0" name="Rectangle 9"/>
            <p:cNvSpPr/>
            <p:nvPr/>
          </p:nvSpPr>
          <p:spPr>
            <a:xfrm>
              <a:off x="0" y="6045576"/>
              <a:ext cx="193674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latin typeface="Abadi" panose="020B0604020104020204" pitchFamily="34" charset="0"/>
                </a:rPr>
                <a:t>Or in closed form 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800782" y="3909563"/>
            <a:ext cx="38186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If </a:t>
            </a:r>
            <a:r>
              <a:rPr lang="en-GB" sz="2400" b="1" dirty="0" err="1">
                <a:solidFill>
                  <a:srgbClr val="0070C0"/>
                </a:solidFill>
                <a:latin typeface="Abadi" panose="020B0604020104020204" pitchFamily="34" charset="0"/>
              </a:rPr>
              <a:t>nr</a:t>
            </a:r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. of variable= “p”, then  </a:t>
            </a:r>
          </a:p>
        </p:txBody>
      </p:sp>
    </p:spTree>
    <p:extLst>
      <p:ext uri="{BB962C8B-B14F-4D97-AF65-F5344CB8AC3E}">
        <p14:creationId xmlns:p14="http://schemas.microsoft.com/office/powerpoint/2010/main" val="142878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6796" y="6561887"/>
            <a:ext cx="101898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latin typeface="Abadi" panose="020B0604020104020204" pitchFamily="34" charset="0"/>
              </a:rPr>
              <a:t>Hastie et al.(2009), The Elements of Statistical Learning: Data Mining, Inference, and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600938" y="158425"/>
            <a:ext cx="72885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>
                <a:latin typeface="Abadi" panose="020B0604020104020204" pitchFamily="34" charset="0"/>
              </a:rPr>
              <a:t>Bias, Variance and Model Complexity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991544" y="2636912"/>
            <a:ext cx="8043082" cy="3055378"/>
            <a:chOff x="395536" y="1340768"/>
            <a:chExt cx="8043082" cy="305537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9197" y="1443818"/>
              <a:ext cx="3789421" cy="2952328"/>
            </a:xfrm>
            <a:prstGeom prst="rect">
              <a:avLst/>
            </a:prstGeom>
          </p:spPr>
        </p:pic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536" y="1340768"/>
              <a:ext cx="3600400" cy="3051186"/>
            </a:xfrm>
            <a:prstGeom prst="rect">
              <a:avLst/>
            </a:prstGeom>
          </p:spPr>
        </p:pic>
      </p:grpSp>
      <p:sp>
        <p:nvSpPr>
          <p:cNvPr id="7" name="Rectangle 6"/>
          <p:cNvSpPr/>
          <p:nvPr/>
        </p:nvSpPr>
        <p:spPr>
          <a:xfrm>
            <a:off x="2351585" y="1342953"/>
            <a:ext cx="58961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  <a:latin typeface="Abadi" panose="020B0604020104020204" pitchFamily="34" charset="0"/>
              </a:rPr>
              <a:t>Model Complexity = Bias + Variance </a:t>
            </a:r>
          </a:p>
        </p:txBody>
      </p:sp>
    </p:spTree>
    <p:extLst>
      <p:ext uri="{BB962C8B-B14F-4D97-AF65-F5344CB8AC3E}">
        <p14:creationId xmlns:p14="http://schemas.microsoft.com/office/powerpoint/2010/main" val="3273251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185A03-31D1-4A94-9431-DD8C5DAE2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352" y="798070"/>
            <a:ext cx="9274920" cy="58716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22F2EA5-3F58-4190-806A-3FC97A8096D1}"/>
              </a:ext>
            </a:extLst>
          </p:cNvPr>
          <p:cNvGrpSpPr/>
          <p:nvPr/>
        </p:nvGrpSpPr>
        <p:grpSpPr>
          <a:xfrm>
            <a:off x="75415" y="1157681"/>
            <a:ext cx="12100420" cy="5711493"/>
            <a:chOff x="75415" y="1157681"/>
            <a:chExt cx="12100420" cy="57114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AB9DBCB-0966-49F8-AE77-CA93BFA7F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9856" y="3816414"/>
              <a:ext cx="1845406" cy="14077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229DFCD-5026-4F7A-9724-35D6E2BDE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8550" y="1157681"/>
              <a:ext cx="1881359" cy="147630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496853-3A3D-4362-BD15-2CF5C17D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6389" y="1228264"/>
              <a:ext cx="1961600" cy="140572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DE78F5-5DF1-4D61-BA56-D51D847F299C}"/>
                </a:ext>
              </a:extLst>
            </p:cNvPr>
            <p:cNvSpPr txBox="1"/>
            <p:nvPr/>
          </p:nvSpPr>
          <p:spPr>
            <a:xfrm>
              <a:off x="75415" y="6161289"/>
              <a:ext cx="381785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b="0" i="0" dirty="0">
                  <a:effectLst/>
                  <a:latin typeface="Abadi" panose="020B0604020104020204" pitchFamily="34" charset="0"/>
                </a:rPr>
                <a:t>A line that captures a general direction but does not capture many of the points. </a:t>
              </a:r>
              <a:endParaRPr lang="en-GB" sz="1600" dirty="0">
                <a:latin typeface="Abadi" panose="020B0604020104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FD4288-CF54-4372-B4AD-6991E8D586FB}"/>
                </a:ext>
              </a:extLst>
            </p:cNvPr>
            <p:cNvSpPr txBox="1"/>
            <p:nvPr/>
          </p:nvSpPr>
          <p:spPr>
            <a:xfrm>
              <a:off x="3893271" y="6038177"/>
              <a:ext cx="365865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b="0" i="0" dirty="0">
                  <a:effectLst/>
                  <a:latin typeface="Abadi" panose="020B0604020104020204" pitchFamily="34" charset="0"/>
                </a:rPr>
                <a:t> A line that captures the general direction of the points but might not capture every point in the graph</a:t>
              </a:r>
              <a:endParaRPr lang="en-GB" sz="1600" dirty="0">
                <a:latin typeface="Abadi" panose="020B060402010402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A89592-6DA7-4178-A734-789C59FA510B}"/>
                </a:ext>
              </a:extLst>
            </p:cNvPr>
            <p:cNvSpPr txBox="1"/>
            <p:nvPr/>
          </p:nvSpPr>
          <p:spPr>
            <a:xfrm>
              <a:off x="10043461" y="1515627"/>
              <a:ext cx="213237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dirty="0">
                  <a:latin typeface="Abadi" panose="020B0604020104020204" pitchFamily="34" charset="0"/>
                </a:rPr>
                <a:t>A</a:t>
              </a:r>
              <a:r>
                <a:rPr lang="en-GB" sz="1600" b="0" i="0" dirty="0">
                  <a:effectLst/>
                  <a:latin typeface="Abadi" panose="020B0604020104020204" pitchFamily="34" charset="0"/>
                </a:rPr>
                <a:t> line that captures every single point in the graph</a:t>
              </a:r>
              <a:endParaRPr lang="en-GB" sz="1600" dirty="0"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168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45AD-10DD-4D66-99EF-4361F4DC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3281"/>
          </a:xfrm>
        </p:spPr>
        <p:txBody>
          <a:bodyPr>
            <a:normAutofit/>
          </a:bodyPr>
          <a:lstStyle/>
          <a:p>
            <a:pPr algn="ctr"/>
            <a:r>
              <a:rPr lang="en-GB" sz="3600" b="1" i="0" dirty="0">
                <a:effectLst/>
                <a:latin typeface="Abadi" panose="020B0604020104020204" pitchFamily="34" charset="0"/>
              </a:rPr>
              <a:t>Why is regularization important?</a:t>
            </a:r>
            <a:br>
              <a:rPr lang="en-GB" sz="3600" b="0" i="0" dirty="0">
                <a:effectLst/>
                <a:latin typeface="Abadi" panose="020B0604020104020204" pitchFamily="34" charset="0"/>
              </a:rPr>
            </a:br>
            <a:endParaRPr lang="en-GB" sz="3600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DD03-818C-42ED-9401-F35BF1573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76" y="1708179"/>
            <a:ext cx="10515600" cy="4351338"/>
          </a:xfrm>
        </p:spPr>
        <p:txBody>
          <a:bodyPr/>
          <a:lstStyle/>
          <a:p>
            <a:pPr algn="l"/>
            <a:r>
              <a:rPr lang="en-GB" b="0" i="0" dirty="0">
                <a:effectLst/>
              </a:rPr>
              <a:t>Regularization favours simpler models to more complex models to prevent your model from overfitting to the data. </a:t>
            </a:r>
          </a:p>
          <a:p>
            <a:pPr algn="l"/>
            <a:r>
              <a:rPr lang="en-GB" b="0" i="0" dirty="0">
                <a:effectLst/>
              </a:rPr>
              <a:t>How so? </a:t>
            </a:r>
          </a:p>
          <a:p>
            <a:pPr lvl="1"/>
            <a:r>
              <a:rPr lang="en-GB" b="0" i="0" dirty="0">
                <a:effectLst/>
              </a:rPr>
              <a:t>They address the following concerns within a model:</a:t>
            </a:r>
          </a:p>
          <a:p>
            <a:pPr lvl="1"/>
            <a:r>
              <a:rPr lang="en-GB" b="0" i="0" dirty="0">
                <a:effectLst/>
              </a:rPr>
              <a:t>Variance-bias trade-off </a:t>
            </a:r>
          </a:p>
          <a:p>
            <a:pPr lvl="1"/>
            <a:r>
              <a:rPr lang="en-GB" b="0" i="0" dirty="0">
                <a:effectLst/>
              </a:rPr>
              <a:t>Multicollinearity</a:t>
            </a:r>
          </a:p>
          <a:p>
            <a:pPr lvl="1"/>
            <a:r>
              <a:rPr lang="en-GB" b="0" i="0" dirty="0">
                <a:effectLst/>
              </a:rPr>
              <a:t>Sparse data handling(i.e. the situation where there are more observations than features)</a:t>
            </a:r>
          </a:p>
          <a:p>
            <a:pPr lvl="1"/>
            <a:r>
              <a:rPr lang="en-GB" b="0" i="0" dirty="0">
                <a:effectLst/>
              </a:rPr>
              <a:t>Feature selection</a:t>
            </a:r>
          </a:p>
          <a:p>
            <a:pPr lvl="1"/>
            <a:r>
              <a:rPr lang="en-GB" b="0" i="0" dirty="0">
                <a:effectLst/>
              </a:rPr>
              <a:t>An easier interpretation of the output.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98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2495601" y="941762"/>
            <a:ext cx="7282677" cy="2592288"/>
            <a:chOff x="1465787" y="332656"/>
            <a:chExt cx="7282677" cy="2592288"/>
          </a:xfrm>
        </p:grpSpPr>
        <p:sp>
          <p:nvSpPr>
            <p:cNvPr id="2" name="Rounded Rectangle 1"/>
            <p:cNvSpPr/>
            <p:nvPr/>
          </p:nvSpPr>
          <p:spPr>
            <a:xfrm>
              <a:off x="3673545" y="332656"/>
              <a:ext cx="2339347" cy="727907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Penalization Methods</a:t>
              </a:r>
            </a:p>
          </p:txBody>
        </p:sp>
        <p:cxnSp>
          <p:nvCxnSpPr>
            <p:cNvPr id="4" name="Straight Arrow Connector 3"/>
            <p:cNvCxnSpPr/>
            <p:nvPr/>
          </p:nvCxnSpPr>
          <p:spPr>
            <a:xfrm flipH="1">
              <a:off x="3030225" y="1082552"/>
              <a:ext cx="994222" cy="7059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/>
            <p:cNvCxnSpPr/>
            <p:nvPr/>
          </p:nvCxnSpPr>
          <p:spPr>
            <a:xfrm>
              <a:off x="5660697" y="1082552"/>
              <a:ext cx="1170965" cy="7059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ounded Rectangle 6"/>
            <p:cNvSpPr/>
            <p:nvPr/>
          </p:nvSpPr>
          <p:spPr>
            <a:xfrm>
              <a:off x="1465787" y="1835525"/>
              <a:ext cx="3128876" cy="1089419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Variable Selection Methods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LASSO (</a:t>
              </a:r>
              <a:r>
                <a:rPr lang="en-GB" sz="1600" i="1" dirty="0" err="1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Tibshirani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 R, 1996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Elastic Net (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Zou H, 2005)</a:t>
              </a:r>
              <a:endParaRPr lang="en-GB" sz="1600" dirty="0">
                <a:solidFill>
                  <a:schemeClr val="tx1"/>
                </a:solidFill>
                <a:latin typeface="Abadi" panose="020B06040201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76056" y="1824324"/>
              <a:ext cx="3672408" cy="727907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Ranking Methods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Ridge (</a:t>
              </a:r>
              <a:r>
                <a:rPr lang="en-GB" sz="1600" i="1" dirty="0" err="1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Hoerl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 and Kennard, 1970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513581" y="4177717"/>
            <a:ext cx="5040560" cy="2480449"/>
            <a:chOff x="2322938" y="3684855"/>
            <a:chExt cx="5040560" cy="2480449"/>
          </a:xfrm>
        </p:grpSpPr>
        <p:sp>
          <p:nvSpPr>
            <p:cNvPr id="10" name="Rounded Rectangle 9"/>
            <p:cNvSpPr/>
            <p:nvPr/>
          </p:nvSpPr>
          <p:spPr>
            <a:xfrm>
              <a:off x="3291482" y="3684855"/>
              <a:ext cx="2861862" cy="466120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LASSO (</a:t>
              </a:r>
              <a:r>
                <a:rPr lang="en-GB" sz="1600" i="1" dirty="0" err="1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Tibshirani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 R, 1996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4716016" y="4168637"/>
              <a:ext cx="6399" cy="76323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2322938" y="4914736"/>
              <a:ext cx="5040560" cy="1250568"/>
            </a:xfrm>
            <a:prstGeom prst="round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GB" sz="1600" dirty="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Fused LASSO (</a:t>
              </a:r>
              <a:r>
                <a:rPr lang="en-GB" sz="1600" i="1" dirty="0" err="1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Tibshirani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 and Saunders, 2005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Grouped LASSO (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Yuan M, 2006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Adaptive LASSO (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Zou H, 2006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Graphical LASSO (</a:t>
              </a:r>
              <a:r>
                <a:rPr lang="en-GB" sz="1600" i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Friedman et al., 2007</a:t>
              </a:r>
              <a:r>
                <a:rPr lang="en-GB" sz="1600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)</a:t>
              </a:r>
            </a:p>
            <a:p>
              <a:endParaRPr lang="en-GB" dirty="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4394660" y="53606"/>
            <a:ext cx="30367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latin typeface="Abadi" panose="020B0604020104020204" pitchFamily="34" charset="0"/>
              </a:rPr>
              <a:t>Type of methods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8289" y="3429001"/>
            <a:ext cx="1867105" cy="291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6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733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latin typeface="Abadi" panose="020B0604020104020204" pitchFamily="34" charset="0"/>
              </a:rPr>
              <a:t>Regularization: An 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3516"/>
                <a:ext cx="10515600" cy="4893447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sz="2400" dirty="0"/>
                  <a:t>The idea of regularization revolves around modifying the loss function L; in particular, we add a regularization term that penalizes some specified properties of the model parameters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𝜆</m:t>
                    </m:r>
                  </m:oMath>
                </a14:m>
                <a:r>
                  <a:rPr lang="en-US" sz="2400" dirty="0"/>
                  <a:t> is a scalar that gives the weight (or importance) of the regularization term.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Fitting the model using the modified loss function </a:t>
                </a:r>
                <a:r>
                  <a:rPr lang="en-US" sz="2400" i="1" dirty="0" err="1"/>
                  <a:t>L</a:t>
                </a:r>
                <a:r>
                  <a:rPr lang="en-US" sz="2400" i="1" baseline="-25000" dirty="0" err="1"/>
                  <a:t>reg</a:t>
                </a:r>
                <a:r>
                  <a:rPr lang="en-US" sz="2400" dirty="0"/>
                  <a:t> would result in model parameters with desirable properties (specified by </a:t>
                </a:r>
                <a:r>
                  <a:rPr lang="en-US" sz="2400" i="1" dirty="0"/>
                  <a:t>R</a:t>
                </a:r>
                <a:r>
                  <a:rPr lang="en-US" sz="2400" dirty="0"/>
                  <a:t>).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3516"/>
                <a:ext cx="10515600" cy="4893447"/>
              </a:xfrm>
              <a:blipFill>
                <a:blip r:embed="rId2"/>
                <a:stretch>
                  <a:fillRect l="-812" t="-1746" r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859" y="2812538"/>
            <a:ext cx="4148119" cy="40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0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365249" y="137433"/>
            <a:ext cx="4772072" cy="627420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latin typeface="Abadi" panose="020B0604020104020204" pitchFamily="34" charset="0"/>
              </a:rPr>
              <a:t>Introduction to LASSO</a:t>
            </a:r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75" name="Rectangle 7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77" name="Rectangle 9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83983" name="Rectangle 15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69783" y="908721"/>
            <a:ext cx="10226817" cy="5710193"/>
            <a:chOff x="424136" y="908720"/>
            <a:chExt cx="8748464" cy="5229103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456402" y="908720"/>
              <a:ext cx="8504113" cy="14338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4C78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 marL="342900" indent="-342900">
                <a:spcBef>
                  <a:spcPct val="0"/>
                </a:spcBef>
                <a:spcAft>
                  <a:spcPct val="2000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News Gothic" pitchFamily="34" charset="0"/>
                </a:defRPr>
              </a:lvl1pPr>
              <a:lvl2pPr marL="742950" indent="-285750">
                <a:spcBef>
                  <a:spcPct val="0"/>
                </a:spcBef>
                <a:spcAft>
                  <a:spcPct val="20000"/>
                </a:spcAft>
                <a:buClr>
                  <a:srgbClr val="80BA64"/>
                </a:buClr>
                <a:buSzPct val="75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News Gothic" pitchFamily="34" charset="0"/>
                </a:defRPr>
              </a:lvl2pPr>
              <a:lvl3pPr marL="1143000" indent="-228600">
                <a:spcBef>
                  <a:spcPct val="0"/>
                </a:spcBef>
                <a:spcAft>
                  <a:spcPct val="20000"/>
                </a:spcAft>
                <a:buChar char="•"/>
                <a:defRPr sz="1600">
                  <a:solidFill>
                    <a:schemeClr val="tx1"/>
                  </a:solidFill>
                  <a:latin typeface="News Gothic" pitchFamily="34" charset="0"/>
                </a:defRPr>
              </a:lvl3pPr>
              <a:lvl4pPr marL="1600200" indent="-228600">
                <a:spcBef>
                  <a:spcPct val="0"/>
                </a:spcBef>
                <a:spcAft>
                  <a:spcPct val="20000"/>
                </a:spcAft>
                <a:buChar char="–"/>
                <a:defRPr sz="1600">
                  <a:solidFill>
                    <a:schemeClr val="tx1"/>
                  </a:solidFill>
                  <a:latin typeface="News Gothic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News Gothic" pitchFamily="34" charset="0"/>
                </a:defRPr>
              </a:lvl9pPr>
            </a:lstStyle>
            <a:p>
              <a:pPr>
                <a:buClrTx/>
                <a:buSzPct val="108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latin typeface="Abadi" panose="020B0604020104020204" pitchFamily="34" charset="0"/>
                </a:rPr>
                <a:t>Recollect least squares for OLS</a:t>
              </a:r>
            </a:p>
            <a:p>
              <a:pPr>
                <a:buClrTx/>
                <a:buSzPct val="108000"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latin typeface="Abadi" panose="020B0604020104020204" pitchFamily="34" charset="0"/>
                </a:rPr>
                <a:t>The OLS equation is also called as </a:t>
              </a:r>
              <a:r>
                <a:rPr lang="en-GB" sz="2000" dirty="0">
                  <a:solidFill>
                    <a:srgbClr val="0070C0"/>
                  </a:solidFill>
                  <a:latin typeface="Abadi" panose="020B0604020104020204" pitchFamily="34" charset="0"/>
                </a:rPr>
                <a:t>objective function/cost function</a:t>
              </a:r>
            </a:p>
            <a:p>
              <a:pPr>
                <a:buClrTx/>
                <a:buSzPct val="108000"/>
                <a:buFont typeface="Arial" panose="020B0604020202020204" pitchFamily="34" charset="0"/>
                <a:buChar char="•"/>
              </a:pPr>
              <a:r>
                <a:rPr lang="en-GB" sz="2000" dirty="0">
                  <a:latin typeface="Abadi" panose="020B0604020104020204" pitchFamily="34" charset="0"/>
                </a:rPr>
                <a:t> The residual sum of squares(RSS) plus the sum of absolute value is minimized</a:t>
              </a:r>
              <a:endParaRPr lang="en-GB" dirty="0">
                <a:latin typeface="Abadi" panose="020B0604020104020204" pitchFamily="34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424136" y="3367917"/>
              <a:ext cx="8748464" cy="14374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000" dirty="0">
                  <a:solidFill>
                    <a:srgbClr val="080E14"/>
                  </a:solidFill>
                  <a:latin typeface="Abadi" panose="020B0604020104020204" pitchFamily="34" charset="0"/>
                </a:rPr>
                <a:t>LASSO stands for </a:t>
              </a:r>
              <a:r>
                <a:rPr lang="en-GB" sz="2000" b="1" i="1" dirty="0">
                  <a:solidFill>
                    <a:srgbClr val="0070C0"/>
                  </a:solidFill>
                  <a:latin typeface="Abadi" panose="020B0604020104020204" pitchFamily="34" charset="0"/>
                </a:rPr>
                <a:t>Least Absolute Shrinkage and Selection Operator</a:t>
              </a:r>
              <a:endParaRPr lang="en-GB" sz="2000" b="1" dirty="0">
                <a:solidFill>
                  <a:srgbClr val="0070C0"/>
                </a:solidFill>
                <a:latin typeface="Abadi" panose="020B0604020104020204" pitchFamily="34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GB" sz="2000" dirty="0">
                  <a:latin typeface="Abadi" panose="020B0604020104020204" pitchFamily="34" charset="0"/>
                </a:rPr>
                <a:t>LASSO regression performs </a:t>
              </a:r>
              <a:r>
                <a:rPr lang="en-GB" sz="2000" b="1" dirty="0">
                  <a:latin typeface="Abadi" panose="020B0604020104020204" pitchFamily="34" charset="0"/>
                </a:rPr>
                <a:t>L1 regularization</a:t>
              </a:r>
              <a:r>
                <a:rPr lang="en-GB" sz="2000" dirty="0">
                  <a:latin typeface="Abadi" panose="020B0604020104020204" pitchFamily="34" charset="0"/>
                </a:rPr>
                <a:t>, i.e. it adds a factor of sum of absolute value of coefficients in the optimization objective. </a:t>
              </a:r>
            </a:p>
            <a:p>
              <a:endParaRPr lang="en-GB" dirty="0">
                <a:latin typeface="Abadi" panose="020B0604020104020204" pitchFamily="34" charset="0"/>
              </a:endParaRPr>
            </a:p>
            <a:p>
              <a:endParaRPr lang="en-GB" dirty="0">
                <a:latin typeface="Abadi" panose="020B0604020104020204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1" y="2277775"/>
              <a:ext cx="6365848" cy="97143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3001" y="4598617"/>
              <a:ext cx="6885383" cy="1539206"/>
            </a:xfrm>
            <a:prstGeom prst="rect">
              <a:avLst/>
            </a:prstGeom>
          </p:spPr>
        </p:pic>
      </p:grpSp>
      <p:sp>
        <p:nvSpPr>
          <p:cNvPr id="3" name="Rectangle 2"/>
          <p:cNvSpPr/>
          <p:nvPr/>
        </p:nvSpPr>
        <p:spPr>
          <a:xfrm>
            <a:off x="5879373" y="5503179"/>
            <a:ext cx="1100267" cy="11489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03684" y="2344163"/>
            <a:ext cx="2548017" cy="117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51733" y="5503179"/>
            <a:ext cx="2710168" cy="1249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4557" y="178216"/>
            <a:ext cx="869873" cy="135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8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4"/>
          <p:cNvSpPr>
            <a:spLocks noGrp="1" noChangeArrowheads="1"/>
          </p:cNvSpPr>
          <p:nvPr>
            <p:ph type="title"/>
          </p:nvPr>
        </p:nvSpPr>
        <p:spPr>
          <a:xfrm>
            <a:off x="1981200" y="135709"/>
            <a:ext cx="8229600" cy="5715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b="1" dirty="0">
                <a:latin typeface="Abadi" panose="020B0604020104020204" pitchFamily="34" charset="0"/>
              </a:rPr>
              <a:t>Properties of LASSO</a:t>
            </a:r>
          </a:p>
        </p:txBody>
      </p:sp>
      <p:sp>
        <p:nvSpPr>
          <p:cNvPr id="860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9813" y="1124745"/>
            <a:ext cx="10300683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600" dirty="0">
                <a:latin typeface="Abadi" panose="020B0604020104020204" pitchFamily="34" charset="0"/>
              </a:rPr>
              <a:t>LASSO </a:t>
            </a:r>
            <a:r>
              <a:rPr lang="en-US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(</a:t>
            </a:r>
            <a:r>
              <a:rPr lang="en-GB" i="1" dirty="0">
                <a:solidFill>
                  <a:srgbClr val="0070C0"/>
                </a:solidFill>
                <a:latin typeface="Abadi" panose="020B0604020104020204" pitchFamily="34" charset="0"/>
              </a:rPr>
              <a:t>Least Absolute Shrinkage and Selection Operator)</a:t>
            </a:r>
            <a:endParaRPr lang="en-US" altLang="en-US" sz="26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Abadi" panose="020B0604020104020204" pitchFamily="34" charset="0"/>
              </a:rPr>
              <a:t>Variable will be selected, depending on </a:t>
            </a:r>
            <a:r>
              <a:rPr lang="el-GR" altLang="en-US" sz="2600" dirty="0">
                <a:solidFill>
                  <a:srgbClr val="0070C0"/>
                </a:solidFill>
              </a:rPr>
              <a:t>λ</a:t>
            </a:r>
            <a:endParaRPr lang="en-GB" altLang="en-US" sz="26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l-GR" altLang="en-US" sz="2600" dirty="0">
                <a:solidFill>
                  <a:srgbClr val="0070C0"/>
                </a:solidFill>
              </a:rPr>
              <a:t>λ</a:t>
            </a:r>
            <a:r>
              <a:rPr lang="en-GB" altLang="en-US" sz="2600" dirty="0">
                <a:latin typeface="Abadi" panose="020B0604020104020204" pitchFamily="34" charset="0"/>
              </a:rPr>
              <a:t> is called as penalty parameter/ Shrinkage parameter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2600" dirty="0">
                <a:latin typeface="Abadi" panose="020B0604020104020204" pitchFamily="34" charset="0"/>
              </a:rPr>
              <a:t>The value of </a:t>
            </a:r>
            <a:r>
              <a:rPr lang="el-GR" altLang="en-US" sz="2600" dirty="0">
                <a:solidFill>
                  <a:srgbClr val="0070C0"/>
                </a:solidFill>
              </a:rPr>
              <a:t>λ</a:t>
            </a:r>
            <a:r>
              <a:rPr lang="en-GB" altLang="en-US" sz="2600" dirty="0">
                <a:latin typeface="Abadi" panose="020B0604020104020204" pitchFamily="34" charset="0"/>
              </a:rPr>
              <a:t> lies between </a:t>
            </a:r>
            <a:r>
              <a:rPr lang="en-GB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0</a:t>
            </a:r>
            <a:r>
              <a:rPr lang="en-GB" altLang="en-US" sz="2600" dirty="0">
                <a:latin typeface="Abadi" panose="020B0604020104020204" pitchFamily="34" charset="0"/>
              </a:rPr>
              <a:t> to </a:t>
            </a:r>
            <a:r>
              <a:rPr lang="en-GB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1</a:t>
            </a:r>
            <a:r>
              <a:rPr lang="en-GB" altLang="en-US" sz="2600" dirty="0">
                <a:latin typeface="Abadi" panose="020B0604020104020204" pitchFamily="34" charset="0"/>
              </a:rPr>
              <a:t>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l-GR" altLang="en-US" sz="2600" dirty="0">
                <a:solidFill>
                  <a:srgbClr val="0070C0"/>
                </a:solidFill>
              </a:rPr>
              <a:t>λ </a:t>
            </a:r>
            <a:r>
              <a:rPr lang="en-GB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 </a:t>
            </a:r>
            <a:r>
              <a:rPr lang="en-GB" altLang="en-US" sz="2600" dirty="0">
                <a:latin typeface="Abadi" panose="020B0604020104020204" pitchFamily="34" charset="0"/>
              </a:rPr>
              <a:t>close to </a:t>
            </a:r>
            <a:r>
              <a:rPr lang="en-GB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1</a:t>
            </a:r>
            <a:r>
              <a:rPr lang="en-GB" altLang="en-US" sz="2600" dirty="0">
                <a:latin typeface="Abadi" panose="020B0604020104020204" pitchFamily="34" charset="0"/>
              </a:rPr>
              <a:t> means</a:t>
            </a:r>
          </a:p>
          <a:p>
            <a:pPr lvl="2">
              <a:lnSpc>
                <a:spcPct val="90000"/>
              </a:lnSpc>
            </a:pPr>
            <a:r>
              <a:rPr lang="en-GB" altLang="en-US" sz="2200" dirty="0">
                <a:latin typeface="Abadi" panose="020B0604020104020204" pitchFamily="34" charset="0"/>
              </a:rPr>
              <a:t>Heavy penalization </a:t>
            </a:r>
          </a:p>
          <a:p>
            <a:pPr lvl="2">
              <a:lnSpc>
                <a:spcPct val="90000"/>
              </a:lnSpc>
            </a:pPr>
            <a:r>
              <a:rPr lang="en-GB" altLang="en-US" sz="2200" dirty="0">
                <a:latin typeface="Abadi" panose="020B0604020104020204" pitchFamily="34" charset="0"/>
              </a:rPr>
              <a:t>Less variables will be selected</a:t>
            </a:r>
          </a:p>
          <a:p>
            <a:pPr lvl="2">
              <a:lnSpc>
                <a:spcPct val="90000"/>
              </a:lnSpc>
            </a:pPr>
            <a:r>
              <a:rPr lang="en-US" altLang="en-US" sz="2200" dirty="0">
                <a:latin typeface="Abadi" panose="020B0604020104020204" pitchFamily="34" charset="0"/>
              </a:rPr>
              <a:t>Many variables shrunk to </a:t>
            </a:r>
            <a:r>
              <a:rPr lang="en-US" altLang="en-US" sz="2200" dirty="0">
                <a:solidFill>
                  <a:srgbClr val="0070C0"/>
                </a:solidFill>
                <a:latin typeface="Abadi" panose="020B0604020104020204" pitchFamily="34" charset="0"/>
              </a:rPr>
              <a:t>“0” </a:t>
            </a:r>
            <a:r>
              <a:rPr lang="en-US" altLang="en-US" sz="2200" dirty="0">
                <a:latin typeface="Abadi" panose="020B0604020104020204" pitchFamily="34" charset="0"/>
              </a:rPr>
              <a:t>(kicked out from model)</a:t>
            </a:r>
          </a:p>
          <a:p>
            <a:pPr lvl="2">
              <a:lnSpc>
                <a:spcPct val="90000"/>
              </a:lnSpc>
            </a:pPr>
            <a:r>
              <a:rPr lang="en-US" altLang="en-US" sz="2200" dirty="0">
                <a:latin typeface="Abadi" panose="020B0604020104020204" pitchFamily="34" charset="0"/>
              </a:rPr>
              <a:t>Automatic variable/feature selection  !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Abadi" panose="020B0604020104020204" pitchFamily="34" charset="0"/>
              </a:rPr>
              <a:t>No grouping of correlated variables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Abadi" panose="020B0604020104020204" pitchFamily="34" charset="0"/>
              </a:rPr>
              <a:t>Maximum of </a:t>
            </a:r>
            <a:r>
              <a:rPr lang="en-US" altLang="en-US" sz="2600" dirty="0">
                <a:solidFill>
                  <a:srgbClr val="0070C0"/>
                </a:solidFill>
                <a:latin typeface="Abadi" panose="020B0604020104020204" pitchFamily="34" charset="0"/>
              </a:rPr>
              <a:t>“n” </a:t>
            </a:r>
            <a:r>
              <a:rPr lang="en-US" altLang="en-US" sz="2600" dirty="0">
                <a:latin typeface="Abadi" panose="020B0604020104020204" pitchFamily="34" charset="0"/>
              </a:rPr>
              <a:t>variables selected</a:t>
            </a:r>
            <a:endParaRPr lang="el-GR" altLang="en-US" sz="2600" dirty="0"/>
          </a:p>
          <a:p>
            <a:pPr lvl="1">
              <a:lnSpc>
                <a:spcPct val="90000"/>
              </a:lnSpc>
            </a:pPr>
            <a:endParaRPr lang="el-GR" altLang="en-US" dirty="0"/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2667002" y="707209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GB" sz="1350">
              <a:latin typeface="Abadi" panose="020B0604020104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26794" y="5652744"/>
            <a:ext cx="6184835" cy="83099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Bottle neck : Selection of “</a:t>
            </a:r>
            <a:r>
              <a:rPr lang="el-GR" altLang="en-US" sz="2400" b="1" dirty="0">
                <a:solidFill>
                  <a:srgbClr val="0070C0"/>
                </a:solidFill>
              </a:rPr>
              <a:t>λ</a:t>
            </a:r>
            <a:r>
              <a:rPr lang="en-GB" altLang="en-US" sz="2400" b="1" dirty="0">
                <a:solidFill>
                  <a:srgbClr val="0070C0"/>
                </a:solidFill>
                <a:latin typeface="Abadi" panose="020B0604020104020204" pitchFamily="34" charset="0"/>
              </a:rPr>
              <a:t>”</a:t>
            </a:r>
          </a:p>
          <a:p>
            <a:r>
              <a:rPr lang="en-GB" sz="2400" b="1" dirty="0">
                <a:solidFill>
                  <a:srgbClr val="0070C0"/>
                </a:solidFill>
                <a:latin typeface="Abadi" panose="020B0604020104020204" pitchFamily="34" charset="0"/>
              </a:rPr>
              <a:t>Should be estimated from data (Unbiased way)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298" y="135709"/>
            <a:ext cx="685889" cy="107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61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954" y="118797"/>
            <a:ext cx="10515600" cy="92678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badi" panose="020B0604020104020204" pitchFamily="34" charset="0"/>
              </a:rPr>
              <a:t>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953" y="1519770"/>
            <a:ext cx="11045581" cy="222128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2600" dirty="0"/>
              <a:t>Alternatively, we can choose a regularization term that penalizes the squares of the parameter magnitudes. Then, our regularized loss function is: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Note that               is the square of the </a:t>
            </a:r>
            <a:r>
              <a:rPr lang="en-US" sz="2400" b="1" i="1" dirty="0">
                <a:latin typeface="STIXGeneral" charset="0"/>
                <a:ea typeface="STIXGeneral" charset="0"/>
                <a:cs typeface="STIXGeneral" charset="0"/>
              </a:rPr>
              <a:t>l</a:t>
            </a:r>
            <a:r>
              <a:rPr lang="en-US" sz="2400" b="1" baseline="-25000" dirty="0"/>
              <a:t>2  </a:t>
            </a:r>
            <a:r>
              <a:rPr lang="en-US" sz="2400" dirty="0"/>
              <a:t>norm of the vector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</a:p>
          <a:p>
            <a:endParaRPr lang="en-US" sz="2400" b="1" i="1" dirty="0">
              <a:latin typeface="Symbol" charset="2"/>
              <a:ea typeface="Symbol" charset="2"/>
              <a:cs typeface="Symbol" charset="2"/>
            </a:endParaRPr>
          </a:p>
          <a:p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39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960" y="2187951"/>
            <a:ext cx="5655588" cy="9598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643" y="3147844"/>
            <a:ext cx="813758" cy="7168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113" y="3741052"/>
            <a:ext cx="1858966" cy="96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344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94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Choosing </a:t>
            </a:r>
            <a:r>
              <a:rPr lang="en-US" sz="3600" b="1" dirty="0">
                <a:latin typeface="Symbol" charset="2"/>
                <a:ea typeface="Symbol" charset="2"/>
                <a:cs typeface="Symbol" charset="2"/>
              </a:rPr>
              <a:t>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/>
              <a:t>In both ridge and LASSO regression, we see that the larger our choice of the </a:t>
            </a:r>
            <a:r>
              <a:rPr lang="en-US" sz="2400" b="1" dirty="0"/>
              <a:t>regularization parameter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l, </a:t>
            </a:r>
            <a:r>
              <a:rPr lang="en-US" sz="2400" dirty="0"/>
              <a:t>the more heavily we penalize large values in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b,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en-US" sz="2400" dirty="0"/>
              <a:t>If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 </a:t>
            </a:r>
            <a:r>
              <a:rPr lang="en-US" sz="2400" dirty="0"/>
              <a:t>is close to zero, we recover the MSE, i.e. ridge and LASSO regression is just ordinary regression.</a:t>
            </a:r>
          </a:p>
          <a:p>
            <a:pPr marL="342900" indent="-342900">
              <a:spcAft>
                <a:spcPts val="1200"/>
              </a:spcAft>
              <a:buFont typeface="Arial" charset="0"/>
              <a:buChar char="•"/>
            </a:pPr>
            <a:r>
              <a:rPr lang="en-US" sz="2400" dirty="0"/>
              <a:t>If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 </a:t>
            </a:r>
            <a:r>
              <a:rPr lang="en-US" sz="2400" dirty="0"/>
              <a:t>is sufficiently large, the MSE term in the regularized loss function will be insignificant and the regularization term will force </a:t>
            </a:r>
            <a:r>
              <a:rPr lang="en-US" sz="2400" b="1" i="1" dirty="0">
                <a:latin typeface="Symbol" charset="2"/>
                <a:ea typeface="Symbol" charset="2"/>
                <a:cs typeface="Symbol" charset="2"/>
              </a:rPr>
              <a:t>b</a:t>
            </a:r>
            <a:r>
              <a:rPr lang="en-US" sz="2400" baseline="-25000" dirty="0">
                <a:latin typeface="Karla" charset="0"/>
                <a:ea typeface="Karla" charset="0"/>
                <a:cs typeface="Karla" charset="0"/>
              </a:rPr>
              <a:t>ridge</a:t>
            </a:r>
            <a:r>
              <a:rPr lang="en-US" sz="2400" dirty="0"/>
              <a:t> and </a:t>
            </a:r>
            <a:r>
              <a:rPr lang="en-US" sz="2400" b="1" i="1" dirty="0" err="1">
                <a:latin typeface="Symbol" charset="2"/>
                <a:ea typeface="Symbol" charset="2"/>
                <a:cs typeface="Symbol" charset="2"/>
              </a:rPr>
              <a:t>b</a:t>
            </a:r>
            <a:r>
              <a:rPr lang="en-US" sz="2400" baseline="-25000" dirty="0" err="1">
                <a:latin typeface="Karla" charset="0"/>
                <a:ea typeface="Karla" charset="0"/>
                <a:cs typeface="Karla" charset="0"/>
              </a:rPr>
              <a:t>LASSO</a:t>
            </a:r>
            <a:r>
              <a:rPr lang="en-US" sz="2400" baseline="-25000" dirty="0">
                <a:latin typeface="Karla" charset="0"/>
                <a:ea typeface="Karla" charset="0"/>
                <a:cs typeface="Karla" charset="0"/>
              </a:rPr>
              <a:t> </a:t>
            </a:r>
            <a:r>
              <a:rPr lang="en-US" sz="2400" dirty="0"/>
              <a:t>to be close to zero.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To avoid ad-hoc choices, we should select </a:t>
            </a:r>
            <a:r>
              <a:rPr lang="en-US" sz="2400" dirty="0">
                <a:latin typeface="Symbol" charset="2"/>
                <a:ea typeface="Symbol" charset="2"/>
                <a:cs typeface="Symbol" charset="2"/>
              </a:rPr>
              <a:t>l</a:t>
            </a:r>
            <a:r>
              <a:rPr lang="en-US" sz="2400" dirty="0"/>
              <a:t> using cross-validation.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6E8F-BF65-1643-9F00-FF84D0665BC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48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16632" y="23884"/>
            <a:ext cx="28424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latin typeface="Abadi" panose="020B0604020104020204" pitchFamily="34" charset="0"/>
              </a:rPr>
              <a:t>Selection of “</a:t>
            </a:r>
            <a:r>
              <a:rPr lang="el-GR" altLang="en-US" sz="3200" b="1" dirty="0"/>
              <a:t>λ</a:t>
            </a:r>
            <a:r>
              <a:rPr lang="en-GB" altLang="en-US" sz="3200" b="1" dirty="0">
                <a:latin typeface="Abadi" panose="020B0604020104020204" pitchFamily="34" charset="0"/>
              </a:rPr>
              <a:t>”</a:t>
            </a:r>
            <a:endParaRPr lang="en-GB" sz="3200" dirty="0">
              <a:latin typeface="Abadi" panose="020B0604020104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64015" y="816441"/>
            <a:ext cx="5112567" cy="4176464"/>
            <a:chOff x="1149252" y="1628800"/>
            <a:chExt cx="6474807" cy="5112568"/>
          </a:xfrm>
        </p:grpSpPr>
        <p:pic>
          <p:nvPicPr>
            <p:cNvPr id="2050" name="Picture 2" descr="https://uk.mathworks.com/help/stats/lassoplot_ex3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7" y="1628800"/>
              <a:ext cx="6220412" cy="45365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3851918" y="5946440"/>
              <a:ext cx="2221832" cy="7949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“</a:t>
              </a:r>
              <a:r>
                <a:rPr lang="el-GR" altLang="en-US" sz="2400" b="1" dirty="0">
                  <a:solidFill>
                    <a:schemeClr val="tx1"/>
                  </a:solidFill>
                </a:rPr>
                <a:t>λ</a:t>
              </a:r>
              <a:r>
                <a:rPr lang="en-GB" altLang="en-US" sz="2400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” (lambda)</a:t>
              </a:r>
              <a:endParaRPr lang="en-GB" sz="24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6200000">
              <a:off x="73420" y="3568729"/>
              <a:ext cx="2838110" cy="68644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altLang="en-US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MSE</a:t>
              </a:r>
            </a:p>
            <a:p>
              <a:pPr algn="ctr"/>
              <a:r>
                <a:rPr lang="en-GB" altLang="en-US" b="1" dirty="0">
                  <a:solidFill>
                    <a:schemeClr val="tx1"/>
                  </a:solidFill>
                  <a:latin typeface="Abadi" panose="020B0604020104020204" pitchFamily="34" charset="0"/>
                </a:rPr>
                <a:t>(Mean Square Error)</a:t>
              </a:r>
              <a:endParaRPr lang="en-GB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5676583" y="1191998"/>
            <a:ext cx="6515418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Very critical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Can be optimised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Linear optimization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Nonlinear optimization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400" dirty="0">
              <a:latin typeface="Abadi" panose="020B0604020104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The solution of the Ridge/Lasso regression involves three steps: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Select </a:t>
            </a:r>
            <a:r>
              <a:rPr lang="el-GR" altLang="en-US" sz="2400" b="1" dirty="0"/>
              <a:t>λ</a:t>
            </a:r>
            <a:r>
              <a:rPr lang="en-US" sz="2400" dirty="0">
                <a:latin typeface="Abadi" panose="020B0604020104020204" pitchFamily="34" charset="0"/>
                <a:ea typeface="Symbol" charset="2"/>
                <a:cs typeface="Symbol" charset="2"/>
              </a:rPr>
              <a:t>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Find the minimum of the ridge/Lasso regression loss function and record the  </a:t>
            </a:r>
            <a:r>
              <a:rPr lang="en-US" sz="2400" i="1" dirty="0">
                <a:latin typeface="Abadi" panose="020B0604020104020204" pitchFamily="34" charset="0"/>
              </a:rPr>
              <a:t>MSE</a:t>
            </a:r>
            <a:r>
              <a:rPr lang="en-US" sz="2400" baseline="30000" dirty="0">
                <a:latin typeface="Abadi" panose="020B0604020104020204" pitchFamily="34" charset="0"/>
              </a:rPr>
              <a:t> </a:t>
            </a:r>
            <a:r>
              <a:rPr lang="en-US" sz="2400" dirty="0">
                <a:latin typeface="Abadi" panose="020B0604020104020204" pitchFamily="34" charset="0"/>
              </a:rPr>
              <a:t> </a:t>
            </a:r>
            <a:r>
              <a:rPr lang="en-US" sz="2400" b="1" dirty="0">
                <a:latin typeface="Abadi" panose="020B0604020104020204" pitchFamily="34" charset="0"/>
              </a:rPr>
              <a:t>on the validation set</a:t>
            </a:r>
            <a:r>
              <a:rPr lang="en-US" sz="2400" dirty="0">
                <a:latin typeface="Abadi" panose="020B0604020104020204" pitchFamily="34" charset="0"/>
              </a:rPr>
              <a:t>.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badi" panose="020B0604020104020204" pitchFamily="34" charset="0"/>
              </a:rPr>
              <a:t>Find the</a:t>
            </a:r>
            <a:r>
              <a:rPr lang="en-US" sz="2400" dirty="0">
                <a:latin typeface="Abadi" panose="020B0604020104020204" pitchFamily="34" charset="0"/>
                <a:ea typeface="Symbol" charset="2"/>
                <a:cs typeface="Symbol" charset="2"/>
              </a:rPr>
              <a:t> </a:t>
            </a:r>
            <a:r>
              <a:rPr lang="el-GR" altLang="en-US" sz="2400" b="1" dirty="0"/>
              <a:t>λ</a:t>
            </a:r>
            <a:r>
              <a:rPr lang="en-US" sz="2400" dirty="0">
                <a:latin typeface="Abadi" panose="020B0604020104020204" pitchFamily="34" charset="0"/>
              </a:rPr>
              <a:t> that gives the smallest</a:t>
            </a:r>
            <a:r>
              <a:rPr lang="en-US" sz="2400" i="1" dirty="0">
                <a:latin typeface="Abadi" panose="020B0604020104020204" pitchFamily="34" charset="0"/>
              </a:rPr>
              <a:t> MSE</a:t>
            </a:r>
            <a:endParaRPr lang="en-US" sz="2400" baseline="30000" dirty="0">
              <a:latin typeface="Abadi" panose="020B0604020104020204" pitchFamily="34" charset="0"/>
            </a:endParaRPr>
          </a:p>
          <a:p>
            <a:pPr lvl="1"/>
            <a:r>
              <a:rPr lang="en-GB" sz="2400" dirty="0">
                <a:latin typeface="Abadi" panose="020B06040201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2649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77" y="692697"/>
            <a:ext cx="5000625" cy="2543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96200" y="692696"/>
            <a:ext cx="1512168" cy="1872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badi" panose="020B0604020104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384032" y="2708920"/>
            <a:ext cx="2775440" cy="1336214"/>
            <a:chOff x="3707904" y="2492896"/>
            <a:chExt cx="2775440" cy="1336214"/>
          </a:xfrm>
        </p:grpSpPr>
        <p:sp>
          <p:nvSpPr>
            <p:cNvPr id="3" name="Rectangle 2"/>
            <p:cNvSpPr/>
            <p:nvPr/>
          </p:nvSpPr>
          <p:spPr>
            <a:xfrm>
              <a:off x="3707904" y="3429000"/>
              <a:ext cx="277544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b="1" dirty="0">
                  <a:latin typeface="Abadi" panose="020B0604020104020204" pitchFamily="34" charset="0"/>
                </a:rPr>
                <a:t>Prediction Function, f(</a:t>
              </a:r>
              <a:r>
                <a:rPr lang="el-GR" sz="2000" b="1" dirty="0"/>
                <a:t>α</a:t>
              </a:r>
              <a:r>
                <a:rPr lang="en-GB" sz="2000" b="1" dirty="0">
                  <a:latin typeface="Abadi" panose="020B0604020104020204" pitchFamily="34" charset="0"/>
                </a:rPr>
                <a:t>)</a:t>
              </a:r>
            </a:p>
          </p:txBody>
        </p:sp>
        <p:sp>
          <p:nvSpPr>
            <p:cNvPr id="5" name="Right Arrow 4"/>
            <p:cNvSpPr/>
            <p:nvPr/>
          </p:nvSpPr>
          <p:spPr>
            <a:xfrm rot="5400000">
              <a:off x="4502514" y="2722532"/>
              <a:ext cx="822745" cy="363474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latin typeface="Abadi" panose="020B0604020104020204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946498" y="4158493"/>
            <a:ext cx="1261497" cy="2594081"/>
            <a:chOff x="4414385" y="3942468"/>
            <a:chExt cx="1261497" cy="2594081"/>
          </a:xfrm>
        </p:grpSpPr>
        <p:sp>
          <p:nvSpPr>
            <p:cNvPr id="7" name="Right Arrow 6"/>
            <p:cNvSpPr/>
            <p:nvPr/>
          </p:nvSpPr>
          <p:spPr>
            <a:xfrm rot="5400000">
              <a:off x="4603529" y="4189568"/>
              <a:ext cx="883211" cy="389011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latin typeface="Abadi" panose="020B0604020104020204" pitchFamily="34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414385" y="4939037"/>
              <a:ext cx="1261497" cy="1597512"/>
              <a:chOff x="7458075" y="1046571"/>
              <a:chExt cx="1314450" cy="2130015"/>
            </a:xfrm>
          </p:grpSpPr>
          <p:sp>
            <p:nvSpPr>
              <p:cNvPr id="9" name="Oval 8"/>
              <p:cNvSpPr/>
              <p:nvPr/>
            </p:nvSpPr>
            <p:spPr>
              <a:xfrm>
                <a:off x="7458075" y="1046571"/>
                <a:ext cx="1314450" cy="1564458"/>
              </a:xfrm>
              <a:prstGeom prst="ellipse">
                <a:avLst/>
              </a:prstGeom>
              <a:noFill/>
              <a:ln w="3810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latin typeface="Abadi" panose="020B0604020104020204" pitchFamily="34" charset="0"/>
                </a:endParaRPr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7936706" y="14983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8051006" y="16507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8165306" y="18031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8279606" y="19555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 dirty="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8051006" y="16507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8165306" y="18031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8279606" y="19555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8393906" y="21079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 dirty="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8508206" y="2260396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8368187" y="1444990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8063863" y="2209188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8063863" y="1835354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7848124" y="1849597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8065294" y="1298371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8433909" y="1777592"/>
                <a:ext cx="34289" cy="5120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 flipV="1">
                <a:off x="7700962" y="1651408"/>
                <a:ext cx="34289" cy="50596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 dirty="0">
                  <a:solidFill>
                    <a:schemeClr val="accent6">
                      <a:lumMod val="75000"/>
                    </a:schemeClr>
                  </a:solidFill>
                  <a:latin typeface="Abadi" panose="020B0604020104020204" pitchFamily="34" charset="0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7505569" y="2719386"/>
                <a:ext cx="1219459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000" b="1" dirty="0">
                    <a:solidFill>
                      <a:srgbClr val="0070C0"/>
                    </a:solidFill>
                    <a:latin typeface="Abadi" panose="020B0604020104020204" pitchFamily="34" charset="0"/>
                  </a:rPr>
                  <a:t>Test set </a:t>
                </a: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2567610" y="5532337"/>
            <a:ext cx="3878827" cy="1075726"/>
            <a:chOff x="35497" y="5316313"/>
            <a:chExt cx="3878827" cy="1075726"/>
          </a:xfrm>
        </p:grpSpPr>
        <p:sp>
          <p:nvSpPr>
            <p:cNvPr id="27" name="Rectangle 26"/>
            <p:cNvSpPr/>
            <p:nvPr/>
          </p:nvSpPr>
          <p:spPr>
            <a:xfrm>
              <a:off x="35497" y="5316313"/>
              <a:ext cx="2558072" cy="1075726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Out of sample error/</a:t>
              </a:r>
            </a:p>
            <a:p>
              <a:pPr algn="ctr"/>
              <a:r>
                <a:rPr lang="en-GB" sz="2000" b="1" dirty="0">
                  <a:solidFill>
                    <a:schemeClr val="tx1"/>
                  </a:solidFill>
                  <a:latin typeface="Abadi" panose="020B0604020104020204" pitchFamily="34" charset="0"/>
                  <a:cs typeface="Arial" panose="020B0604020202020204" pitchFamily="34" charset="0"/>
                </a:rPr>
                <a:t>Generalized error/MSE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 rot="10800000">
              <a:off x="2935916" y="5383977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badi" panose="020B0604020104020204" pitchFamily="34" charset="0"/>
              </a:endParaRPr>
            </a:p>
          </p:txBody>
        </p:sp>
      </p:grpSp>
      <p:sp>
        <p:nvSpPr>
          <p:cNvPr id="31" name="Title 1"/>
          <p:cNvSpPr txBox="1">
            <a:spLocks/>
          </p:cNvSpPr>
          <p:nvPr/>
        </p:nvSpPr>
        <p:spPr>
          <a:xfrm>
            <a:off x="4625510" y="2693"/>
            <a:ext cx="2548725" cy="49708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600" b="1" dirty="0">
                <a:latin typeface="Abadi" panose="020B0604020104020204" pitchFamily="34" charset="0"/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47825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E44497-B5BA-4CBD-8D93-1A01520EBEC0}"/>
              </a:ext>
            </a:extLst>
          </p:cNvPr>
          <p:cNvSpPr txBox="1"/>
          <p:nvPr/>
        </p:nvSpPr>
        <p:spPr>
          <a:xfrm>
            <a:off x="719662" y="3407514"/>
            <a:ext cx="107526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Elastic Net produces a regression model that is penalized with both the L1-norm and L2-norm.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badi" panose="020B0604020104020204" pitchFamily="34" charset="0"/>
              </a:rPr>
              <a:t>The consequence of this is to effectively shrink coefficients (like in ridge regression) and to set some coefficients to zero (as in LASSO).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04CA0-1B2E-4D9F-87FB-18099947090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772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>
                <a:latin typeface="Abadi" panose="020B0604020104020204" pitchFamily="34" charset="0"/>
              </a:rPr>
              <a:t>Elastic Net Regression </a:t>
            </a:r>
            <a:endParaRPr lang="en-GB" sz="36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2163D-C0AC-49BD-8331-4AEB0AAC2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304" y="1641533"/>
            <a:ext cx="5349904" cy="10241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85B918-F2D6-46D7-8DDB-E67332067D9A}"/>
              </a:ext>
            </a:extLst>
          </p:cNvPr>
          <p:cNvSpPr txBox="1"/>
          <p:nvPr/>
        </p:nvSpPr>
        <p:spPr>
          <a:xfrm>
            <a:off x="5756945" y="2480991"/>
            <a:ext cx="937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Abadi" panose="020B0604020104020204" pitchFamily="34" charset="0"/>
              </a:rPr>
              <a:t>LASSO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C43A45-3407-47A0-B945-A20B20DA2DDC}"/>
              </a:ext>
            </a:extLst>
          </p:cNvPr>
          <p:cNvSpPr txBox="1"/>
          <p:nvPr/>
        </p:nvSpPr>
        <p:spPr>
          <a:xfrm>
            <a:off x="7107573" y="2453150"/>
            <a:ext cx="8116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Abadi" panose="020B0604020104020204" pitchFamily="34" charset="0"/>
              </a:rPr>
              <a:t>R</a:t>
            </a:r>
            <a:r>
              <a:rPr lang="en-GB" sz="1800" dirty="0">
                <a:solidFill>
                  <a:srgbClr val="0070C0"/>
                </a:solidFill>
                <a:latin typeface="Abadi" panose="020B0604020104020204" pitchFamily="34" charset="0"/>
              </a:rPr>
              <a:t>idge 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8429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156B-5A36-44ED-9FFD-AB7A6942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7723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Abadi" panose="020B0604020104020204" pitchFamily="34" charset="0"/>
              </a:rPr>
              <a:t>Elastic Net Regression </a:t>
            </a:r>
          </a:p>
        </p:txBody>
      </p:sp>
      <p:pic>
        <p:nvPicPr>
          <p:cNvPr id="36868" name="Picture 4" descr="Elastic Net Regularization Data Science Generalized Linear Model OLS GLMs glmnet R python inferential modeling">
            <a:extLst>
              <a:ext uri="{FF2B5EF4-FFF2-40B4-BE49-F238E27FC236}">
                <a16:creationId xmlns:a16="http://schemas.microsoft.com/office/drawing/2014/main" id="{573215DD-796F-4F52-B555-89F68170E5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01284"/>
            <a:ext cx="7787326" cy="123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70" name="Picture 6" descr="Elastic Net Regularization Data Science Generalized Linear Model OLS GLMs glmnet R python inferential modeling">
            <a:extLst>
              <a:ext uri="{FF2B5EF4-FFF2-40B4-BE49-F238E27FC236}">
                <a16:creationId xmlns:a16="http://schemas.microsoft.com/office/drawing/2014/main" id="{CABBCD95-540B-496C-BB53-1814E725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86" y="3366490"/>
            <a:ext cx="10890315" cy="248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8784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16BA-7E53-443F-92D4-78E81E72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>
                <a:latin typeface="Abadi" panose="020B0604020104020204" pitchFamily="34" charset="0"/>
              </a:rPr>
              <a:t>Elastic Net Regression </a:t>
            </a:r>
            <a:endParaRPr lang="en-GB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F8B0-5FCC-41C8-8F5F-04CBE5A75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</a:rPr>
              <a:t>The elastic net method performs variable selection and regularization simultaneously.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i="0" dirty="0">
                <a:effectLst/>
              </a:rPr>
              <a:t>Groupings and variables selection are the key roles of the elastic net technique.</a:t>
            </a:r>
          </a:p>
          <a:p>
            <a:r>
              <a:rPr lang="en-GB" i="0" dirty="0">
                <a:effectLst/>
              </a:rPr>
              <a:t>The elastic net technique is most appropriate where the dimensional data is greater than the number of samples used.</a:t>
            </a:r>
          </a:p>
          <a:p>
            <a:pPr marL="0" indent="0" algn="l">
              <a:buNone/>
            </a:pPr>
            <a:endParaRPr lang="en-GB" i="0" dirty="0"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633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8446</TotalTime>
  <Words>2311</Words>
  <Application>Microsoft Office PowerPoint</Application>
  <PresentationFormat>Widescreen</PresentationFormat>
  <Paragraphs>372</Paragraphs>
  <Slides>45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6" baseType="lpstr">
      <vt:lpstr>STIXGeneral</vt:lpstr>
      <vt:lpstr>Karla</vt:lpstr>
      <vt:lpstr>Arial Rounded MT Bold</vt:lpstr>
      <vt:lpstr>Symbol</vt:lpstr>
      <vt:lpstr>Calibri</vt:lpstr>
      <vt:lpstr>Calibri Light</vt:lpstr>
      <vt:lpstr>Aptos Display</vt:lpstr>
      <vt:lpstr>Arial</vt:lpstr>
      <vt:lpstr>Abadi</vt:lpstr>
      <vt:lpstr>Cambria Math</vt:lpstr>
      <vt:lpstr>Office Theme</vt:lpstr>
      <vt:lpstr>     LM Big Data Management in Finance  Birmingham Business School  Fundamentals of Machine Learning  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Evaluating Performance  </vt:lpstr>
      <vt:lpstr>Evaluating Performance</vt:lpstr>
      <vt:lpstr>F-Measure</vt:lpstr>
      <vt:lpstr>PowerPoint Presentation</vt:lpstr>
      <vt:lpstr>Regression matrices</vt:lpstr>
      <vt:lpstr>Regression revisit</vt:lpstr>
      <vt:lpstr>PowerPoint Presentation</vt:lpstr>
      <vt:lpstr>PowerPoint Presentation</vt:lpstr>
      <vt:lpstr>Multicollinearity</vt:lpstr>
      <vt:lpstr>Bouncing betas</vt:lpstr>
      <vt:lpstr>Multicollinearity</vt:lpstr>
      <vt:lpstr>Also possible solutions</vt:lpstr>
      <vt:lpstr>Penalization / Regularaization/ Sparse/ Shrinkage  methods  Lasso, Ridge and Elastic Net </vt:lpstr>
      <vt:lpstr>PowerPoint Presentation</vt:lpstr>
      <vt:lpstr>PowerPoint Presentation</vt:lpstr>
      <vt:lpstr>PowerPoint Presentation</vt:lpstr>
      <vt:lpstr>Why is regularization important? </vt:lpstr>
      <vt:lpstr>PowerPoint Presentation</vt:lpstr>
      <vt:lpstr>Regularization: An Overview</vt:lpstr>
      <vt:lpstr>Introduction to LASSO</vt:lpstr>
      <vt:lpstr>Properties of LASSO</vt:lpstr>
      <vt:lpstr>Ridge Regression</vt:lpstr>
      <vt:lpstr>Choosing l</vt:lpstr>
      <vt:lpstr>PowerPoint Presentation</vt:lpstr>
      <vt:lpstr>PowerPoint Presentation</vt:lpstr>
      <vt:lpstr>PowerPoint Presentation</vt:lpstr>
      <vt:lpstr>Elastic Net Regression </vt:lpstr>
      <vt:lpstr>Elastic Net Regression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Animesh Acharjee (Cancer and Genomic Sciences)</dc:creator>
  <cp:lastModifiedBy>Animesh Acharjee (Cancer and Genomic Sciences)</cp:lastModifiedBy>
  <cp:revision>253</cp:revision>
  <dcterms:created xsi:type="dcterms:W3CDTF">2021-10-16T23:34:08Z</dcterms:created>
  <dcterms:modified xsi:type="dcterms:W3CDTF">2026-03-04T10:02:48Z</dcterms:modified>
</cp:coreProperties>
</file>