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1258" r:id="rId2"/>
    <p:sldId id="1299" r:id="rId3"/>
    <p:sldId id="1421" r:id="rId4"/>
    <p:sldId id="1422" r:id="rId5"/>
    <p:sldId id="1303" r:id="rId6"/>
    <p:sldId id="1304" r:id="rId7"/>
    <p:sldId id="1423" r:id="rId8"/>
    <p:sldId id="1300" r:id="rId9"/>
    <p:sldId id="258" r:id="rId10"/>
    <p:sldId id="1245" r:id="rId11"/>
    <p:sldId id="1305" r:id="rId12"/>
    <p:sldId id="269" r:id="rId13"/>
    <p:sldId id="1306" r:id="rId14"/>
    <p:sldId id="1310" r:id="rId15"/>
    <p:sldId id="1307" r:id="rId16"/>
    <p:sldId id="273" r:id="rId17"/>
    <p:sldId id="1308" r:id="rId18"/>
    <p:sldId id="1424" r:id="rId19"/>
  </p:sldIdLst>
  <p:sldSz cx="12192000" cy="6858000"/>
  <p:notesSz cx="6858000" cy="9144000"/>
  <p:embeddedFontLst>
    <p:embeddedFont>
      <p:font typeface="Abadi" panose="020B0604020104020204" pitchFamily="34" charset="0"/>
      <p:regular r:id="rId21"/>
    </p:embeddedFont>
    <p:embeddedFont>
      <p:font typeface="Cambria Math" panose="02040503050406030204" pitchFamily="18" charset="0"/>
      <p:regular r:id="rId22"/>
    </p:embeddedFont>
    <p:embeddedFont>
      <p:font typeface="Candara" panose="020E0502030303020204"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autoAdjust="0"/>
    <p:restoredTop sz="94660"/>
  </p:normalViewPr>
  <p:slideViewPr>
    <p:cSldViewPr snapToGrid="0">
      <p:cViewPr varScale="1">
        <p:scale>
          <a:sx n="116" d="100"/>
          <a:sy n="116" d="100"/>
        </p:scale>
        <p:origin x="126" y="366"/>
      </p:cViewPr>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EE224C-128D-456A-A4F4-65D190DF7DD3}" type="datetimeFigureOut">
              <a:rPr lang="en-GB" smtClean="0"/>
              <a:t>11/03/2025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362CC-BD67-4709-A014-638E88006AE2}" type="slidenum">
              <a:rPr lang="en-GB" smtClean="0"/>
              <a:t>‹#›</a:t>
            </a:fld>
            <a:endParaRPr lang="en-GB"/>
          </a:p>
        </p:txBody>
      </p:sp>
    </p:spTree>
    <p:extLst>
      <p:ext uri="{BB962C8B-B14F-4D97-AF65-F5344CB8AC3E}">
        <p14:creationId xmlns:p14="http://schemas.microsoft.com/office/powerpoint/2010/main" val="2913310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Some of the important  activation functions used in deep learning</a:t>
            </a:r>
            <a:endParaRPr/>
          </a:p>
        </p:txBody>
      </p:sp>
      <p:sp>
        <p:nvSpPr>
          <p:cNvPr id="135" name="Google Shape;135;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9411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5243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0D021-FA61-4DF5-9AEE-86CE54C67D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DB56DA3-42EC-4490-A5AB-D429EC28EB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218109A-E55F-4A1E-BBA4-F5F9E0CCE181}"/>
              </a:ext>
            </a:extLst>
          </p:cNvPr>
          <p:cNvSpPr>
            <a:spLocks noGrp="1"/>
          </p:cNvSpPr>
          <p:nvPr>
            <p:ph type="dt" sz="half" idx="10"/>
          </p:nvPr>
        </p:nvSpPr>
        <p:spPr/>
        <p:txBody>
          <a:bodyPr/>
          <a:lstStyle/>
          <a:p>
            <a:fld id="{A2CE06EC-071B-4FAC-BDFB-0CB0E2153C75}" type="datetime1">
              <a:rPr lang="en-GB" smtClean="0"/>
              <a:t>11/03/2025</a:t>
            </a:fld>
            <a:endParaRPr lang="en-GB"/>
          </a:p>
        </p:txBody>
      </p:sp>
      <p:sp>
        <p:nvSpPr>
          <p:cNvPr id="5" name="Footer Placeholder 4">
            <a:extLst>
              <a:ext uri="{FF2B5EF4-FFF2-40B4-BE49-F238E27FC236}">
                <a16:creationId xmlns:a16="http://schemas.microsoft.com/office/drawing/2014/main" id="{F362AC8E-129E-49A7-AC2F-54C6F7A7867E}"/>
              </a:ext>
            </a:extLst>
          </p:cNvPr>
          <p:cNvSpPr>
            <a:spLocks noGrp="1"/>
          </p:cNvSpPr>
          <p:nvPr>
            <p:ph type="ftr" sz="quarter" idx="11"/>
          </p:nvPr>
        </p:nvSpPr>
        <p:spPr/>
        <p:txBody>
          <a:bodyPr/>
          <a:lstStyle/>
          <a:p>
            <a:r>
              <a:rPr lang="en-GB"/>
              <a:t>Copyright@Dr. Animesh Acharjee</a:t>
            </a:r>
          </a:p>
        </p:txBody>
      </p:sp>
      <p:sp>
        <p:nvSpPr>
          <p:cNvPr id="6" name="Slide Number Placeholder 5">
            <a:extLst>
              <a:ext uri="{FF2B5EF4-FFF2-40B4-BE49-F238E27FC236}">
                <a16:creationId xmlns:a16="http://schemas.microsoft.com/office/drawing/2014/main" id="{DEF92DB4-620E-4D61-AC13-248AD66C4802}"/>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3384669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DCFF0-9A3A-44CF-9D51-3827681864C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95CE322-360A-4B6E-B893-897407749FE0}"/>
              </a:ext>
            </a:extLst>
          </p:cNvPr>
          <p:cNvSpPr>
            <a:spLocks noGrp="1"/>
          </p:cNvSpPr>
          <p:nvPr>
            <p:ph idx="1"/>
          </p:nvPr>
        </p:nvSpPr>
        <p:spPr/>
        <p:txBody>
          <a:bodyPr/>
          <a:lstStyle>
            <a:lvl1pPr>
              <a:defRPr>
                <a:latin typeface="Abadi" panose="020B0604020104020204" pitchFamily="34" charset="0"/>
              </a:defRPr>
            </a:lvl1pPr>
            <a:lvl2pPr>
              <a:defRPr>
                <a:latin typeface="Abadi" panose="020B0604020104020204" pitchFamily="34" charset="0"/>
              </a:defRPr>
            </a:lvl2pPr>
            <a:lvl3pPr>
              <a:defRPr>
                <a:latin typeface="Abadi" panose="020B0604020104020204" pitchFamily="34" charset="0"/>
              </a:defRPr>
            </a:lvl3pPr>
            <a:lvl4pPr>
              <a:defRPr>
                <a:latin typeface="Abadi" panose="020B0604020104020204" pitchFamily="34" charset="0"/>
              </a:defRPr>
            </a:lvl4pPr>
            <a:lvl5pPr>
              <a:defRPr>
                <a:latin typeface="Abadi" panose="020B06040201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6653C2CC-8213-4458-8363-5221404BC20B}"/>
              </a:ext>
            </a:extLst>
          </p:cNvPr>
          <p:cNvSpPr>
            <a:spLocks noGrp="1"/>
          </p:cNvSpPr>
          <p:nvPr>
            <p:ph type="dt" sz="half" idx="10"/>
          </p:nvPr>
        </p:nvSpPr>
        <p:spPr/>
        <p:txBody>
          <a:bodyPr/>
          <a:lstStyle/>
          <a:p>
            <a:fld id="{EBF78A3B-BDB8-444B-B2A0-9D4F0EB91944}" type="datetime1">
              <a:rPr lang="en-GB" smtClean="0"/>
              <a:t>11/03/2025</a:t>
            </a:fld>
            <a:endParaRPr lang="en-GB"/>
          </a:p>
        </p:txBody>
      </p:sp>
      <p:sp>
        <p:nvSpPr>
          <p:cNvPr id="5" name="Footer Placeholder 4">
            <a:extLst>
              <a:ext uri="{FF2B5EF4-FFF2-40B4-BE49-F238E27FC236}">
                <a16:creationId xmlns:a16="http://schemas.microsoft.com/office/drawing/2014/main" id="{2AB73433-DE65-48CB-8218-5773258B6479}"/>
              </a:ext>
            </a:extLst>
          </p:cNvPr>
          <p:cNvSpPr>
            <a:spLocks noGrp="1"/>
          </p:cNvSpPr>
          <p:nvPr>
            <p:ph type="ftr" sz="quarter" idx="11"/>
          </p:nvPr>
        </p:nvSpPr>
        <p:spPr/>
        <p:txBody>
          <a:bodyPr/>
          <a:lstStyle/>
          <a:p>
            <a:r>
              <a:rPr lang="en-GB"/>
              <a:t>Copyright@Dr. Animesh Acharjee</a:t>
            </a:r>
          </a:p>
        </p:txBody>
      </p:sp>
      <p:sp>
        <p:nvSpPr>
          <p:cNvPr id="6" name="Slide Number Placeholder 5">
            <a:extLst>
              <a:ext uri="{FF2B5EF4-FFF2-40B4-BE49-F238E27FC236}">
                <a16:creationId xmlns:a16="http://schemas.microsoft.com/office/drawing/2014/main" id="{5E0E99C2-3B97-4818-BC4D-6E404AE1B8C3}"/>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232920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7A91E-F0A2-4C8E-B9F8-4AEE834BF6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53A5E67-D9FA-4C9C-AA12-C3FD44D0E9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AFA990-87F1-4930-9DAC-42F32B5E5142}"/>
              </a:ext>
            </a:extLst>
          </p:cNvPr>
          <p:cNvSpPr>
            <a:spLocks noGrp="1"/>
          </p:cNvSpPr>
          <p:nvPr>
            <p:ph type="dt" sz="half" idx="10"/>
          </p:nvPr>
        </p:nvSpPr>
        <p:spPr/>
        <p:txBody>
          <a:bodyPr/>
          <a:lstStyle/>
          <a:p>
            <a:fld id="{5EB5590B-804C-43FE-A533-BD4DC20DC9AC}" type="datetime1">
              <a:rPr lang="en-GB" smtClean="0"/>
              <a:t>11/03/2025</a:t>
            </a:fld>
            <a:endParaRPr lang="en-GB"/>
          </a:p>
        </p:txBody>
      </p:sp>
      <p:sp>
        <p:nvSpPr>
          <p:cNvPr id="5" name="Footer Placeholder 4">
            <a:extLst>
              <a:ext uri="{FF2B5EF4-FFF2-40B4-BE49-F238E27FC236}">
                <a16:creationId xmlns:a16="http://schemas.microsoft.com/office/drawing/2014/main" id="{55F80673-D490-4784-97C2-F9443C1ACA82}"/>
              </a:ext>
            </a:extLst>
          </p:cNvPr>
          <p:cNvSpPr>
            <a:spLocks noGrp="1"/>
          </p:cNvSpPr>
          <p:nvPr>
            <p:ph type="ftr" sz="quarter" idx="11"/>
          </p:nvPr>
        </p:nvSpPr>
        <p:spPr/>
        <p:txBody>
          <a:bodyPr/>
          <a:lstStyle/>
          <a:p>
            <a:r>
              <a:rPr lang="en-GB"/>
              <a:t>Copyright@Dr. Animesh Acharjee</a:t>
            </a:r>
          </a:p>
        </p:txBody>
      </p:sp>
      <p:sp>
        <p:nvSpPr>
          <p:cNvPr id="6" name="Slide Number Placeholder 5">
            <a:extLst>
              <a:ext uri="{FF2B5EF4-FFF2-40B4-BE49-F238E27FC236}">
                <a16:creationId xmlns:a16="http://schemas.microsoft.com/office/drawing/2014/main" id="{AC452AF9-B23D-4BD1-97F5-6BD2DF4BC819}"/>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2748000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FADB-25CF-4787-B11A-36BFBB7F7FD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317D744-0A07-45C4-A854-88E11AD7EE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A1579A6-8114-4786-B67F-58DC7B5AE5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AF72DF5-2AF6-4C55-9397-02196E0E0AB6}"/>
              </a:ext>
            </a:extLst>
          </p:cNvPr>
          <p:cNvSpPr>
            <a:spLocks noGrp="1"/>
          </p:cNvSpPr>
          <p:nvPr>
            <p:ph type="dt" sz="half" idx="10"/>
          </p:nvPr>
        </p:nvSpPr>
        <p:spPr/>
        <p:txBody>
          <a:bodyPr/>
          <a:lstStyle/>
          <a:p>
            <a:fld id="{3795F78C-2BC2-43D4-9BE6-CEC6AAFCF5D2}" type="datetime1">
              <a:rPr lang="en-GB" smtClean="0"/>
              <a:t>11/03/2025</a:t>
            </a:fld>
            <a:endParaRPr lang="en-GB"/>
          </a:p>
        </p:txBody>
      </p:sp>
      <p:sp>
        <p:nvSpPr>
          <p:cNvPr id="6" name="Footer Placeholder 5">
            <a:extLst>
              <a:ext uri="{FF2B5EF4-FFF2-40B4-BE49-F238E27FC236}">
                <a16:creationId xmlns:a16="http://schemas.microsoft.com/office/drawing/2014/main" id="{C4CDFCF5-9DA9-4C0F-8791-DE5412B46C20}"/>
              </a:ext>
            </a:extLst>
          </p:cNvPr>
          <p:cNvSpPr>
            <a:spLocks noGrp="1"/>
          </p:cNvSpPr>
          <p:nvPr>
            <p:ph type="ftr" sz="quarter" idx="11"/>
          </p:nvPr>
        </p:nvSpPr>
        <p:spPr/>
        <p:txBody>
          <a:bodyPr/>
          <a:lstStyle/>
          <a:p>
            <a:r>
              <a:rPr lang="en-GB"/>
              <a:t>Copyright@Dr. Animesh Acharjee</a:t>
            </a:r>
          </a:p>
        </p:txBody>
      </p:sp>
      <p:sp>
        <p:nvSpPr>
          <p:cNvPr id="7" name="Slide Number Placeholder 6">
            <a:extLst>
              <a:ext uri="{FF2B5EF4-FFF2-40B4-BE49-F238E27FC236}">
                <a16:creationId xmlns:a16="http://schemas.microsoft.com/office/drawing/2014/main" id="{F3EA5AE4-F7AC-4022-ABF8-7F61FF7144D5}"/>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253188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5A4E-22F8-4EB9-AC08-82F204A83DD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D8376BE-B81D-4072-9748-A4DFB70485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6E5E9E-C0EC-44D4-8C75-19C9C72D71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27252C2-F124-4F3F-9D7A-138B4E806B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0BDA60-4A68-4918-9D35-022B2FFA9A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24B3987-FF07-4633-9DF4-76076C53A22F}"/>
              </a:ext>
            </a:extLst>
          </p:cNvPr>
          <p:cNvSpPr>
            <a:spLocks noGrp="1"/>
          </p:cNvSpPr>
          <p:nvPr>
            <p:ph type="dt" sz="half" idx="10"/>
          </p:nvPr>
        </p:nvSpPr>
        <p:spPr/>
        <p:txBody>
          <a:bodyPr/>
          <a:lstStyle/>
          <a:p>
            <a:fld id="{92907CAB-DA9C-4E58-AE0C-4E50A23BDFE7}" type="datetime1">
              <a:rPr lang="en-GB" smtClean="0"/>
              <a:t>11/03/2025</a:t>
            </a:fld>
            <a:endParaRPr lang="en-GB"/>
          </a:p>
        </p:txBody>
      </p:sp>
      <p:sp>
        <p:nvSpPr>
          <p:cNvPr id="8" name="Footer Placeholder 7">
            <a:extLst>
              <a:ext uri="{FF2B5EF4-FFF2-40B4-BE49-F238E27FC236}">
                <a16:creationId xmlns:a16="http://schemas.microsoft.com/office/drawing/2014/main" id="{021DDD5D-C131-472D-BA1F-D461BA73874D}"/>
              </a:ext>
            </a:extLst>
          </p:cNvPr>
          <p:cNvSpPr>
            <a:spLocks noGrp="1"/>
          </p:cNvSpPr>
          <p:nvPr>
            <p:ph type="ftr" sz="quarter" idx="11"/>
          </p:nvPr>
        </p:nvSpPr>
        <p:spPr/>
        <p:txBody>
          <a:bodyPr/>
          <a:lstStyle/>
          <a:p>
            <a:r>
              <a:rPr lang="en-GB"/>
              <a:t>Copyright@Dr. Animesh Acharjee</a:t>
            </a:r>
          </a:p>
        </p:txBody>
      </p:sp>
      <p:sp>
        <p:nvSpPr>
          <p:cNvPr id="9" name="Slide Number Placeholder 8">
            <a:extLst>
              <a:ext uri="{FF2B5EF4-FFF2-40B4-BE49-F238E27FC236}">
                <a16:creationId xmlns:a16="http://schemas.microsoft.com/office/drawing/2014/main" id="{0BA0C21F-B0BC-464D-8E0C-B0708108E339}"/>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2127867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A3FF-5EC9-4630-B957-18BF100825F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60A7540-2B0D-429E-9DF4-5AA355DC34E1}"/>
              </a:ext>
            </a:extLst>
          </p:cNvPr>
          <p:cNvSpPr>
            <a:spLocks noGrp="1"/>
          </p:cNvSpPr>
          <p:nvPr>
            <p:ph type="dt" sz="half" idx="10"/>
          </p:nvPr>
        </p:nvSpPr>
        <p:spPr/>
        <p:txBody>
          <a:bodyPr/>
          <a:lstStyle/>
          <a:p>
            <a:fld id="{F34463E9-0154-442D-846A-CBA72B4A3C82}" type="datetime1">
              <a:rPr lang="en-GB" smtClean="0"/>
              <a:t>11/03/2025</a:t>
            </a:fld>
            <a:endParaRPr lang="en-GB"/>
          </a:p>
        </p:txBody>
      </p:sp>
      <p:sp>
        <p:nvSpPr>
          <p:cNvPr id="4" name="Footer Placeholder 3">
            <a:extLst>
              <a:ext uri="{FF2B5EF4-FFF2-40B4-BE49-F238E27FC236}">
                <a16:creationId xmlns:a16="http://schemas.microsoft.com/office/drawing/2014/main" id="{6D4CF9AA-309C-4FEA-8F31-A5D7627747D0}"/>
              </a:ext>
            </a:extLst>
          </p:cNvPr>
          <p:cNvSpPr>
            <a:spLocks noGrp="1"/>
          </p:cNvSpPr>
          <p:nvPr>
            <p:ph type="ftr" sz="quarter" idx="11"/>
          </p:nvPr>
        </p:nvSpPr>
        <p:spPr/>
        <p:txBody>
          <a:bodyPr/>
          <a:lstStyle/>
          <a:p>
            <a:r>
              <a:rPr lang="en-GB"/>
              <a:t>Copyright@Dr. Animesh Acharjee</a:t>
            </a:r>
          </a:p>
        </p:txBody>
      </p:sp>
      <p:sp>
        <p:nvSpPr>
          <p:cNvPr id="5" name="Slide Number Placeholder 4">
            <a:extLst>
              <a:ext uri="{FF2B5EF4-FFF2-40B4-BE49-F238E27FC236}">
                <a16:creationId xmlns:a16="http://schemas.microsoft.com/office/drawing/2014/main" id="{7C509102-6437-49DB-B818-F0EA1D853F9A}"/>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375083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78B534-D509-47FF-8AFF-78F08AA46852}"/>
              </a:ext>
            </a:extLst>
          </p:cNvPr>
          <p:cNvSpPr>
            <a:spLocks noGrp="1"/>
          </p:cNvSpPr>
          <p:nvPr>
            <p:ph type="dt" sz="half" idx="10"/>
          </p:nvPr>
        </p:nvSpPr>
        <p:spPr/>
        <p:txBody>
          <a:bodyPr/>
          <a:lstStyle/>
          <a:p>
            <a:fld id="{8972C03C-5254-441A-A423-94D3AAC51EDB}" type="datetime1">
              <a:rPr lang="en-GB" smtClean="0"/>
              <a:t>11/03/2025</a:t>
            </a:fld>
            <a:endParaRPr lang="en-GB"/>
          </a:p>
        </p:txBody>
      </p:sp>
      <p:sp>
        <p:nvSpPr>
          <p:cNvPr id="3" name="Footer Placeholder 2">
            <a:extLst>
              <a:ext uri="{FF2B5EF4-FFF2-40B4-BE49-F238E27FC236}">
                <a16:creationId xmlns:a16="http://schemas.microsoft.com/office/drawing/2014/main" id="{FBB252AD-4B30-4AA8-985F-E31D2243BE91}"/>
              </a:ext>
            </a:extLst>
          </p:cNvPr>
          <p:cNvSpPr>
            <a:spLocks noGrp="1"/>
          </p:cNvSpPr>
          <p:nvPr>
            <p:ph type="ftr" sz="quarter" idx="11"/>
          </p:nvPr>
        </p:nvSpPr>
        <p:spPr/>
        <p:txBody>
          <a:bodyPr/>
          <a:lstStyle/>
          <a:p>
            <a:r>
              <a:rPr lang="en-GB"/>
              <a:t>Copyright@Dr. Animesh Acharjee</a:t>
            </a:r>
          </a:p>
        </p:txBody>
      </p:sp>
      <p:sp>
        <p:nvSpPr>
          <p:cNvPr id="4" name="Slide Number Placeholder 3">
            <a:extLst>
              <a:ext uri="{FF2B5EF4-FFF2-40B4-BE49-F238E27FC236}">
                <a16:creationId xmlns:a16="http://schemas.microsoft.com/office/drawing/2014/main" id="{F2C047F7-20F4-42C4-B326-3078FB1B3FA8}"/>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1605769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C9AB6-88E4-47D5-8302-B29A0D6644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8313A85-EBA3-4C56-951B-5513CD4C48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94EB638-C205-464C-8C2C-DCFD9CEC82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1980B-B4F7-4096-9368-8EA4D0FBA860}"/>
              </a:ext>
            </a:extLst>
          </p:cNvPr>
          <p:cNvSpPr>
            <a:spLocks noGrp="1"/>
          </p:cNvSpPr>
          <p:nvPr>
            <p:ph type="dt" sz="half" idx="10"/>
          </p:nvPr>
        </p:nvSpPr>
        <p:spPr/>
        <p:txBody>
          <a:bodyPr/>
          <a:lstStyle/>
          <a:p>
            <a:fld id="{4DCAF7DC-830C-4AA7-80D5-AE86C7057FC3}" type="datetime1">
              <a:rPr lang="en-GB" smtClean="0"/>
              <a:t>11/03/2025</a:t>
            </a:fld>
            <a:endParaRPr lang="en-GB"/>
          </a:p>
        </p:txBody>
      </p:sp>
      <p:sp>
        <p:nvSpPr>
          <p:cNvPr id="6" name="Footer Placeholder 5">
            <a:extLst>
              <a:ext uri="{FF2B5EF4-FFF2-40B4-BE49-F238E27FC236}">
                <a16:creationId xmlns:a16="http://schemas.microsoft.com/office/drawing/2014/main" id="{3DA00B30-951D-4770-9383-D395744639F6}"/>
              </a:ext>
            </a:extLst>
          </p:cNvPr>
          <p:cNvSpPr>
            <a:spLocks noGrp="1"/>
          </p:cNvSpPr>
          <p:nvPr>
            <p:ph type="ftr" sz="quarter" idx="11"/>
          </p:nvPr>
        </p:nvSpPr>
        <p:spPr/>
        <p:txBody>
          <a:bodyPr/>
          <a:lstStyle/>
          <a:p>
            <a:r>
              <a:rPr lang="en-GB"/>
              <a:t>Copyright@Dr. Animesh Acharjee</a:t>
            </a:r>
          </a:p>
        </p:txBody>
      </p:sp>
      <p:sp>
        <p:nvSpPr>
          <p:cNvPr id="7" name="Slide Number Placeholder 6">
            <a:extLst>
              <a:ext uri="{FF2B5EF4-FFF2-40B4-BE49-F238E27FC236}">
                <a16:creationId xmlns:a16="http://schemas.microsoft.com/office/drawing/2014/main" id="{778722EC-190E-451E-831F-D78AF11CCCB7}"/>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126728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1CE81-6CE1-490C-8E9B-B0CD5A65F7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A00EBF4-97DD-4E7A-A2A9-A22E8D6863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D6137AE-2BEB-4D7D-BE02-251856542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1DFA5-5125-4AF2-A7E5-B56EFACD72A8}"/>
              </a:ext>
            </a:extLst>
          </p:cNvPr>
          <p:cNvSpPr>
            <a:spLocks noGrp="1"/>
          </p:cNvSpPr>
          <p:nvPr>
            <p:ph type="dt" sz="half" idx="10"/>
          </p:nvPr>
        </p:nvSpPr>
        <p:spPr/>
        <p:txBody>
          <a:bodyPr/>
          <a:lstStyle/>
          <a:p>
            <a:fld id="{B346B026-4542-499F-9A1D-A721DF2FFC20}" type="datetime1">
              <a:rPr lang="en-GB" smtClean="0"/>
              <a:t>11/03/2025</a:t>
            </a:fld>
            <a:endParaRPr lang="en-GB"/>
          </a:p>
        </p:txBody>
      </p:sp>
      <p:sp>
        <p:nvSpPr>
          <p:cNvPr id="6" name="Footer Placeholder 5">
            <a:extLst>
              <a:ext uri="{FF2B5EF4-FFF2-40B4-BE49-F238E27FC236}">
                <a16:creationId xmlns:a16="http://schemas.microsoft.com/office/drawing/2014/main" id="{6FFB42B2-6B0B-4CBF-8E3C-1D247832C400}"/>
              </a:ext>
            </a:extLst>
          </p:cNvPr>
          <p:cNvSpPr>
            <a:spLocks noGrp="1"/>
          </p:cNvSpPr>
          <p:nvPr>
            <p:ph type="ftr" sz="quarter" idx="11"/>
          </p:nvPr>
        </p:nvSpPr>
        <p:spPr/>
        <p:txBody>
          <a:bodyPr/>
          <a:lstStyle/>
          <a:p>
            <a:r>
              <a:rPr lang="en-GB"/>
              <a:t>Copyright@Dr. Animesh Acharjee</a:t>
            </a:r>
          </a:p>
        </p:txBody>
      </p:sp>
      <p:sp>
        <p:nvSpPr>
          <p:cNvPr id="7" name="Slide Number Placeholder 6">
            <a:extLst>
              <a:ext uri="{FF2B5EF4-FFF2-40B4-BE49-F238E27FC236}">
                <a16:creationId xmlns:a16="http://schemas.microsoft.com/office/drawing/2014/main" id="{A9B7D182-51CD-4A84-88CC-B8EAC17D1376}"/>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160977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CD44-5DF9-483F-9FE2-5E21B2357EC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3BB9E2E-C598-42CB-85BF-92A5A0F8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40AB771-2910-40A5-AF24-70696D291F7C}"/>
              </a:ext>
            </a:extLst>
          </p:cNvPr>
          <p:cNvSpPr>
            <a:spLocks noGrp="1"/>
          </p:cNvSpPr>
          <p:nvPr>
            <p:ph type="dt" sz="half" idx="10"/>
          </p:nvPr>
        </p:nvSpPr>
        <p:spPr/>
        <p:txBody>
          <a:bodyPr/>
          <a:lstStyle/>
          <a:p>
            <a:fld id="{F084616E-0D47-4B31-A704-2B6013569931}" type="datetime1">
              <a:rPr lang="en-GB" smtClean="0"/>
              <a:t>11/03/2025</a:t>
            </a:fld>
            <a:endParaRPr lang="en-GB"/>
          </a:p>
        </p:txBody>
      </p:sp>
      <p:sp>
        <p:nvSpPr>
          <p:cNvPr id="5" name="Footer Placeholder 4">
            <a:extLst>
              <a:ext uri="{FF2B5EF4-FFF2-40B4-BE49-F238E27FC236}">
                <a16:creationId xmlns:a16="http://schemas.microsoft.com/office/drawing/2014/main" id="{9FFEB6F3-10A9-4F97-A55F-54DBAFCDB1CE}"/>
              </a:ext>
            </a:extLst>
          </p:cNvPr>
          <p:cNvSpPr>
            <a:spLocks noGrp="1"/>
          </p:cNvSpPr>
          <p:nvPr>
            <p:ph type="ftr" sz="quarter" idx="11"/>
          </p:nvPr>
        </p:nvSpPr>
        <p:spPr/>
        <p:txBody>
          <a:bodyPr/>
          <a:lstStyle/>
          <a:p>
            <a:r>
              <a:rPr lang="en-GB"/>
              <a:t>Copyright@Dr. Animesh Acharjee</a:t>
            </a:r>
          </a:p>
        </p:txBody>
      </p:sp>
      <p:sp>
        <p:nvSpPr>
          <p:cNvPr id="6" name="Slide Number Placeholder 5">
            <a:extLst>
              <a:ext uri="{FF2B5EF4-FFF2-40B4-BE49-F238E27FC236}">
                <a16:creationId xmlns:a16="http://schemas.microsoft.com/office/drawing/2014/main" id="{2E4C9F26-88B1-4A68-81B1-9F6635C0720D}"/>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77330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DF4710-C43C-4930-98B6-3F350F9E21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7C17B7-C2DF-4510-96AA-B0DF696CF2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36639F-5AEE-4D67-913A-718020CC29CF}"/>
              </a:ext>
            </a:extLst>
          </p:cNvPr>
          <p:cNvSpPr>
            <a:spLocks noGrp="1"/>
          </p:cNvSpPr>
          <p:nvPr>
            <p:ph type="dt" sz="half" idx="10"/>
          </p:nvPr>
        </p:nvSpPr>
        <p:spPr/>
        <p:txBody>
          <a:bodyPr/>
          <a:lstStyle/>
          <a:p>
            <a:fld id="{F82F5F61-46F7-4C03-A365-B69D6F1C2835}" type="datetime1">
              <a:rPr lang="en-GB" smtClean="0"/>
              <a:t>11/03/2025</a:t>
            </a:fld>
            <a:endParaRPr lang="en-GB"/>
          </a:p>
        </p:txBody>
      </p:sp>
      <p:sp>
        <p:nvSpPr>
          <p:cNvPr id="5" name="Footer Placeholder 4">
            <a:extLst>
              <a:ext uri="{FF2B5EF4-FFF2-40B4-BE49-F238E27FC236}">
                <a16:creationId xmlns:a16="http://schemas.microsoft.com/office/drawing/2014/main" id="{A6A3CC79-9E04-4BBA-B819-73FCF6149E5D}"/>
              </a:ext>
            </a:extLst>
          </p:cNvPr>
          <p:cNvSpPr>
            <a:spLocks noGrp="1"/>
          </p:cNvSpPr>
          <p:nvPr>
            <p:ph type="ftr" sz="quarter" idx="11"/>
          </p:nvPr>
        </p:nvSpPr>
        <p:spPr/>
        <p:txBody>
          <a:bodyPr/>
          <a:lstStyle/>
          <a:p>
            <a:r>
              <a:rPr lang="en-GB"/>
              <a:t>Copyright@Dr. Animesh Acharjee</a:t>
            </a:r>
          </a:p>
        </p:txBody>
      </p:sp>
      <p:sp>
        <p:nvSpPr>
          <p:cNvPr id="6" name="Slide Number Placeholder 5">
            <a:extLst>
              <a:ext uri="{FF2B5EF4-FFF2-40B4-BE49-F238E27FC236}">
                <a16:creationId xmlns:a16="http://schemas.microsoft.com/office/drawing/2014/main" id="{C38F9845-A630-4755-AC4A-6DDE60B4AB76}"/>
              </a:ext>
            </a:extLst>
          </p:cNvPr>
          <p:cNvSpPr>
            <a:spLocks noGrp="1"/>
          </p:cNvSpPr>
          <p:nvPr>
            <p:ph type="sldNum" sz="quarter" idx="12"/>
          </p:nvPr>
        </p:nvSpPr>
        <p:spPr/>
        <p:txBody>
          <a:bodyPr/>
          <a:lstStyle/>
          <a:p>
            <a:fld id="{E490F508-D1E0-4939-8C09-005513187057}" type="slidenum">
              <a:rPr lang="en-GB" smtClean="0"/>
              <a:t>‹#›</a:t>
            </a:fld>
            <a:endParaRPr lang="en-GB"/>
          </a:p>
        </p:txBody>
      </p:sp>
    </p:spTree>
    <p:extLst>
      <p:ext uri="{BB962C8B-B14F-4D97-AF65-F5344CB8AC3E}">
        <p14:creationId xmlns:p14="http://schemas.microsoft.com/office/powerpoint/2010/main" val="81057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BCC2FB-3387-4817-AA29-0AF90F95EC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09A60DA-4AB1-4055-9BB2-8D7AA55F39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A743867-B67C-43B9-9B78-ECABB505C6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AFB243-0F96-4CDD-8A9A-8745CC9885B4}" type="datetime1">
              <a:rPr lang="en-GB" smtClean="0"/>
              <a:t>11/03/2025</a:t>
            </a:fld>
            <a:endParaRPr lang="en-GB"/>
          </a:p>
        </p:txBody>
      </p:sp>
      <p:sp>
        <p:nvSpPr>
          <p:cNvPr id="5" name="Footer Placeholder 4">
            <a:extLst>
              <a:ext uri="{FF2B5EF4-FFF2-40B4-BE49-F238E27FC236}">
                <a16:creationId xmlns:a16="http://schemas.microsoft.com/office/drawing/2014/main" id="{DEB70401-B907-4180-9E7B-7008DCEFD2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Copyright@Dr. Animesh Acharjee</a:t>
            </a:r>
          </a:p>
        </p:txBody>
      </p:sp>
      <p:sp>
        <p:nvSpPr>
          <p:cNvPr id="6" name="Slide Number Placeholder 5">
            <a:extLst>
              <a:ext uri="{FF2B5EF4-FFF2-40B4-BE49-F238E27FC236}">
                <a16:creationId xmlns:a16="http://schemas.microsoft.com/office/drawing/2014/main" id="{63DF21ED-C270-4B01-B79D-992BEDAA4B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90F508-D1E0-4939-8C09-005513187057}" type="slidenum">
              <a:rPr lang="en-GB" smtClean="0"/>
              <a:t>‹#›</a:t>
            </a:fld>
            <a:endParaRPr lang="en-GB"/>
          </a:p>
        </p:txBody>
      </p:sp>
    </p:spTree>
    <p:extLst>
      <p:ext uri="{BB962C8B-B14F-4D97-AF65-F5344CB8AC3E}">
        <p14:creationId xmlns:p14="http://schemas.microsoft.com/office/powerpoint/2010/main" val="3309632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panose="020B06040201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panose="020B06040201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1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1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BBE84-9302-4ACF-A44E-EB6B7C49C4ED}"/>
              </a:ext>
            </a:extLst>
          </p:cNvPr>
          <p:cNvSpPr>
            <a:spLocks noGrp="1"/>
          </p:cNvSpPr>
          <p:nvPr>
            <p:ph type="ctrTitle"/>
          </p:nvPr>
        </p:nvSpPr>
        <p:spPr>
          <a:xfrm>
            <a:off x="629023" y="2547509"/>
            <a:ext cx="11090245" cy="3055354"/>
          </a:xfrm>
        </p:spPr>
        <p:txBody>
          <a:bodyPr>
            <a:noAutofit/>
          </a:bodyPr>
          <a:lstStyle/>
          <a:p>
            <a:r>
              <a:rPr lang="en-GB" sz="4000" b="1" i="0" dirty="0">
                <a:effectLst/>
                <a:latin typeface="Abadi" panose="020B0604020104020204" pitchFamily="34" charset="0"/>
              </a:rPr>
              <a:t>LM Big Data Management in Finance (36320)</a:t>
            </a:r>
            <a:br>
              <a:rPr lang="en-GB" sz="4000" b="1" i="0" dirty="0">
                <a:solidFill>
                  <a:srgbClr val="666666"/>
                </a:solidFill>
                <a:effectLst/>
                <a:latin typeface="Lato Extended"/>
              </a:rPr>
            </a:br>
            <a:r>
              <a:rPr lang="en-GB" sz="3600" b="0" i="0" dirty="0">
                <a:effectLst/>
                <a:latin typeface="Abadi" panose="020B0604020104020204" pitchFamily="34" charset="0"/>
              </a:rPr>
              <a:t>Birmingham Business School</a:t>
            </a:r>
            <a:br>
              <a:rPr lang="en-GB" sz="4400" b="0" i="0" dirty="0">
                <a:effectLst/>
                <a:latin typeface="Abadi" panose="020B0604020104020204" pitchFamily="34" charset="0"/>
              </a:rPr>
            </a:br>
            <a:endParaRPr lang="en-GB" sz="4400" dirty="0">
              <a:latin typeface="Abadi" panose="020B0604020104020204" pitchFamily="34" charset="0"/>
            </a:endParaRPr>
          </a:p>
        </p:txBody>
      </p:sp>
      <p:pic>
        <p:nvPicPr>
          <p:cNvPr id="1026" name="Picture 2" descr="On the Move to the University of Birmingham – Professor Fiona de Londras">
            <a:extLst>
              <a:ext uri="{FF2B5EF4-FFF2-40B4-BE49-F238E27FC236}">
                <a16:creationId xmlns:a16="http://schemas.microsoft.com/office/drawing/2014/main" id="{EE19BDDD-C5EE-4128-9385-990B24C27A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6124" y="118144"/>
            <a:ext cx="2403183" cy="2128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520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624914" y="3314785"/>
            <a:ext cx="8679110" cy="1470025"/>
          </a:xfrm>
          <a:prstGeom prst="rect">
            <a:avLst/>
          </a:prstGeom>
          <a:noFill/>
          <a:ln>
            <a:noFill/>
          </a:ln>
        </p:spPr>
        <p:txBody>
          <a:bodyPr spcFirstLastPara="1" vert="horz" wrap="square" lIns="91425" tIns="45700" rIns="91425" bIns="45700" rtlCol="0" anchor="ctr" anchorCtr="0">
            <a:normAutofit fontScale="90000"/>
          </a:bodyPr>
          <a:lstStyle/>
          <a:p>
            <a:pPr>
              <a:spcBef>
                <a:spcPts val="0"/>
              </a:spcBef>
              <a:buClr>
                <a:schemeClr val="dk1"/>
              </a:buClr>
              <a:buSzPts val="4400"/>
            </a:pPr>
            <a:r>
              <a:rPr lang="en-US" sz="4400" dirty="0">
                <a:latin typeface="Abadi" panose="020B0604020104020204" pitchFamily="34" charset="0"/>
              </a:rPr>
              <a:t>Artificial Neural Network-Basics</a:t>
            </a:r>
            <a:br>
              <a:rPr lang="en-US" sz="4400" dirty="0">
                <a:latin typeface="Abadi" panose="020B0604020104020204" pitchFamily="34" charset="0"/>
              </a:rPr>
            </a:br>
            <a:r>
              <a:rPr lang="en-US" sz="4400" dirty="0">
                <a:latin typeface="Abadi" panose="020B0604020104020204" pitchFamily="34" charset="0"/>
              </a:rPr>
              <a:t>(ANN)</a:t>
            </a:r>
            <a:br>
              <a:rPr lang="en-US" dirty="0">
                <a:latin typeface="Abadi" panose="020B0604020104020204" pitchFamily="34" charset="0"/>
              </a:rPr>
            </a:br>
            <a:endParaRPr dirty="0">
              <a:latin typeface="Abadi" panose="020B06040201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6626" name="Picture 2" descr="Schematic of Neuron">
            <a:extLst>
              <a:ext uri="{FF2B5EF4-FFF2-40B4-BE49-F238E27FC236}">
                <a16:creationId xmlns:a16="http://schemas.microsoft.com/office/drawing/2014/main" id="{308D55AA-E1E0-4D99-8875-E1552A9B17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47582" y="1506236"/>
            <a:ext cx="8125251" cy="347354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79B4F4CA-E86D-48B4-B85B-96008240B736}"/>
              </a:ext>
            </a:extLst>
          </p:cNvPr>
          <p:cNvSpPr txBox="1">
            <a:spLocks/>
          </p:cNvSpPr>
          <p:nvPr/>
        </p:nvSpPr>
        <p:spPr>
          <a:xfrm>
            <a:off x="4068662" y="242042"/>
            <a:ext cx="5318620" cy="60960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Abadi" panose="020B0604020104020204" pitchFamily="34" charset="0"/>
              </a:rPr>
              <a:t>Biological motivation</a:t>
            </a:r>
            <a:br>
              <a:rPr lang="en-US" sz="3600" b="1" dirty="0">
                <a:latin typeface="Abadi" panose="020B0604020104020204" pitchFamily="34" charset="0"/>
              </a:rPr>
            </a:br>
            <a:endParaRPr lang="en-US" sz="3600" dirty="0">
              <a:latin typeface="Abadi" panose="020B0604020104020204" pitchFamily="34" charset="0"/>
            </a:endParaRPr>
          </a:p>
        </p:txBody>
      </p:sp>
    </p:spTree>
    <p:extLst>
      <p:ext uri="{BB962C8B-B14F-4D97-AF65-F5344CB8AC3E}">
        <p14:creationId xmlns:p14="http://schemas.microsoft.com/office/powerpoint/2010/main" val="346930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2" name="Picture 4" descr="2 The structure of the artificial neuron. | Download Scientific Diagram">
            <a:extLst>
              <a:ext uri="{FF2B5EF4-FFF2-40B4-BE49-F238E27FC236}">
                <a16:creationId xmlns:a16="http://schemas.microsoft.com/office/drawing/2014/main" id="{15802B6C-F6AE-4569-AE5D-723AE7251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685" y="1035309"/>
            <a:ext cx="5886670" cy="34073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94197F2-652A-42E5-BA1E-916065FE3306}"/>
                  </a:ext>
                </a:extLst>
              </p:cNvPr>
              <p:cNvSpPr txBox="1"/>
              <p:nvPr/>
            </p:nvSpPr>
            <p:spPr>
              <a:xfrm>
                <a:off x="3893242" y="3032072"/>
                <a:ext cx="157390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000" b="1" i="1" smtClean="0">
                          <a:latin typeface="Cambria Math" panose="02040503050406030204" pitchFamily="18" charset="0"/>
                        </a:rPr>
                        <m:t>𝒇</m:t>
                      </m:r>
                      <m:d>
                        <m:dPr>
                          <m:ctrlPr>
                            <a:rPr lang="en-GB" sz="2000" b="1" i="1">
                              <a:solidFill>
                                <a:srgbClr val="836967"/>
                              </a:solidFill>
                              <a:latin typeface="Cambria Math" panose="02040503050406030204" pitchFamily="18" charset="0"/>
                            </a:rPr>
                          </m:ctrlPr>
                        </m:dPr>
                        <m:e>
                          <m:r>
                            <a:rPr lang="en-GB" sz="2000" b="1" i="1">
                              <a:latin typeface="Cambria Math" panose="02040503050406030204" pitchFamily="18" charset="0"/>
                            </a:rPr>
                            <m:t>𝜮</m:t>
                          </m:r>
                          <m:sSub>
                            <m:sSubPr>
                              <m:ctrlPr>
                                <a:rPr lang="en-GB" sz="2000" b="1" i="1">
                                  <a:solidFill>
                                    <a:srgbClr val="836967"/>
                                  </a:solidFill>
                                  <a:latin typeface="Cambria Math" panose="02040503050406030204" pitchFamily="18" charset="0"/>
                                </a:rPr>
                              </m:ctrlPr>
                            </m:sSubPr>
                            <m:e>
                              <m:r>
                                <a:rPr lang="en-GB" sz="2000" b="1" i="1">
                                  <a:latin typeface="Cambria Math" panose="02040503050406030204" pitchFamily="18" charset="0"/>
                                </a:rPr>
                                <m:t>𝝎</m:t>
                              </m:r>
                            </m:e>
                            <m:sub>
                              <m:r>
                                <a:rPr lang="en-GB" sz="2000" b="1" i="1">
                                  <a:latin typeface="Cambria Math" panose="02040503050406030204" pitchFamily="18" charset="0"/>
                                </a:rPr>
                                <m:t>𝒊</m:t>
                              </m:r>
                            </m:sub>
                          </m:sSub>
                          <m:sSub>
                            <m:sSubPr>
                              <m:ctrlPr>
                                <a:rPr lang="en-GB" sz="2000" b="1" i="1">
                                  <a:solidFill>
                                    <a:srgbClr val="836967"/>
                                  </a:solidFill>
                                  <a:latin typeface="Cambria Math" panose="02040503050406030204" pitchFamily="18" charset="0"/>
                                </a:rPr>
                              </m:ctrlPr>
                            </m:sSubPr>
                            <m:e>
                              <m:r>
                                <a:rPr lang="en-GB" sz="2000" b="1" i="1">
                                  <a:latin typeface="Cambria Math" panose="02040503050406030204" pitchFamily="18" charset="0"/>
                                </a:rPr>
                                <m:t>𝒙</m:t>
                              </m:r>
                            </m:e>
                            <m:sub>
                              <m:r>
                                <a:rPr lang="en-GB" sz="2000" b="1" i="1">
                                  <a:latin typeface="Cambria Math" panose="02040503050406030204" pitchFamily="18" charset="0"/>
                                </a:rPr>
                                <m:t>𝒊</m:t>
                              </m:r>
                            </m:sub>
                          </m:sSub>
                          <m:r>
                            <a:rPr lang="en-GB" sz="2000" b="1" i="0">
                              <a:latin typeface="Cambria Math" panose="02040503050406030204" pitchFamily="18" charset="0"/>
                            </a:rPr>
                            <m:t>+</m:t>
                          </m:r>
                          <m:r>
                            <a:rPr lang="en-GB" sz="2000" b="1" i="1">
                              <a:latin typeface="Cambria Math" panose="02040503050406030204" pitchFamily="18" charset="0"/>
                            </a:rPr>
                            <m:t>𝜽</m:t>
                          </m:r>
                        </m:e>
                      </m:d>
                    </m:oMath>
                  </m:oMathPara>
                </a14:m>
                <a:endParaRPr lang="en-GB" sz="2000" b="1" dirty="0"/>
              </a:p>
            </p:txBody>
          </p:sp>
        </mc:Choice>
        <mc:Fallback xmlns="">
          <p:sp>
            <p:nvSpPr>
              <p:cNvPr id="5" name="TextBox 4">
                <a:extLst>
                  <a:ext uri="{FF2B5EF4-FFF2-40B4-BE49-F238E27FC236}">
                    <a16:creationId xmlns:a16="http://schemas.microsoft.com/office/drawing/2014/main" id="{094197F2-652A-42E5-BA1E-916065FE3306}"/>
                  </a:ext>
                </a:extLst>
              </p:cNvPr>
              <p:cNvSpPr txBox="1">
                <a:spLocks noRot="1" noChangeAspect="1" noMove="1" noResize="1" noEditPoints="1" noAdjustHandles="1" noChangeArrowheads="1" noChangeShapeType="1" noTextEdit="1"/>
              </p:cNvSpPr>
              <p:nvPr/>
            </p:nvSpPr>
            <p:spPr>
              <a:xfrm>
                <a:off x="3893242" y="3032072"/>
                <a:ext cx="1573907" cy="307777"/>
              </a:xfrm>
              <a:prstGeom prst="rect">
                <a:avLst/>
              </a:prstGeom>
              <a:blipFill>
                <a:blip r:embed="rId3"/>
                <a:stretch>
                  <a:fillRect l="-5039" b="-33333"/>
                </a:stretch>
              </a:blipFill>
            </p:spPr>
            <p:txBody>
              <a:bodyPr/>
              <a:lstStyle/>
              <a:p>
                <a:r>
                  <a:rPr lang="en-GB">
                    <a:noFill/>
                  </a:rPr>
                  <a:t> </a:t>
                </a:r>
              </a:p>
            </p:txBody>
          </p:sp>
        </mc:Fallback>
      </mc:AlternateContent>
      <p:sp>
        <p:nvSpPr>
          <p:cNvPr id="8" name="Title 1">
            <a:extLst>
              <a:ext uri="{FF2B5EF4-FFF2-40B4-BE49-F238E27FC236}">
                <a16:creationId xmlns:a16="http://schemas.microsoft.com/office/drawing/2014/main" id="{7BE86BD0-7022-4022-B539-5C513F8067F9}"/>
              </a:ext>
            </a:extLst>
          </p:cNvPr>
          <p:cNvSpPr txBox="1">
            <a:spLocks/>
          </p:cNvSpPr>
          <p:nvPr/>
        </p:nvSpPr>
        <p:spPr>
          <a:xfrm>
            <a:off x="2791325" y="134759"/>
            <a:ext cx="7029093" cy="60960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Abadi" panose="020B0604020104020204" pitchFamily="34" charset="0"/>
              </a:rPr>
              <a:t>Biological motivation</a:t>
            </a:r>
            <a:r>
              <a:rPr lang="en-US" sz="3600" b="1" dirty="0">
                <a:latin typeface="Abadi" panose="020B0604020104020204" pitchFamily="34" charset="0"/>
                <a:sym typeface="Wingdings" panose="05000000000000000000" pitchFamily="2" charset="2"/>
              </a:rPr>
              <a:t> Algorithm</a:t>
            </a:r>
            <a:br>
              <a:rPr lang="en-US" sz="3600" b="1" dirty="0">
                <a:latin typeface="Abadi" panose="020B0604020104020204" pitchFamily="34" charset="0"/>
              </a:rPr>
            </a:br>
            <a:endParaRPr lang="en-US" sz="3600" dirty="0">
              <a:latin typeface="Abadi" panose="020B0604020104020204" pitchFamily="34" charset="0"/>
            </a:endParaRPr>
          </a:p>
        </p:txBody>
      </p:sp>
      <p:pic>
        <p:nvPicPr>
          <p:cNvPr id="7" name="Picture 6">
            <a:extLst>
              <a:ext uri="{FF2B5EF4-FFF2-40B4-BE49-F238E27FC236}">
                <a16:creationId xmlns:a16="http://schemas.microsoft.com/office/drawing/2014/main" id="{D25F6EE9-AF26-4A94-8CEF-8CC00C94F604}"/>
              </a:ext>
            </a:extLst>
          </p:cNvPr>
          <p:cNvPicPr>
            <a:picLocks noChangeAspect="1"/>
          </p:cNvPicPr>
          <p:nvPr/>
        </p:nvPicPr>
        <p:blipFill>
          <a:blip r:embed="rId4"/>
          <a:stretch>
            <a:fillRect/>
          </a:stretch>
        </p:blipFill>
        <p:spPr>
          <a:xfrm>
            <a:off x="7356802" y="1204761"/>
            <a:ext cx="4165513" cy="3543668"/>
          </a:xfrm>
          <a:prstGeom prst="rect">
            <a:avLst/>
          </a:prstGeom>
        </p:spPr>
      </p:pic>
      <p:sp>
        <p:nvSpPr>
          <p:cNvPr id="12" name="Rectangle 11">
            <a:extLst>
              <a:ext uri="{FF2B5EF4-FFF2-40B4-BE49-F238E27FC236}">
                <a16:creationId xmlns:a16="http://schemas.microsoft.com/office/drawing/2014/main" id="{49B2C76F-A78D-40FC-B9DD-9D26EF65A840}"/>
              </a:ext>
            </a:extLst>
          </p:cNvPr>
          <p:cNvSpPr/>
          <p:nvPr/>
        </p:nvSpPr>
        <p:spPr>
          <a:xfrm>
            <a:off x="177473" y="4481940"/>
            <a:ext cx="11568418" cy="2403094"/>
          </a:xfrm>
          <a:prstGeom prst="rect">
            <a:avLst/>
          </a:prstGeom>
        </p:spPr>
        <p:txBody>
          <a:bodyPr wrap="square">
            <a:spAutoFit/>
          </a:bodyPr>
          <a:lstStyle/>
          <a:p>
            <a:endParaRPr lang="en-GB" dirty="0">
              <a:latin typeface="Candara" panose="020E0502030303020204" pitchFamily="34" charset="0"/>
            </a:endParaRPr>
          </a:p>
          <a:p>
            <a:pPr marL="257175" indent="-257175">
              <a:lnSpc>
                <a:spcPct val="150000"/>
              </a:lnSpc>
              <a:buFont typeface="Arial" panose="020B0604020202020204" pitchFamily="34" charset="0"/>
              <a:buChar char="•"/>
            </a:pPr>
            <a:r>
              <a:rPr lang="en-GB" b="1" dirty="0">
                <a:solidFill>
                  <a:srgbClr val="0070C0"/>
                </a:solidFill>
                <a:latin typeface="Abadi" panose="020B0604020104020204" pitchFamily="34" charset="0"/>
              </a:rPr>
              <a:t>Input layer: </a:t>
            </a:r>
            <a:r>
              <a:rPr lang="en-GB" dirty="0">
                <a:latin typeface="Abadi" panose="020B0604020104020204" pitchFamily="34" charset="0"/>
              </a:rPr>
              <a:t>accepts the data vector or pattern</a:t>
            </a:r>
          </a:p>
          <a:p>
            <a:pPr marL="257175" indent="-257175">
              <a:lnSpc>
                <a:spcPct val="150000"/>
              </a:lnSpc>
              <a:buFont typeface="Arial" panose="020B0604020202020204" pitchFamily="34" charset="0"/>
              <a:buChar char="•"/>
            </a:pPr>
            <a:r>
              <a:rPr lang="en-GB" b="1" dirty="0">
                <a:solidFill>
                  <a:srgbClr val="0070C0"/>
                </a:solidFill>
                <a:latin typeface="Abadi" panose="020B0604020104020204" pitchFamily="34" charset="0"/>
              </a:rPr>
              <a:t>Hidden layers: </a:t>
            </a:r>
            <a:r>
              <a:rPr lang="en-GB" dirty="0">
                <a:latin typeface="Abadi" panose="020B0604020104020204" pitchFamily="34" charset="0"/>
              </a:rPr>
              <a:t>They accept the output from the previous layer, weight them, and pass through a, normally, non-linear activation function.</a:t>
            </a:r>
          </a:p>
          <a:p>
            <a:pPr marL="257175" indent="-257175">
              <a:lnSpc>
                <a:spcPct val="150000"/>
              </a:lnSpc>
              <a:buFont typeface="Arial" panose="020B0604020202020204" pitchFamily="34" charset="0"/>
              <a:buChar char="•"/>
            </a:pPr>
            <a:r>
              <a:rPr lang="en-GB" b="1" dirty="0">
                <a:solidFill>
                  <a:srgbClr val="0070C0"/>
                </a:solidFill>
                <a:latin typeface="Abadi" panose="020B0604020104020204" pitchFamily="34" charset="0"/>
              </a:rPr>
              <a:t>Output layer: </a:t>
            </a:r>
            <a:r>
              <a:rPr lang="en-GB" dirty="0">
                <a:latin typeface="Abadi" panose="020B0604020104020204" pitchFamily="34" charset="0"/>
              </a:rPr>
              <a:t>takes the output from the final hidden layer weights them, and possibly pass through an output nonlinearity, to produce the target values</a:t>
            </a:r>
          </a:p>
        </p:txBody>
      </p:sp>
      <p:sp>
        <p:nvSpPr>
          <p:cNvPr id="3" name="Rectangle: Rounded Corners 2">
            <a:extLst>
              <a:ext uri="{FF2B5EF4-FFF2-40B4-BE49-F238E27FC236}">
                <a16:creationId xmlns:a16="http://schemas.microsoft.com/office/drawing/2014/main" id="{8A6323C0-4417-4599-B17C-F22947406074}"/>
              </a:ext>
            </a:extLst>
          </p:cNvPr>
          <p:cNvSpPr/>
          <p:nvPr/>
        </p:nvSpPr>
        <p:spPr>
          <a:xfrm>
            <a:off x="2382473" y="1761688"/>
            <a:ext cx="2986481" cy="1929468"/>
          </a:xfrm>
          <a:prstGeom prst="roundRect">
            <a:avLst/>
          </a:prstGeom>
          <a:noFill/>
          <a:ln w="317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7913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6"/>
          <p:cNvSpPr txBox="1">
            <a:spLocks noGrp="1"/>
          </p:cNvSpPr>
          <p:nvPr>
            <p:ph type="title"/>
          </p:nvPr>
        </p:nvSpPr>
        <p:spPr>
          <a:xfrm>
            <a:off x="1981200" y="274638"/>
            <a:ext cx="8229600" cy="664929"/>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sz="3600" b="1" dirty="0">
                <a:latin typeface="Abadi" panose="020B0604020104020204" pitchFamily="34" charset="0"/>
              </a:rPr>
              <a:t>Artificial neural networks</a:t>
            </a:r>
            <a:endParaRPr sz="3600" b="1" dirty="0">
              <a:latin typeface="Abadi" panose="020B0604020104020204" pitchFamily="34" charset="0"/>
            </a:endParaRPr>
          </a:p>
        </p:txBody>
      </p:sp>
      <p:sp>
        <p:nvSpPr>
          <p:cNvPr id="131" name="Google Shape;131;p6"/>
          <p:cNvSpPr txBox="1">
            <a:spLocks noGrp="1"/>
          </p:cNvSpPr>
          <p:nvPr>
            <p:ph type="body" idx="1"/>
          </p:nvPr>
        </p:nvSpPr>
        <p:spPr>
          <a:xfrm>
            <a:off x="385893" y="1283516"/>
            <a:ext cx="11593585" cy="5018817"/>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ct val="100000"/>
            </a:pPr>
            <a:r>
              <a:rPr lang="en-US" sz="2400" dirty="0"/>
              <a:t>Artificial neural networks( ANNs)</a:t>
            </a:r>
            <a:endParaRPr sz="2400" dirty="0"/>
          </a:p>
          <a:p>
            <a:pPr lvl="1">
              <a:spcBef>
                <a:spcPts val="350"/>
              </a:spcBef>
              <a:buClr>
                <a:schemeClr val="dk1"/>
              </a:buClr>
              <a:buSzPct val="100000"/>
            </a:pPr>
            <a:r>
              <a:rPr lang="en-US" dirty="0">
                <a:latin typeface="Abadi" panose="020B0604020104020204" pitchFamily="34" charset="0"/>
              </a:rPr>
              <a:t> Are composed of multiple artificial neuron nodes, which imitate biological neurons of the human brain. </a:t>
            </a:r>
            <a:endParaRPr dirty="0">
              <a:latin typeface="Abadi" panose="020B0604020104020204" pitchFamily="34" charset="0"/>
            </a:endParaRPr>
          </a:p>
          <a:p>
            <a:pPr lvl="1">
              <a:spcBef>
                <a:spcPts val="350"/>
              </a:spcBef>
              <a:buClr>
                <a:schemeClr val="dk1"/>
              </a:buClr>
              <a:buSzPct val="100000"/>
            </a:pPr>
            <a:r>
              <a:rPr lang="en-US" dirty="0">
                <a:latin typeface="Abadi" panose="020B0604020104020204" pitchFamily="34" charset="0"/>
              </a:rPr>
              <a:t>Unlike biological neurons, there is only one type of link that connects one neuron to others. </a:t>
            </a:r>
            <a:endParaRPr dirty="0">
              <a:latin typeface="Abadi" panose="020B0604020104020204" pitchFamily="34" charset="0"/>
            </a:endParaRPr>
          </a:p>
          <a:p>
            <a:pPr lvl="1">
              <a:spcBef>
                <a:spcPts val="350"/>
              </a:spcBef>
              <a:buClr>
                <a:schemeClr val="dk1"/>
              </a:buClr>
              <a:buSzPct val="100000"/>
            </a:pPr>
            <a:r>
              <a:rPr lang="en-US" dirty="0">
                <a:latin typeface="Abadi" panose="020B0604020104020204" pitchFamily="34" charset="0"/>
              </a:rPr>
              <a:t>The neurons take input data and simple operations are performed on those data. </a:t>
            </a:r>
            <a:endParaRPr dirty="0">
              <a:latin typeface="Abadi" panose="020B0604020104020204" pitchFamily="34" charset="0"/>
            </a:endParaRPr>
          </a:p>
          <a:p>
            <a:pPr lvl="1">
              <a:spcBef>
                <a:spcPts val="350"/>
              </a:spcBef>
              <a:buClr>
                <a:schemeClr val="dk1"/>
              </a:buClr>
              <a:buSzPct val="100000"/>
            </a:pPr>
            <a:r>
              <a:rPr lang="en-US" dirty="0">
                <a:latin typeface="Abadi" panose="020B0604020104020204" pitchFamily="34" charset="0"/>
              </a:rPr>
              <a:t>The result of these operations is passed to other neurons. </a:t>
            </a:r>
            <a:endParaRPr dirty="0">
              <a:latin typeface="Abadi" panose="020B0604020104020204" pitchFamily="34" charset="0"/>
            </a:endParaRPr>
          </a:p>
          <a:p>
            <a:pPr lvl="1">
              <a:spcBef>
                <a:spcPts val="350"/>
              </a:spcBef>
              <a:buClr>
                <a:schemeClr val="dk1"/>
              </a:buClr>
              <a:buSzPct val="100000"/>
            </a:pPr>
            <a:r>
              <a:rPr lang="en-US" dirty="0">
                <a:latin typeface="Abadi" panose="020B0604020104020204" pitchFamily="34" charset="0"/>
              </a:rPr>
              <a:t>Whether the result will be passed, is determined by the activation function</a:t>
            </a:r>
            <a:endParaRPr dirty="0">
              <a:latin typeface="Abadi" panose="020B0604020104020204" pitchFamily="34" charset="0"/>
            </a:endParaRPr>
          </a:p>
          <a:p>
            <a:pPr lvl="1">
              <a:spcBef>
                <a:spcPts val="350"/>
              </a:spcBef>
              <a:buClr>
                <a:schemeClr val="dk1"/>
              </a:buClr>
              <a:buSzPct val="100000"/>
            </a:pPr>
            <a:r>
              <a:rPr lang="en-US" dirty="0">
                <a:latin typeface="Abadi" panose="020B0604020104020204" pitchFamily="34" charset="0"/>
              </a:rPr>
              <a:t>The activation function plays an important role for both feature extraction and classification.</a:t>
            </a:r>
            <a:endParaRPr dirty="0">
              <a:latin typeface="Abadi" panose="020B0604020104020204" pitchFamily="34" charset="0"/>
            </a:endParaRPr>
          </a:p>
          <a:p>
            <a:pPr marL="342900" indent="-342900">
              <a:spcBef>
                <a:spcPts val="400"/>
              </a:spcBef>
              <a:buClr>
                <a:schemeClr val="dk1"/>
              </a:buClr>
              <a:buSzPct val="100000"/>
            </a:pPr>
            <a:r>
              <a:rPr lang="en-US" sz="2400" dirty="0"/>
              <a:t>Artificial Neural Networks are capable of learning non-linear functions. </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1981200" y="206248"/>
            <a:ext cx="8229600" cy="715963"/>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sz="3600" b="1" dirty="0">
                <a:latin typeface="Abadi" panose="020B0604020104020204" pitchFamily="34" charset="0"/>
              </a:rPr>
              <a:t>Activation functions</a:t>
            </a:r>
            <a:endParaRPr sz="3600" b="1" dirty="0">
              <a:latin typeface="Abadi" panose="020B0604020104020204" pitchFamily="34" charset="0"/>
            </a:endParaRPr>
          </a:p>
        </p:txBody>
      </p:sp>
      <p:sp>
        <p:nvSpPr>
          <p:cNvPr id="138" name="Google Shape;138;p7"/>
          <p:cNvSpPr txBox="1">
            <a:spLocks noGrp="1"/>
          </p:cNvSpPr>
          <p:nvPr>
            <p:ph type="body" idx="1"/>
          </p:nvPr>
        </p:nvSpPr>
        <p:spPr>
          <a:xfrm>
            <a:off x="541688" y="876301"/>
            <a:ext cx="4193941" cy="5410200"/>
          </a:xfrm>
          <a:prstGeom prst="rect">
            <a:avLst/>
          </a:prstGeom>
          <a:noFill/>
          <a:ln>
            <a:noFill/>
          </a:ln>
        </p:spPr>
        <p:txBody>
          <a:bodyPr spcFirstLastPara="1" vert="horz" wrap="square" lIns="91425" tIns="45700" rIns="91425" bIns="45700" rtlCol="0" anchor="t" anchorCtr="0">
            <a:normAutofit/>
          </a:bodyPr>
          <a:lstStyle/>
          <a:p>
            <a:pPr>
              <a:lnSpc>
                <a:spcPct val="150000"/>
              </a:lnSpc>
            </a:pPr>
            <a:endParaRPr lang="en-US" sz="2000" dirty="0"/>
          </a:p>
          <a:p>
            <a:pPr algn="just">
              <a:lnSpc>
                <a:spcPct val="150000"/>
              </a:lnSpc>
            </a:pPr>
            <a:r>
              <a:rPr lang="en-US" sz="2000" dirty="0"/>
              <a:t>Each neuron performs a dot product with the input (x</a:t>
            </a:r>
            <a:r>
              <a:rPr lang="en-US" sz="2000" baseline="-25000" dirty="0"/>
              <a:t>i</a:t>
            </a:r>
            <a:r>
              <a:rPr lang="en-US" sz="2000" dirty="0"/>
              <a:t>) and its weights (</a:t>
            </a:r>
            <a:r>
              <a:rPr lang="en-US" sz="2000" dirty="0" err="1"/>
              <a:t>w</a:t>
            </a:r>
            <a:r>
              <a:rPr lang="en-US" sz="2000" baseline="-25000" dirty="0" err="1"/>
              <a:t>i</a:t>
            </a:r>
            <a:r>
              <a:rPr lang="en-US" sz="2000" dirty="0"/>
              <a:t>) , adds the bias and applies the non-linearity or activation function.</a:t>
            </a:r>
          </a:p>
          <a:p>
            <a:pPr algn="just">
              <a:lnSpc>
                <a:spcPct val="150000"/>
              </a:lnSpc>
            </a:pPr>
            <a:r>
              <a:rPr lang="en-US" sz="2000" dirty="0"/>
              <a:t> The activation function of ANNs helps in learning any complex relationship between input and output. </a:t>
            </a:r>
            <a:endParaRPr sz="2000" dirty="0"/>
          </a:p>
          <a:p>
            <a:pPr marL="342900" indent="-215900">
              <a:spcBef>
                <a:spcPts val="400"/>
              </a:spcBef>
              <a:buClr>
                <a:schemeClr val="dk1"/>
              </a:buClr>
              <a:buSzPts val="2000"/>
              <a:buNone/>
            </a:pPr>
            <a:endParaRPr sz="2000" dirty="0"/>
          </a:p>
          <a:p>
            <a:pPr marL="342900" indent="-139700">
              <a:spcBef>
                <a:spcPts val="640"/>
              </a:spcBef>
              <a:buClr>
                <a:schemeClr val="dk1"/>
              </a:buClr>
              <a:buSzPts val="3200"/>
              <a:buNone/>
            </a:pPr>
            <a:endParaRPr dirty="0"/>
          </a:p>
        </p:txBody>
      </p:sp>
      <p:pic>
        <p:nvPicPr>
          <p:cNvPr id="145" name="Google Shape;145;p7"/>
          <p:cNvPicPr preferRelativeResize="0"/>
          <p:nvPr/>
        </p:nvPicPr>
        <p:blipFill rotWithShape="1">
          <a:blip r:embed="rId3">
            <a:alphaModFix/>
          </a:blip>
          <a:srcRect/>
          <a:stretch/>
        </p:blipFill>
        <p:spPr>
          <a:xfrm>
            <a:off x="6038850" y="3321050"/>
            <a:ext cx="114300" cy="215900"/>
          </a:xfrm>
          <a:prstGeom prst="rect">
            <a:avLst/>
          </a:prstGeom>
          <a:noFill/>
          <a:ln>
            <a:noFill/>
          </a:ln>
        </p:spPr>
      </p:pic>
      <p:pic>
        <p:nvPicPr>
          <p:cNvPr id="3" name="Picture 2">
            <a:extLst>
              <a:ext uri="{FF2B5EF4-FFF2-40B4-BE49-F238E27FC236}">
                <a16:creationId xmlns:a16="http://schemas.microsoft.com/office/drawing/2014/main" id="{4AFBACFE-3489-48ED-A4BF-6A1570C6D37D}"/>
              </a:ext>
            </a:extLst>
          </p:cNvPr>
          <p:cNvPicPr>
            <a:picLocks noChangeAspect="1"/>
          </p:cNvPicPr>
          <p:nvPr/>
        </p:nvPicPr>
        <p:blipFill>
          <a:blip r:embed="rId4"/>
          <a:stretch>
            <a:fillRect/>
          </a:stretch>
        </p:blipFill>
        <p:spPr>
          <a:xfrm>
            <a:off x="4976500" y="1855952"/>
            <a:ext cx="6673812" cy="3361996"/>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4B4416F-FC69-4851-A8EE-77740A5F1246}"/>
                  </a:ext>
                </a:extLst>
              </p:cNvPr>
              <p:cNvSpPr txBox="1"/>
              <p:nvPr/>
            </p:nvSpPr>
            <p:spPr>
              <a:xfrm>
                <a:off x="7089447" y="5792588"/>
                <a:ext cx="293539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000" b="1" i="1" smtClean="0">
                          <a:latin typeface="Cambria Math" panose="02040503050406030204" pitchFamily="18" charset="0"/>
                        </a:rPr>
                        <m:t>𝒇</m:t>
                      </m:r>
                      <m:d>
                        <m:dPr>
                          <m:ctrlPr>
                            <a:rPr lang="en-GB" sz="2000" b="1" i="1" smtClean="0">
                              <a:latin typeface="Cambria Math" panose="02040503050406030204" pitchFamily="18" charset="0"/>
                            </a:rPr>
                          </m:ctrlPr>
                        </m:dPr>
                        <m:e>
                          <m:r>
                            <a:rPr lang="en-GB" sz="2000" b="1" i="1" smtClean="0">
                              <a:latin typeface="Cambria Math" panose="02040503050406030204" pitchFamily="18" charset="0"/>
                            </a:rPr>
                            <m:t>𝒙</m:t>
                          </m:r>
                        </m:e>
                      </m:d>
                      <m:r>
                        <a:rPr lang="en-GB" sz="2000" b="1" i="1" smtClean="0">
                          <a:latin typeface="Cambria Math" panose="02040503050406030204" pitchFamily="18" charset="0"/>
                        </a:rPr>
                        <m:t>=</m:t>
                      </m:r>
                      <m:r>
                        <a:rPr lang="en-GB" sz="2000" b="1" i="1" smtClean="0">
                          <a:latin typeface="Cambria Math" panose="02040503050406030204" pitchFamily="18" charset="0"/>
                        </a:rPr>
                        <m:t>𝒚</m:t>
                      </m:r>
                      <m:r>
                        <a:rPr lang="en-GB" sz="2000" b="1" i="1" smtClean="0">
                          <a:latin typeface="Cambria Math" panose="02040503050406030204" pitchFamily="18" charset="0"/>
                        </a:rPr>
                        <m:t>=</m:t>
                      </m:r>
                      <m:r>
                        <a:rPr lang="en-GB" sz="2000" b="1" i="1" smtClean="0">
                          <a:latin typeface="Cambria Math" panose="02040503050406030204" pitchFamily="18" charset="0"/>
                        </a:rPr>
                        <m:t>𝒇</m:t>
                      </m:r>
                      <m:d>
                        <m:dPr>
                          <m:ctrlPr>
                            <a:rPr lang="en-GB" sz="2000" b="1" i="1">
                              <a:solidFill>
                                <a:srgbClr val="836967"/>
                              </a:solidFill>
                              <a:latin typeface="Cambria Math" panose="02040503050406030204" pitchFamily="18" charset="0"/>
                            </a:rPr>
                          </m:ctrlPr>
                        </m:dPr>
                        <m:e>
                          <m:r>
                            <a:rPr lang="en-GB" sz="2000" b="1" i="1">
                              <a:latin typeface="Cambria Math" panose="02040503050406030204" pitchFamily="18" charset="0"/>
                            </a:rPr>
                            <m:t>𝜮</m:t>
                          </m:r>
                          <m:sSub>
                            <m:sSubPr>
                              <m:ctrlPr>
                                <a:rPr lang="en-GB" sz="2000" b="1" i="1">
                                  <a:solidFill>
                                    <a:srgbClr val="836967"/>
                                  </a:solidFill>
                                  <a:latin typeface="Cambria Math" panose="02040503050406030204" pitchFamily="18" charset="0"/>
                                </a:rPr>
                              </m:ctrlPr>
                            </m:sSubPr>
                            <m:e>
                              <m:r>
                                <a:rPr lang="en-GB" sz="2000" b="1" i="1">
                                  <a:latin typeface="Cambria Math" panose="02040503050406030204" pitchFamily="18" charset="0"/>
                                </a:rPr>
                                <m:t>𝝎</m:t>
                              </m:r>
                            </m:e>
                            <m:sub>
                              <m:r>
                                <a:rPr lang="en-GB" sz="2000" b="1" i="1">
                                  <a:latin typeface="Cambria Math" panose="02040503050406030204" pitchFamily="18" charset="0"/>
                                </a:rPr>
                                <m:t>𝒊</m:t>
                              </m:r>
                            </m:sub>
                          </m:sSub>
                          <m:sSub>
                            <m:sSubPr>
                              <m:ctrlPr>
                                <a:rPr lang="en-GB" sz="2000" b="1" i="1">
                                  <a:solidFill>
                                    <a:srgbClr val="836967"/>
                                  </a:solidFill>
                                  <a:latin typeface="Cambria Math" panose="02040503050406030204" pitchFamily="18" charset="0"/>
                                </a:rPr>
                              </m:ctrlPr>
                            </m:sSubPr>
                            <m:e>
                              <m:r>
                                <a:rPr lang="en-GB" sz="2000" b="1" i="1">
                                  <a:latin typeface="Cambria Math" panose="02040503050406030204" pitchFamily="18" charset="0"/>
                                </a:rPr>
                                <m:t>𝒙</m:t>
                              </m:r>
                            </m:e>
                            <m:sub>
                              <m:r>
                                <a:rPr lang="en-GB" sz="2000" b="1" i="1">
                                  <a:latin typeface="Cambria Math" panose="02040503050406030204" pitchFamily="18" charset="0"/>
                                </a:rPr>
                                <m:t>𝒊</m:t>
                              </m:r>
                            </m:sub>
                          </m:sSub>
                          <m:r>
                            <a:rPr lang="en-GB" sz="2000" b="1" i="0">
                              <a:latin typeface="Cambria Math" panose="02040503050406030204" pitchFamily="18" charset="0"/>
                            </a:rPr>
                            <m:t>+</m:t>
                          </m:r>
                          <m:r>
                            <a:rPr lang="en-GB" sz="2000" b="1" i="1">
                              <a:latin typeface="Cambria Math" panose="02040503050406030204" pitchFamily="18" charset="0"/>
                            </a:rPr>
                            <m:t>𝜽</m:t>
                          </m:r>
                        </m:e>
                      </m:d>
                    </m:oMath>
                  </m:oMathPara>
                </a14:m>
                <a:endParaRPr lang="en-GB" sz="2000" b="1" dirty="0"/>
              </a:p>
            </p:txBody>
          </p:sp>
        </mc:Choice>
        <mc:Fallback xmlns="">
          <p:sp>
            <p:nvSpPr>
              <p:cNvPr id="6" name="TextBox 5">
                <a:extLst>
                  <a:ext uri="{FF2B5EF4-FFF2-40B4-BE49-F238E27FC236}">
                    <a16:creationId xmlns:a16="http://schemas.microsoft.com/office/drawing/2014/main" id="{44B4416F-FC69-4851-A8EE-77740A5F1246}"/>
                  </a:ext>
                </a:extLst>
              </p:cNvPr>
              <p:cNvSpPr txBox="1">
                <a:spLocks noRot="1" noChangeAspect="1" noMove="1" noResize="1" noEditPoints="1" noAdjustHandles="1" noChangeArrowheads="1" noChangeShapeType="1" noTextEdit="1"/>
              </p:cNvSpPr>
              <p:nvPr/>
            </p:nvSpPr>
            <p:spPr>
              <a:xfrm>
                <a:off x="7089447" y="5792588"/>
                <a:ext cx="2935397" cy="307777"/>
              </a:xfrm>
              <a:prstGeom prst="rect">
                <a:avLst/>
              </a:prstGeom>
              <a:blipFill>
                <a:blip r:embed="rId5"/>
                <a:stretch>
                  <a:fillRect l="-1871" b="-33333"/>
                </a:stretch>
              </a:blipFill>
            </p:spPr>
            <p:txBody>
              <a:bodyPr/>
              <a:lstStyle/>
              <a:p>
                <a:r>
                  <a:rPr lang="en-GB">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0;p6">
            <a:extLst>
              <a:ext uri="{FF2B5EF4-FFF2-40B4-BE49-F238E27FC236}">
                <a16:creationId xmlns:a16="http://schemas.microsoft.com/office/drawing/2014/main" id="{672D5E36-E2B0-42D7-AE90-57456D8CA7E2}"/>
              </a:ext>
            </a:extLst>
          </p:cNvPr>
          <p:cNvSpPr txBox="1">
            <a:spLocks/>
          </p:cNvSpPr>
          <p:nvPr/>
        </p:nvSpPr>
        <p:spPr>
          <a:xfrm>
            <a:off x="1981200" y="274638"/>
            <a:ext cx="8229600" cy="664929"/>
          </a:xfrm>
          <a:prstGeom prst="rect">
            <a:avLst/>
          </a:prstGeom>
          <a:no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chemeClr val="dk1"/>
              </a:buClr>
              <a:buSzPts val="4400"/>
            </a:pPr>
            <a:r>
              <a:rPr lang="en-US" sz="3600" b="1" dirty="0">
                <a:latin typeface="Abadi" panose="020B0604020104020204" pitchFamily="34" charset="0"/>
              </a:rPr>
              <a:t>ANN to Deep Neural Net (DNN)</a:t>
            </a:r>
          </a:p>
        </p:txBody>
      </p:sp>
      <p:pic>
        <p:nvPicPr>
          <p:cNvPr id="3" name="Google Shape;124;p5">
            <a:extLst>
              <a:ext uri="{FF2B5EF4-FFF2-40B4-BE49-F238E27FC236}">
                <a16:creationId xmlns:a16="http://schemas.microsoft.com/office/drawing/2014/main" id="{D5C69769-870F-474D-84FF-E9C18D3EEA9B}"/>
              </a:ext>
            </a:extLst>
          </p:cNvPr>
          <p:cNvPicPr preferRelativeResize="0">
            <a:picLocks/>
          </p:cNvPicPr>
          <p:nvPr/>
        </p:nvPicPr>
        <p:blipFill rotWithShape="1">
          <a:blip r:embed="rId2">
            <a:alphaModFix/>
          </a:blip>
          <a:srcRect/>
          <a:stretch/>
        </p:blipFill>
        <p:spPr>
          <a:xfrm>
            <a:off x="1728132" y="1468073"/>
            <a:ext cx="8749718" cy="4840447"/>
          </a:xfrm>
          <a:prstGeom prst="rect">
            <a:avLst/>
          </a:prstGeom>
          <a:noFill/>
          <a:ln>
            <a:noFill/>
          </a:ln>
        </p:spPr>
      </p:pic>
    </p:spTree>
    <p:extLst>
      <p:ext uri="{BB962C8B-B14F-4D97-AF65-F5344CB8AC3E}">
        <p14:creationId xmlns:p14="http://schemas.microsoft.com/office/powerpoint/2010/main" val="1351400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1981200" y="274638"/>
            <a:ext cx="8229600" cy="457198"/>
          </a:xfrm>
          <a:prstGeom prst="rect">
            <a:avLst/>
          </a:prstGeom>
          <a:noFill/>
          <a:ln>
            <a:noFill/>
          </a:ln>
        </p:spPr>
        <p:txBody>
          <a:bodyPr spcFirstLastPara="1" vert="horz" wrap="square" lIns="91425" tIns="45700" rIns="91425" bIns="45700" rtlCol="0" anchor="ctr" anchorCtr="0">
            <a:noAutofit/>
          </a:bodyPr>
          <a:lstStyle/>
          <a:p>
            <a:pPr algn="ctr">
              <a:spcBef>
                <a:spcPts val="0"/>
              </a:spcBef>
              <a:buClr>
                <a:schemeClr val="dk1"/>
              </a:buClr>
              <a:buSzPts val="4400"/>
            </a:pPr>
            <a:r>
              <a:rPr lang="en-US" sz="3600" b="1" dirty="0">
                <a:latin typeface="Abadi" panose="020B0604020104020204" pitchFamily="34" charset="0"/>
              </a:rPr>
              <a:t>Deep learning</a:t>
            </a:r>
            <a:endParaRPr sz="3600" b="1" dirty="0">
              <a:latin typeface="Abadi" panose="020B0604020104020204" pitchFamily="34" charset="0"/>
            </a:endParaRPr>
          </a:p>
        </p:txBody>
      </p:sp>
      <p:grpSp>
        <p:nvGrpSpPr>
          <p:cNvPr id="95" name="Google Shape;95;p2"/>
          <p:cNvGrpSpPr/>
          <p:nvPr/>
        </p:nvGrpSpPr>
        <p:grpSpPr>
          <a:xfrm>
            <a:off x="706074" y="1600201"/>
            <a:ext cx="4038600" cy="3946924"/>
            <a:chOff x="0" y="289519"/>
            <a:chExt cx="4038600" cy="3946924"/>
          </a:xfrm>
        </p:grpSpPr>
        <p:sp>
          <p:nvSpPr>
            <p:cNvPr id="96" name="Google Shape;96;p2"/>
            <p:cNvSpPr/>
            <p:nvPr/>
          </p:nvSpPr>
          <p:spPr>
            <a:xfrm>
              <a:off x="0" y="289519"/>
              <a:ext cx="4038600" cy="3855247"/>
            </a:xfrm>
            <a:prstGeom prst="ellipse">
              <a:avLst/>
            </a:prstGeom>
            <a:gradFill>
              <a:gsLst>
                <a:gs pos="0">
                  <a:srgbClr val="9FC3FF"/>
                </a:gs>
                <a:gs pos="35000">
                  <a:srgbClr val="BDD5FF"/>
                </a:gs>
                <a:gs pos="100000">
                  <a:srgbClr val="E4EEFF"/>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endParaRPr>
                <a:latin typeface="Abadi" panose="020B0604020104020204" pitchFamily="34" charset="0"/>
              </a:endParaRPr>
            </a:p>
          </p:txBody>
        </p:sp>
        <p:sp>
          <p:nvSpPr>
            <p:cNvPr id="97" name="Google Shape;97;p2"/>
            <p:cNvSpPr txBox="1"/>
            <p:nvPr/>
          </p:nvSpPr>
          <p:spPr>
            <a:xfrm>
              <a:off x="1313554" y="482281"/>
              <a:ext cx="1411490" cy="578287"/>
            </a:xfrm>
            <a:prstGeom prst="rect">
              <a:avLst/>
            </a:prstGeom>
            <a:noFill/>
            <a:ln>
              <a:noFill/>
            </a:ln>
          </p:spPr>
          <p:txBody>
            <a:bodyPr spcFirstLastPara="1" wrap="square" lIns="92450" tIns="92450" rIns="92450" bIns="92450" anchor="ctr" anchorCtr="0">
              <a:noAutofit/>
            </a:bodyPr>
            <a:lstStyle/>
            <a:p>
              <a:pPr algn="ctr">
                <a:lnSpc>
                  <a:spcPct val="90000"/>
                </a:lnSpc>
              </a:pPr>
              <a:r>
                <a:rPr lang="en-US" sz="1300">
                  <a:solidFill>
                    <a:schemeClr val="dk1"/>
                  </a:solidFill>
                  <a:latin typeface="Abadi" panose="020B0604020104020204" pitchFamily="34" charset="0"/>
                  <a:ea typeface="Calibri"/>
                  <a:cs typeface="Calibri"/>
                  <a:sym typeface="Calibri"/>
                </a:rPr>
                <a:t>Artificial Intelligence</a:t>
              </a:r>
              <a:endParaRPr sz="1300">
                <a:solidFill>
                  <a:schemeClr val="dk1"/>
                </a:solidFill>
                <a:latin typeface="Abadi" panose="020B0604020104020204" pitchFamily="34" charset="0"/>
                <a:ea typeface="Calibri"/>
                <a:cs typeface="Calibri"/>
                <a:sym typeface="Calibri"/>
              </a:endParaRPr>
            </a:p>
          </p:txBody>
        </p:sp>
        <p:sp>
          <p:nvSpPr>
            <p:cNvPr id="98" name="Google Shape;98;p2"/>
            <p:cNvSpPr/>
            <p:nvPr/>
          </p:nvSpPr>
          <p:spPr>
            <a:xfrm>
              <a:off x="504824" y="1207493"/>
              <a:ext cx="3028950" cy="3028950"/>
            </a:xfrm>
            <a:prstGeom prst="ellipse">
              <a:avLst/>
            </a:prstGeom>
            <a:gradFill>
              <a:gsLst>
                <a:gs pos="0">
                  <a:srgbClr val="9FC3FF"/>
                </a:gs>
                <a:gs pos="35000">
                  <a:srgbClr val="BDD5FF"/>
                </a:gs>
                <a:gs pos="100000">
                  <a:srgbClr val="E4EEFF"/>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endParaRPr>
                <a:latin typeface="Abadi" panose="020B0604020104020204" pitchFamily="34" charset="0"/>
              </a:endParaRPr>
            </a:p>
          </p:txBody>
        </p:sp>
        <p:sp>
          <p:nvSpPr>
            <p:cNvPr id="99" name="Google Shape;99;p2"/>
            <p:cNvSpPr txBox="1"/>
            <p:nvPr/>
          </p:nvSpPr>
          <p:spPr>
            <a:xfrm>
              <a:off x="1313554" y="1396802"/>
              <a:ext cx="1411490" cy="567928"/>
            </a:xfrm>
            <a:prstGeom prst="rect">
              <a:avLst/>
            </a:prstGeom>
            <a:noFill/>
            <a:ln>
              <a:noFill/>
            </a:ln>
          </p:spPr>
          <p:txBody>
            <a:bodyPr spcFirstLastPara="1" wrap="square" lIns="92450" tIns="92450" rIns="92450" bIns="92450" anchor="ctr" anchorCtr="0">
              <a:noAutofit/>
            </a:bodyPr>
            <a:lstStyle/>
            <a:p>
              <a:pPr algn="ctr">
                <a:lnSpc>
                  <a:spcPct val="90000"/>
                </a:lnSpc>
              </a:pPr>
              <a:r>
                <a:rPr lang="en-US" sz="1300">
                  <a:solidFill>
                    <a:schemeClr val="dk1"/>
                  </a:solidFill>
                  <a:latin typeface="Abadi" panose="020B0604020104020204" pitchFamily="34" charset="0"/>
                  <a:ea typeface="Calibri"/>
                  <a:cs typeface="Calibri"/>
                  <a:sym typeface="Calibri"/>
                </a:rPr>
                <a:t>Machine Learning</a:t>
              </a:r>
              <a:endParaRPr sz="1300">
                <a:solidFill>
                  <a:schemeClr val="dk1"/>
                </a:solidFill>
                <a:latin typeface="Abadi" panose="020B0604020104020204" pitchFamily="34" charset="0"/>
                <a:ea typeface="Calibri"/>
                <a:cs typeface="Calibri"/>
                <a:sym typeface="Calibri"/>
              </a:endParaRPr>
            </a:p>
          </p:txBody>
        </p:sp>
        <p:sp>
          <p:nvSpPr>
            <p:cNvPr id="100" name="Google Shape;100;p2"/>
            <p:cNvSpPr/>
            <p:nvPr/>
          </p:nvSpPr>
          <p:spPr>
            <a:xfrm>
              <a:off x="1009650" y="2217143"/>
              <a:ext cx="2019300" cy="2019300"/>
            </a:xfrm>
            <a:prstGeom prst="ellipse">
              <a:avLst/>
            </a:prstGeom>
            <a:gradFill>
              <a:gsLst>
                <a:gs pos="0">
                  <a:srgbClr val="9FC3FF"/>
                </a:gs>
                <a:gs pos="35000">
                  <a:srgbClr val="BDD5FF"/>
                </a:gs>
                <a:gs pos="100000">
                  <a:srgbClr val="E4EEFF"/>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endParaRPr>
                <a:latin typeface="Abadi" panose="020B0604020104020204" pitchFamily="34" charset="0"/>
              </a:endParaRPr>
            </a:p>
          </p:txBody>
        </p:sp>
        <p:sp>
          <p:nvSpPr>
            <p:cNvPr id="101" name="Google Shape;101;p2"/>
            <p:cNvSpPr txBox="1"/>
            <p:nvPr/>
          </p:nvSpPr>
          <p:spPr>
            <a:xfrm>
              <a:off x="1305369" y="2721968"/>
              <a:ext cx="1427860" cy="1009650"/>
            </a:xfrm>
            <a:prstGeom prst="rect">
              <a:avLst/>
            </a:prstGeom>
            <a:noFill/>
            <a:ln>
              <a:noFill/>
            </a:ln>
          </p:spPr>
          <p:txBody>
            <a:bodyPr spcFirstLastPara="1" wrap="square" lIns="92450" tIns="92450" rIns="92450" bIns="92450" anchor="ctr" anchorCtr="0">
              <a:noAutofit/>
            </a:bodyPr>
            <a:lstStyle/>
            <a:p>
              <a:pPr algn="ctr">
                <a:lnSpc>
                  <a:spcPct val="90000"/>
                </a:lnSpc>
              </a:pPr>
              <a:r>
                <a:rPr lang="en-US" sz="1300">
                  <a:solidFill>
                    <a:schemeClr val="dk1"/>
                  </a:solidFill>
                  <a:latin typeface="Abadi" panose="020B0604020104020204" pitchFamily="34" charset="0"/>
                  <a:ea typeface="Calibri"/>
                  <a:cs typeface="Calibri"/>
                  <a:sym typeface="Calibri"/>
                </a:rPr>
                <a:t>Deep Learning</a:t>
              </a:r>
              <a:endParaRPr sz="1300">
                <a:solidFill>
                  <a:schemeClr val="dk1"/>
                </a:solidFill>
                <a:latin typeface="Abadi" panose="020B0604020104020204" pitchFamily="34" charset="0"/>
                <a:ea typeface="Calibri"/>
                <a:cs typeface="Calibri"/>
                <a:sym typeface="Calibri"/>
              </a:endParaRPr>
            </a:p>
          </p:txBody>
        </p:sp>
      </p:grpSp>
      <p:sp>
        <p:nvSpPr>
          <p:cNvPr id="102" name="Google Shape;102;p2"/>
          <p:cNvSpPr txBox="1">
            <a:spLocks noGrp="1"/>
          </p:cNvSpPr>
          <p:nvPr>
            <p:ph type="body" idx="2"/>
          </p:nvPr>
        </p:nvSpPr>
        <p:spPr>
          <a:xfrm>
            <a:off x="5467438" y="1415643"/>
            <a:ext cx="5513664"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2400"/>
            </a:pPr>
            <a:r>
              <a:rPr lang="en-US" sz="2400" dirty="0">
                <a:latin typeface="Abadi" panose="020B0604020104020204" pitchFamily="34" charset="0"/>
              </a:rPr>
              <a:t>Deep neural network(DNN) is a subset of machine learning.</a:t>
            </a:r>
            <a:endParaRPr dirty="0">
              <a:latin typeface="Abadi" panose="020B0604020104020204" pitchFamily="34" charset="0"/>
            </a:endParaRPr>
          </a:p>
          <a:p>
            <a:pPr marL="342900" indent="-342900" algn="just">
              <a:spcBef>
                <a:spcPts val="480"/>
              </a:spcBef>
              <a:buClr>
                <a:schemeClr val="dk1"/>
              </a:buClr>
              <a:buSzPts val="2400"/>
            </a:pPr>
            <a:r>
              <a:rPr lang="en-US" sz="2400" dirty="0">
                <a:latin typeface="Abadi" panose="020B0604020104020204" pitchFamily="34" charset="0"/>
              </a:rPr>
              <a:t>Deep refers to the number of layers</a:t>
            </a:r>
            <a:endParaRPr sz="2400" dirty="0">
              <a:latin typeface="Abadi" panose="020B0604020104020204" pitchFamily="34" charset="0"/>
            </a:endParaRPr>
          </a:p>
          <a:p>
            <a:pPr marL="342900" indent="-342900" algn="just">
              <a:spcBef>
                <a:spcPts val="480"/>
              </a:spcBef>
              <a:buClr>
                <a:schemeClr val="dk1"/>
              </a:buClr>
              <a:buSzPts val="2400"/>
            </a:pPr>
            <a:r>
              <a:rPr lang="en-US" sz="2400" dirty="0">
                <a:latin typeface="Abadi" panose="020B0604020104020204" pitchFamily="34" charset="0"/>
              </a:rPr>
              <a:t>The system uses many layers of nodes to derive high-level functions from input data. </a:t>
            </a:r>
            <a:endParaRPr dirty="0">
              <a:latin typeface="Abadi" panose="020B0604020104020204" pitchFamily="34" charset="0"/>
            </a:endParaRPr>
          </a:p>
          <a:p>
            <a:pPr marL="342900" indent="-342900" algn="just">
              <a:spcBef>
                <a:spcPts val="480"/>
              </a:spcBef>
              <a:buClr>
                <a:schemeClr val="dk1"/>
              </a:buClr>
              <a:buSzPts val="2400"/>
            </a:pPr>
            <a:r>
              <a:rPr lang="en-US" sz="2400" dirty="0">
                <a:latin typeface="Abadi" panose="020B0604020104020204" pitchFamily="34" charset="0"/>
              </a:rPr>
              <a:t>Transforming the data into a more abstract component</a:t>
            </a:r>
            <a:endParaRPr sz="2400" dirty="0">
              <a:latin typeface="Abadi" panose="020B0604020104020204" pitchFamily="34" charset="0"/>
            </a:endParaRPr>
          </a:p>
        </p:txBody>
      </p:sp>
      <p:pic>
        <p:nvPicPr>
          <p:cNvPr id="12" name="Picture 11">
            <a:extLst>
              <a:ext uri="{FF2B5EF4-FFF2-40B4-BE49-F238E27FC236}">
                <a16:creationId xmlns:a16="http://schemas.microsoft.com/office/drawing/2014/main" id="{5FE11BAF-E6AC-42F9-84F7-E14A37845839}"/>
              </a:ext>
            </a:extLst>
          </p:cNvPr>
          <p:cNvPicPr>
            <a:picLocks noChangeAspect="1"/>
          </p:cNvPicPr>
          <p:nvPr/>
        </p:nvPicPr>
        <p:blipFill>
          <a:blip r:embed="rId3"/>
          <a:stretch>
            <a:fillRect/>
          </a:stretch>
        </p:blipFill>
        <p:spPr>
          <a:xfrm>
            <a:off x="6096000" y="4537475"/>
            <a:ext cx="5030717" cy="2248240"/>
          </a:xfrm>
          <a:prstGeom prst="rect">
            <a:avLst/>
          </a:prstGeom>
        </p:spPr>
      </p:pic>
    </p:spTree>
    <p:extLst>
      <p:ext uri="{BB962C8B-B14F-4D97-AF65-F5344CB8AC3E}">
        <p14:creationId xmlns:p14="http://schemas.microsoft.com/office/powerpoint/2010/main" val="2968064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p:nvPr>
        </p:nvSpPr>
        <p:spPr>
          <a:xfrm>
            <a:off x="1721142" y="224304"/>
            <a:ext cx="8229600" cy="690096"/>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sz="3600" b="1" dirty="0">
                <a:latin typeface="Abadi" panose="020B0604020104020204" pitchFamily="34" charset="0"/>
              </a:rPr>
              <a:t>Why deep learning</a:t>
            </a:r>
            <a:endParaRPr sz="3600" b="1" dirty="0">
              <a:latin typeface="Abadi" panose="020B0604020104020204" pitchFamily="34" charset="0"/>
            </a:endParaRPr>
          </a:p>
        </p:txBody>
      </p:sp>
      <p:pic>
        <p:nvPicPr>
          <p:cNvPr id="109" name="Google Shape;109;p3"/>
          <p:cNvPicPr preferRelativeResize="0">
            <a:picLocks noGrp="1"/>
          </p:cNvPicPr>
          <p:nvPr>
            <p:ph type="body" idx="1"/>
          </p:nvPr>
        </p:nvPicPr>
        <p:blipFill rotWithShape="1">
          <a:blip r:embed="rId3">
            <a:alphaModFix/>
          </a:blip>
          <a:srcRect/>
          <a:stretch/>
        </p:blipFill>
        <p:spPr>
          <a:xfrm>
            <a:off x="588628" y="1600201"/>
            <a:ext cx="4612546" cy="3668085"/>
          </a:xfrm>
          <a:prstGeom prst="rect">
            <a:avLst/>
          </a:prstGeom>
          <a:noFill/>
          <a:ln>
            <a:noFill/>
          </a:ln>
        </p:spPr>
      </p:pic>
      <p:sp>
        <p:nvSpPr>
          <p:cNvPr id="110" name="Google Shape;110;p3"/>
          <p:cNvSpPr txBox="1">
            <a:spLocks noGrp="1"/>
          </p:cNvSpPr>
          <p:nvPr>
            <p:ph type="body" idx="2"/>
          </p:nvPr>
        </p:nvSpPr>
        <p:spPr>
          <a:xfrm>
            <a:off x="5511567" y="1600201"/>
            <a:ext cx="6509857"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2800"/>
            </a:pPr>
            <a:r>
              <a:rPr lang="en-US" sz="2400" dirty="0">
                <a:latin typeface="Abadi" panose="020B0604020104020204" pitchFamily="34" charset="0"/>
              </a:rPr>
              <a:t>As we construct larger neural networks and train them with more and more data, their performance continues to increase.</a:t>
            </a:r>
            <a:endParaRPr sz="2400" dirty="0">
              <a:latin typeface="Abadi" panose="020B0604020104020204" pitchFamily="34" charset="0"/>
            </a:endParaRPr>
          </a:p>
          <a:p>
            <a:pPr marL="342900" indent="-342900" algn="just">
              <a:spcBef>
                <a:spcPts val="560"/>
              </a:spcBef>
              <a:buClr>
                <a:schemeClr val="dk1"/>
              </a:buClr>
              <a:buSzPts val="2800"/>
            </a:pPr>
            <a:r>
              <a:rPr lang="en-US" sz="2400" dirty="0">
                <a:latin typeface="Abadi" panose="020B0604020104020204" pitchFamily="34" charset="0"/>
              </a:rPr>
              <a:t> This is generally different to other machine learning techniques that reach a plateau in performance.</a:t>
            </a:r>
            <a:endParaRPr sz="2400" dirty="0">
              <a:latin typeface="Abadi" panose="020B0604020104020204" pitchFamily="34" charset="0"/>
            </a:endParaRPr>
          </a:p>
        </p:txBody>
      </p:sp>
    </p:spTree>
    <p:extLst>
      <p:ext uri="{BB962C8B-B14F-4D97-AF65-F5344CB8AC3E}">
        <p14:creationId xmlns:p14="http://schemas.microsoft.com/office/powerpoint/2010/main" val="835233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1728" y="1661047"/>
            <a:ext cx="4089437" cy="2308324"/>
          </a:xfrm>
          <a:prstGeom prst="rect">
            <a:avLst/>
          </a:prstGeom>
        </p:spPr>
        <p:txBody>
          <a:bodyPr wrap="square">
            <a:spAutoFit/>
          </a:bodyPr>
          <a:lstStyle/>
          <a:p>
            <a:pPr marL="257175" indent="-257175">
              <a:buFont typeface="Arial" panose="020B0604020202020204" pitchFamily="34" charset="0"/>
              <a:buChar char="•"/>
            </a:pPr>
            <a:r>
              <a:rPr lang="en-GB" altLang="en-US" dirty="0">
                <a:latin typeface="Abadi" panose="020B0604020104020204" pitchFamily="34" charset="0"/>
              </a:rPr>
              <a:t>ANN are used usually with 1 hidden layer</a:t>
            </a:r>
          </a:p>
          <a:p>
            <a:pPr marL="257175" indent="-257175">
              <a:buFont typeface="Arial" panose="020B0604020202020204" pitchFamily="34" charset="0"/>
              <a:buChar char="•"/>
            </a:pPr>
            <a:endParaRPr lang="en-GB" altLang="en-US" dirty="0">
              <a:latin typeface="Abadi" panose="020B0604020104020204" pitchFamily="34" charset="0"/>
            </a:endParaRPr>
          </a:p>
          <a:p>
            <a:pPr marL="257175" indent="-257175">
              <a:buFont typeface="Arial" panose="020B0604020202020204" pitchFamily="34" charset="0"/>
              <a:buChar char="•"/>
            </a:pPr>
            <a:r>
              <a:rPr lang="en-GB" altLang="en-US" dirty="0">
                <a:latin typeface="Abadi" panose="020B0604020104020204" pitchFamily="34" charset="0"/>
              </a:rPr>
              <a:t>Not good at learning weights with many layers</a:t>
            </a:r>
          </a:p>
          <a:p>
            <a:endParaRPr lang="en-GB" altLang="en-US" dirty="0">
              <a:latin typeface="Abadi" panose="020B0604020104020204" pitchFamily="34" charset="0"/>
            </a:endParaRPr>
          </a:p>
          <a:p>
            <a:endParaRPr lang="en-GB" altLang="en-US" dirty="0">
              <a:latin typeface="Abadi" panose="020B0604020104020204" pitchFamily="34" charset="0"/>
            </a:endParaRPr>
          </a:p>
          <a:p>
            <a:endParaRPr lang="en-GB" altLang="en-US" dirty="0">
              <a:latin typeface="Abadi" panose="020B0604020104020204" pitchFamily="34" charset="0"/>
            </a:endParaRP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8581" y="3631864"/>
            <a:ext cx="2447874" cy="1565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7"/>
          <p:cNvGrpSpPr/>
          <p:nvPr/>
        </p:nvGrpSpPr>
        <p:grpSpPr>
          <a:xfrm>
            <a:off x="5414115" y="1661045"/>
            <a:ext cx="5815040" cy="3658480"/>
            <a:chOff x="5354600" y="1899441"/>
            <a:chExt cx="6217617" cy="3618058"/>
          </a:xfrm>
        </p:grpSpPr>
        <p:sp>
          <p:nvSpPr>
            <p:cNvPr id="3" name="Rectangle 2"/>
            <p:cNvSpPr/>
            <p:nvPr/>
          </p:nvSpPr>
          <p:spPr>
            <a:xfrm>
              <a:off x="5354600" y="1899441"/>
              <a:ext cx="6096000" cy="1600439"/>
            </a:xfrm>
            <a:prstGeom prst="rect">
              <a:avLst/>
            </a:prstGeom>
          </p:spPr>
          <p:txBody>
            <a:bodyPr>
              <a:spAutoFit/>
            </a:bodyPr>
            <a:lstStyle/>
            <a:p>
              <a:pPr marL="257175" indent="-257175">
                <a:buFont typeface="Arial" panose="020B0604020202020204" pitchFamily="34" charset="0"/>
                <a:buChar char="•"/>
              </a:pPr>
              <a:r>
                <a:rPr lang="en-GB" altLang="en-US" dirty="0">
                  <a:latin typeface="Abadi" panose="020B0604020104020204" pitchFamily="34" charset="0"/>
                </a:rPr>
                <a:t>Many hidden layers are included</a:t>
              </a:r>
            </a:p>
            <a:p>
              <a:pPr marL="257175" indent="-257175">
                <a:buFont typeface="Arial" panose="020B0604020202020204" pitchFamily="34" charset="0"/>
                <a:buChar char="•"/>
              </a:pPr>
              <a:r>
                <a:rPr lang="en-GB" altLang="en-US" dirty="0">
                  <a:latin typeface="Abadi" panose="020B0604020104020204" pitchFamily="34" charset="0"/>
                </a:rPr>
                <a:t>In each layer intermediate features are important for difficult classification tasks </a:t>
              </a:r>
            </a:p>
            <a:p>
              <a:endParaRPr lang="en-GB" altLang="en-US" dirty="0">
                <a:latin typeface="Abadi" panose="020B0604020104020204" pitchFamily="34" charset="0"/>
              </a:endParaRP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2051" y="3795845"/>
              <a:ext cx="6150166" cy="172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 name="Rectangle 5"/>
          <p:cNvSpPr/>
          <p:nvPr/>
        </p:nvSpPr>
        <p:spPr>
          <a:xfrm>
            <a:off x="3282559" y="0"/>
            <a:ext cx="5070619" cy="646331"/>
          </a:xfrm>
          <a:prstGeom prst="rect">
            <a:avLst/>
          </a:prstGeom>
        </p:spPr>
        <p:txBody>
          <a:bodyPr wrap="none">
            <a:spAutoFit/>
          </a:bodyPr>
          <a:lstStyle/>
          <a:p>
            <a:pPr>
              <a:defRPr/>
            </a:pPr>
            <a:r>
              <a:rPr lang="en-GB" sz="3600" b="1" dirty="0">
                <a:latin typeface="Abadi" panose="020B0604020104020204" pitchFamily="34" charset="0"/>
              </a:rPr>
              <a:t>ANN vs. Deep learning ? </a:t>
            </a:r>
          </a:p>
        </p:txBody>
      </p:sp>
      <p:sp>
        <p:nvSpPr>
          <p:cNvPr id="9" name="Rectangle 8"/>
          <p:cNvSpPr/>
          <p:nvPr/>
        </p:nvSpPr>
        <p:spPr>
          <a:xfrm>
            <a:off x="2787650" y="1121953"/>
            <a:ext cx="864339" cy="507831"/>
          </a:xfrm>
          <a:prstGeom prst="rect">
            <a:avLst/>
          </a:prstGeom>
        </p:spPr>
        <p:txBody>
          <a:bodyPr wrap="none">
            <a:spAutoFit/>
          </a:bodyPr>
          <a:lstStyle/>
          <a:p>
            <a:r>
              <a:rPr lang="en-GB" sz="2700" b="1" dirty="0">
                <a:latin typeface="Abadi" panose="020B0604020104020204" pitchFamily="34" charset="0"/>
              </a:rPr>
              <a:t>ANN</a:t>
            </a:r>
            <a:endParaRPr lang="en-GB" sz="2700" dirty="0">
              <a:latin typeface="Abadi" panose="020B0604020104020204" pitchFamily="34" charset="0"/>
            </a:endParaRPr>
          </a:p>
        </p:txBody>
      </p:sp>
      <p:sp>
        <p:nvSpPr>
          <p:cNvPr id="10" name="Rectangle 9"/>
          <p:cNvSpPr/>
          <p:nvPr/>
        </p:nvSpPr>
        <p:spPr>
          <a:xfrm>
            <a:off x="6644040" y="1121953"/>
            <a:ext cx="2337499" cy="507831"/>
          </a:xfrm>
          <a:prstGeom prst="rect">
            <a:avLst/>
          </a:prstGeom>
        </p:spPr>
        <p:txBody>
          <a:bodyPr wrap="none">
            <a:spAutoFit/>
          </a:bodyPr>
          <a:lstStyle/>
          <a:p>
            <a:r>
              <a:rPr lang="en-GB" sz="2700" b="1" dirty="0">
                <a:latin typeface="Abadi" panose="020B0604020104020204" pitchFamily="34" charset="0"/>
              </a:rPr>
              <a:t>Deep learning </a:t>
            </a:r>
            <a:endParaRPr lang="en-GB" sz="2700" dirty="0">
              <a:latin typeface="Abadi" panose="020B0604020104020204" pitchFamily="34" charset="0"/>
            </a:endParaRPr>
          </a:p>
        </p:txBody>
      </p:sp>
    </p:spTree>
    <p:extLst>
      <p:ext uri="{BB962C8B-B14F-4D97-AF65-F5344CB8AC3E}">
        <p14:creationId xmlns:p14="http://schemas.microsoft.com/office/powerpoint/2010/main" val="2423571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sz="3600" b="1" dirty="0">
                <a:latin typeface="Abadi" panose="020B0604020104020204" pitchFamily="34" charset="0"/>
              </a:rPr>
              <a:t>Types of DNN</a:t>
            </a:r>
            <a:endParaRPr sz="3600" b="1" dirty="0">
              <a:latin typeface="Abadi" panose="020B0604020104020204" pitchFamily="34" charset="0"/>
            </a:endParaRPr>
          </a:p>
        </p:txBody>
      </p:sp>
      <p:sp>
        <p:nvSpPr>
          <p:cNvPr id="151" name="Google Shape;151;p8"/>
          <p:cNvSpPr txBox="1">
            <a:spLocks noGrp="1"/>
          </p:cNvSpPr>
          <p:nvPr>
            <p:ph type="body" idx="1"/>
          </p:nvPr>
        </p:nvSpPr>
        <p:spPr>
          <a:xfrm>
            <a:off x="385894" y="1600201"/>
            <a:ext cx="9824906" cy="4850933"/>
          </a:xfrm>
          <a:prstGeom prst="rect">
            <a:avLst/>
          </a:prstGeom>
          <a:noFill/>
          <a:ln>
            <a:noFill/>
          </a:ln>
        </p:spPr>
        <p:txBody>
          <a:bodyPr spcFirstLastPara="1" vert="horz" wrap="square" lIns="91425" tIns="45700" rIns="91425" bIns="45700" rtlCol="0" anchor="t" anchorCtr="0">
            <a:normAutofit/>
          </a:bodyPr>
          <a:lstStyle/>
          <a:p>
            <a:pPr>
              <a:spcBef>
                <a:spcPts val="0"/>
              </a:spcBef>
              <a:buClr>
                <a:schemeClr val="dk1"/>
              </a:buClr>
              <a:buSzPts val="3200"/>
            </a:pPr>
            <a:r>
              <a:rPr lang="en-US" b="1" dirty="0"/>
              <a:t>Feed forward deep neural network (FF-DNN)</a:t>
            </a:r>
            <a:endParaRPr dirty="0"/>
          </a:p>
          <a:p>
            <a:pPr lvl="1">
              <a:spcBef>
                <a:spcPts val="560"/>
              </a:spcBef>
              <a:buClr>
                <a:schemeClr val="dk1"/>
              </a:buClr>
              <a:buSzPts val="2800"/>
            </a:pPr>
            <a:r>
              <a:rPr lang="en-US" dirty="0"/>
              <a:t>Fully-Connected NN–feed forward or multilayer perceptron (MLP)</a:t>
            </a:r>
            <a:endParaRPr dirty="0"/>
          </a:p>
          <a:p>
            <a:pPr>
              <a:spcBef>
                <a:spcPts val="640"/>
              </a:spcBef>
              <a:buClr>
                <a:schemeClr val="dk1"/>
              </a:buClr>
              <a:buSzPts val="3200"/>
            </a:pPr>
            <a:r>
              <a:rPr lang="en-US" b="1" dirty="0"/>
              <a:t>Convolutional neural network (CNN</a:t>
            </a:r>
            <a:r>
              <a:rPr lang="en-US" dirty="0"/>
              <a:t>)</a:t>
            </a:r>
            <a:endParaRPr dirty="0"/>
          </a:p>
          <a:p>
            <a:pPr lvl="1">
              <a:spcBef>
                <a:spcPts val="560"/>
              </a:spcBef>
              <a:buClr>
                <a:schemeClr val="dk1"/>
              </a:buClr>
              <a:buSzPts val="2800"/>
            </a:pPr>
            <a:r>
              <a:rPr lang="en-US" dirty="0"/>
              <a:t>feed forward, sparsely-connected, weight sharing</a:t>
            </a:r>
            <a:endParaRPr dirty="0"/>
          </a:p>
          <a:p>
            <a:pPr>
              <a:spcBef>
                <a:spcPts val="640"/>
              </a:spcBef>
              <a:buClr>
                <a:schemeClr val="dk1"/>
              </a:buClr>
              <a:buSzPts val="3200"/>
            </a:pPr>
            <a:r>
              <a:rPr lang="en-US" b="1" dirty="0"/>
              <a:t>Recurrent NN (RNN)</a:t>
            </a:r>
            <a:endParaRPr dirty="0"/>
          </a:p>
          <a:p>
            <a:pPr lvl="1">
              <a:spcBef>
                <a:spcPts val="560"/>
              </a:spcBef>
              <a:buClr>
                <a:schemeClr val="dk1"/>
              </a:buClr>
              <a:buSzPts val="2800"/>
            </a:pPr>
            <a:r>
              <a:rPr lang="en-US" dirty="0"/>
              <a:t>feedback</a:t>
            </a:r>
            <a:endParaRPr dirty="0"/>
          </a:p>
          <a:p>
            <a:pPr>
              <a:spcBef>
                <a:spcPts val="640"/>
              </a:spcBef>
              <a:buClr>
                <a:schemeClr val="dk1"/>
              </a:buClr>
              <a:buSzPts val="3200"/>
            </a:pPr>
            <a:r>
              <a:rPr lang="en-US" b="1" dirty="0"/>
              <a:t>Long Short-Term Memory (LSTM):</a:t>
            </a:r>
            <a:endParaRPr dirty="0"/>
          </a:p>
          <a:p>
            <a:pPr lvl="1">
              <a:spcBef>
                <a:spcPts val="560"/>
              </a:spcBef>
              <a:buClr>
                <a:schemeClr val="dk1"/>
              </a:buClr>
              <a:buSzPts val="2800"/>
            </a:pPr>
            <a:r>
              <a:rPr lang="en-US" dirty="0"/>
              <a:t>feedback + storage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4"/>
          <p:cNvSpPr txBox="1">
            <a:spLocks noGrp="1"/>
          </p:cNvSpPr>
          <p:nvPr>
            <p:ph type="title"/>
          </p:nvPr>
        </p:nvSpPr>
        <p:spPr>
          <a:xfrm>
            <a:off x="1981200" y="274638"/>
            <a:ext cx="8229600" cy="572650"/>
          </a:xfrm>
          <a:prstGeom prst="rect">
            <a:avLst/>
          </a:prstGeom>
          <a:noFill/>
          <a:ln>
            <a:noFill/>
          </a:ln>
        </p:spPr>
        <p:txBody>
          <a:bodyPr spcFirstLastPara="1" vert="horz" wrap="square" lIns="91425" tIns="45700" rIns="91425" bIns="45700" rtlCol="0" anchor="ctr" anchorCtr="0">
            <a:noAutofit/>
          </a:bodyPr>
          <a:lstStyle/>
          <a:p>
            <a:pPr algn="ctr">
              <a:spcBef>
                <a:spcPts val="0"/>
              </a:spcBef>
              <a:buClr>
                <a:schemeClr val="dk1"/>
              </a:buClr>
              <a:buSzPts val="4400"/>
            </a:pPr>
            <a:r>
              <a:rPr lang="en-US" sz="3600" b="1" dirty="0">
                <a:latin typeface="Abadi" panose="020B0604020104020204" pitchFamily="34" charset="0"/>
              </a:rPr>
              <a:t>How DNN works</a:t>
            </a:r>
            <a:endParaRPr sz="3600" dirty="0">
              <a:latin typeface="Abadi" panose="020B0604020104020204" pitchFamily="34" charset="0"/>
            </a:endParaRPr>
          </a:p>
        </p:txBody>
      </p:sp>
      <p:sp>
        <p:nvSpPr>
          <p:cNvPr id="187" name="Google Shape;187;p14"/>
          <p:cNvSpPr txBox="1">
            <a:spLocks noGrp="1"/>
          </p:cNvSpPr>
          <p:nvPr>
            <p:ph type="body" idx="1"/>
          </p:nvPr>
        </p:nvSpPr>
        <p:spPr>
          <a:xfrm>
            <a:off x="209725" y="1600201"/>
            <a:ext cx="11509695" cy="4525963"/>
          </a:xfrm>
          <a:prstGeom prst="rect">
            <a:avLst/>
          </a:prstGeom>
          <a:noFill/>
          <a:ln>
            <a:noFill/>
          </a:ln>
        </p:spPr>
        <p:txBody>
          <a:bodyPr spcFirstLastPara="1" vert="horz" wrap="square" lIns="91425" tIns="45700" rIns="91425" bIns="45700" rtlCol="0" anchor="t" anchorCtr="0">
            <a:normAutofit fontScale="70000" lnSpcReduction="20000"/>
          </a:bodyPr>
          <a:lstStyle/>
          <a:p>
            <a:pPr marL="342900" indent="-342900">
              <a:spcBef>
                <a:spcPts val="0"/>
              </a:spcBef>
              <a:buClr>
                <a:schemeClr val="dk1"/>
              </a:buClr>
              <a:buSzPct val="100000"/>
            </a:pPr>
            <a:r>
              <a:rPr lang="en-US" sz="2900" b="1" dirty="0"/>
              <a:t>Neuron : </a:t>
            </a:r>
            <a:r>
              <a:rPr lang="en-US" sz="2900" dirty="0"/>
              <a:t>DNN is consist of multiple neurons</a:t>
            </a:r>
            <a:r>
              <a:rPr lang="en-US" sz="2900" b="1" dirty="0"/>
              <a:t>, </a:t>
            </a:r>
            <a:r>
              <a:rPr lang="en-US" sz="2900" dirty="0"/>
              <a:t>The neurons take input data and simple operations are performed on those data. The result of these operations is passed to other neurons(storing and identifying information)</a:t>
            </a:r>
            <a:endParaRPr sz="2900" dirty="0"/>
          </a:p>
          <a:p>
            <a:pPr marL="342900" indent="-246380">
              <a:spcBef>
                <a:spcPts val="304"/>
              </a:spcBef>
              <a:buClr>
                <a:schemeClr val="dk1"/>
              </a:buClr>
              <a:buSzPct val="100000"/>
              <a:buNone/>
            </a:pPr>
            <a:endParaRPr sz="2900" b="1" dirty="0"/>
          </a:p>
          <a:p>
            <a:pPr marL="342900" indent="-342900">
              <a:spcBef>
                <a:spcPts val="304"/>
              </a:spcBef>
              <a:buClr>
                <a:schemeClr val="dk1"/>
              </a:buClr>
              <a:buSzPct val="100000"/>
            </a:pPr>
            <a:r>
              <a:rPr lang="en-US" sz="2900" b="1" dirty="0"/>
              <a:t>Layer : </a:t>
            </a:r>
            <a:r>
              <a:rPr lang="en-US" sz="2900" dirty="0"/>
              <a:t>DNN is composed of input and output layers, and one or more hidden layer </a:t>
            </a:r>
            <a:endParaRPr sz="2900" b="1" dirty="0"/>
          </a:p>
          <a:p>
            <a:pPr marL="342900" indent="-246380">
              <a:spcBef>
                <a:spcPts val="304"/>
              </a:spcBef>
              <a:buClr>
                <a:schemeClr val="dk1"/>
              </a:buClr>
              <a:buSzPct val="100000"/>
              <a:buNone/>
            </a:pPr>
            <a:endParaRPr sz="2900" dirty="0"/>
          </a:p>
          <a:p>
            <a:pPr marL="342900" indent="-342900">
              <a:spcBef>
                <a:spcPts val="304"/>
              </a:spcBef>
              <a:buClr>
                <a:schemeClr val="dk1"/>
              </a:buClr>
              <a:buSzPct val="100000"/>
            </a:pPr>
            <a:r>
              <a:rPr lang="en-US" sz="2900" b="1" dirty="0"/>
              <a:t>Weight :</a:t>
            </a:r>
            <a:r>
              <a:rPr lang="en-US" sz="2900" dirty="0"/>
              <a:t>the connection between two neurons of successive layers would have an associated weight. </a:t>
            </a:r>
            <a:endParaRPr sz="2900" dirty="0"/>
          </a:p>
          <a:p>
            <a:pPr marL="342900" indent="-246380">
              <a:spcBef>
                <a:spcPts val="304"/>
              </a:spcBef>
              <a:buClr>
                <a:schemeClr val="dk1"/>
              </a:buClr>
              <a:buSzPct val="100000"/>
              <a:buNone/>
            </a:pPr>
            <a:endParaRPr sz="2900" dirty="0"/>
          </a:p>
          <a:p>
            <a:pPr marL="342900" indent="-342900">
              <a:spcBef>
                <a:spcPts val="304"/>
              </a:spcBef>
              <a:buClr>
                <a:schemeClr val="dk1"/>
              </a:buClr>
              <a:buSzPct val="100000"/>
            </a:pPr>
            <a:r>
              <a:rPr lang="en-US" sz="2900" b="1" dirty="0"/>
              <a:t>Input : </a:t>
            </a:r>
            <a:r>
              <a:rPr lang="en-US" sz="2900" dirty="0"/>
              <a:t>matrix or vector of inputs.</a:t>
            </a:r>
            <a:endParaRPr sz="2900" dirty="0"/>
          </a:p>
          <a:p>
            <a:pPr marL="342900" indent="-246380">
              <a:spcBef>
                <a:spcPts val="304"/>
              </a:spcBef>
              <a:buClr>
                <a:schemeClr val="dk1"/>
              </a:buClr>
              <a:buSzPct val="100000"/>
              <a:buNone/>
            </a:pPr>
            <a:endParaRPr sz="2900" dirty="0"/>
          </a:p>
          <a:p>
            <a:pPr marL="342900" indent="-342900">
              <a:spcBef>
                <a:spcPts val="304"/>
              </a:spcBef>
              <a:buClr>
                <a:schemeClr val="dk1"/>
              </a:buClr>
              <a:buSzPct val="100000"/>
            </a:pPr>
            <a:r>
              <a:rPr lang="en-US" sz="2900" b="1" dirty="0"/>
              <a:t>Output : </a:t>
            </a:r>
            <a:r>
              <a:rPr lang="en-US" sz="2900" dirty="0"/>
              <a:t>Feature maps (matrix)</a:t>
            </a:r>
            <a:endParaRPr sz="2900" dirty="0"/>
          </a:p>
          <a:p>
            <a:pPr marL="342900" indent="-246380">
              <a:spcBef>
                <a:spcPts val="304"/>
              </a:spcBef>
              <a:buClr>
                <a:schemeClr val="dk1"/>
              </a:buClr>
              <a:buSzPct val="100000"/>
              <a:buNone/>
            </a:pPr>
            <a:endParaRPr sz="2900" dirty="0"/>
          </a:p>
          <a:p>
            <a:pPr marL="342900" indent="-342900">
              <a:spcBef>
                <a:spcPts val="304"/>
              </a:spcBef>
              <a:buClr>
                <a:schemeClr val="dk1"/>
              </a:buClr>
              <a:buSzPct val="100000"/>
            </a:pPr>
            <a:r>
              <a:rPr lang="en-US" sz="2900" b="1" dirty="0"/>
              <a:t>Activation function </a:t>
            </a:r>
            <a:r>
              <a:rPr lang="en-US" sz="2900" dirty="0"/>
              <a:t>Whether the result will be passed, is determined by the activation function The activation function plays an important role for both feature extraction and classification </a:t>
            </a:r>
            <a:endParaRPr sz="2900" dirty="0"/>
          </a:p>
          <a:p>
            <a:pPr marL="0" indent="0">
              <a:spcBef>
                <a:spcPts val="304"/>
              </a:spcBef>
              <a:buClr>
                <a:schemeClr val="dk1"/>
              </a:buClr>
              <a:buSzPct val="100000"/>
              <a:buNone/>
            </a:pPr>
            <a:endParaRPr sz="2900" dirty="0"/>
          </a:p>
          <a:p>
            <a:pPr marL="342900" indent="-342900">
              <a:spcBef>
                <a:spcPts val="304"/>
              </a:spcBef>
              <a:buClr>
                <a:schemeClr val="dk1"/>
              </a:buClr>
              <a:buSzPct val="100000"/>
            </a:pPr>
            <a:r>
              <a:rPr lang="en-US" sz="2900" dirty="0"/>
              <a:t>L</a:t>
            </a:r>
            <a:r>
              <a:rPr lang="en-US" sz="2900" b="1" dirty="0"/>
              <a:t>earning mechanism (optimizer) : </a:t>
            </a:r>
            <a:r>
              <a:rPr lang="en-US" sz="2900" dirty="0"/>
              <a:t>will help the neural network incrementally update the weights (that were randomly initialized) to a more suitable weight that aids into correct prediction of the outcome </a:t>
            </a:r>
            <a:endParaRPr sz="2900" dirty="0"/>
          </a:p>
          <a:p>
            <a:pPr marL="342900" indent="-246380">
              <a:spcBef>
                <a:spcPts val="304"/>
              </a:spcBef>
              <a:buClr>
                <a:schemeClr val="dk1"/>
              </a:buClr>
              <a:buSzPct val="100000"/>
              <a:buNone/>
            </a:pPr>
            <a:endParaRPr dirty="0"/>
          </a:p>
          <a:p>
            <a:pPr marL="342900" indent="-246380">
              <a:spcBef>
                <a:spcPts val="304"/>
              </a:spcBef>
              <a:buClr>
                <a:schemeClr val="dk1"/>
              </a:buClr>
              <a:buSzPct val="10000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9"/>
          <p:cNvSpPr txBox="1">
            <a:spLocks noGrp="1"/>
          </p:cNvSpPr>
          <p:nvPr>
            <p:ph type="title"/>
          </p:nvPr>
        </p:nvSpPr>
        <p:spPr>
          <a:xfrm>
            <a:off x="1015068" y="274638"/>
            <a:ext cx="10679184" cy="639762"/>
          </a:xfrm>
          <a:prstGeom prst="rect">
            <a:avLst/>
          </a:prstGeom>
          <a:noFill/>
          <a:ln>
            <a:noFill/>
          </a:ln>
        </p:spPr>
        <p:txBody>
          <a:bodyPr spcFirstLastPara="1" vert="horz" wrap="square" lIns="91425" tIns="45700" rIns="91425" bIns="45700" rtlCol="0" anchor="ctr" anchorCtr="0">
            <a:noAutofit/>
          </a:bodyPr>
          <a:lstStyle/>
          <a:p>
            <a:pPr algn="ctr">
              <a:spcBef>
                <a:spcPts val="0"/>
              </a:spcBef>
              <a:buClr>
                <a:schemeClr val="dk1"/>
              </a:buClr>
              <a:buSzPct val="100000"/>
            </a:pPr>
            <a:r>
              <a:rPr lang="en-US" sz="3600" b="1" dirty="0">
                <a:latin typeface="Abadi" panose="020B0604020104020204" pitchFamily="34" charset="0"/>
              </a:rPr>
              <a:t>Feed forward deep neural network (FF-DNN)</a:t>
            </a:r>
            <a:endParaRPr sz="3600" b="1" dirty="0">
              <a:latin typeface="Abadi" panose="020B0604020104020204" pitchFamily="34" charset="0"/>
            </a:endParaRPr>
          </a:p>
        </p:txBody>
      </p:sp>
      <p:sp>
        <p:nvSpPr>
          <p:cNvPr id="157" name="Google Shape;157;p9"/>
          <p:cNvSpPr txBox="1">
            <a:spLocks noGrp="1"/>
          </p:cNvSpPr>
          <p:nvPr>
            <p:ph type="body" idx="1"/>
          </p:nvPr>
        </p:nvSpPr>
        <p:spPr>
          <a:xfrm>
            <a:off x="377505" y="1124125"/>
            <a:ext cx="11316747" cy="5002039"/>
          </a:xfrm>
          <a:prstGeom prst="rect">
            <a:avLst/>
          </a:prstGeom>
          <a:noFill/>
          <a:ln>
            <a:noFill/>
          </a:ln>
        </p:spPr>
        <p:txBody>
          <a:bodyPr spcFirstLastPara="1" vert="horz" wrap="square" lIns="91425" tIns="45700" rIns="91425" bIns="45700" rtlCol="0" anchor="t" anchorCtr="0">
            <a:normAutofit fontScale="92500" lnSpcReduction="20000"/>
          </a:bodyPr>
          <a:lstStyle/>
          <a:p>
            <a:pPr marL="342900" indent="-342931">
              <a:lnSpc>
                <a:spcPct val="150000"/>
              </a:lnSpc>
              <a:spcBef>
                <a:spcPts val="0"/>
              </a:spcBef>
              <a:buClr>
                <a:schemeClr val="dk1"/>
              </a:buClr>
              <a:buSzPct val="100000"/>
            </a:pPr>
            <a:r>
              <a:rPr lang="en-US" sz="2400" dirty="0"/>
              <a:t>A deep neural network (DNN) can be considered as stacked neural networks, i.e., networks composed of several layers.</a:t>
            </a:r>
            <a:endParaRPr sz="2400" dirty="0"/>
          </a:p>
          <a:p>
            <a:pPr marL="342900" indent="-342931">
              <a:lnSpc>
                <a:spcPct val="150000"/>
              </a:lnSpc>
              <a:spcBef>
                <a:spcPts val="480"/>
              </a:spcBef>
              <a:buClr>
                <a:schemeClr val="dk1"/>
              </a:buClr>
              <a:buSzPct val="100000"/>
            </a:pPr>
            <a:r>
              <a:rPr lang="en-US" sz="2400" dirty="0"/>
              <a:t>Feed forward deep neural network(FF-DNN): is multilayer </a:t>
            </a:r>
            <a:r>
              <a:rPr lang="en-US" sz="2400" dirty="0" err="1"/>
              <a:t>perceptrons</a:t>
            </a:r>
            <a:r>
              <a:rPr lang="en-US" sz="2400" dirty="0"/>
              <a:t> (MLP) </a:t>
            </a:r>
            <a:endParaRPr sz="2400" dirty="0"/>
          </a:p>
          <a:p>
            <a:pPr marL="800069" lvl="1" indent="-342900">
              <a:lnSpc>
                <a:spcPct val="150000"/>
              </a:lnSpc>
              <a:spcBef>
                <a:spcPts val="480"/>
              </a:spcBef>
              <a:buClr>
                <a:schemeClr val="dk1"/>
              </a:buClr>
              <a:buSzPct val="100000"/>
            </a:pPr>
            <a:r>
              <a:rPr lang="en-US" dirty="0"/>
              <a:t>DNNs where there is more than one hidden layer and the network moves in only forward direction (no loopback). </a:t>
            </a:r>
            <a:endParaRPr dirty="0"/>
          </a:p>
          <a:p>
            <a:pPr marL="800069" lvl="1" indent="-342900">
              <a:lnSpc>
                <a:spcPct val="150000"/>
              </a:lnSpc>
              <a:spcBef>
                <a:spcPts val="480"/>
              </a:spcBef>
              <a:buClr>
                <a:schemeClr val="dk1"/>
              </a:buClr>
              <a:buSzPct val="100000"/>
            </a:pPr>
            <a:r>
              <a:rPr lang="en-US" dirty="0"/>
              <a:t>FFDNN are suitable in both classification and prediction.</a:t>
            </a:r>
            <a:endParaRPr dirty="0"/>
          </a:p>
          <a:p>
            <a:pPr marL="342900" indent="-342931">
              <a:lnSpc>
                <a:spcPct val="150000"/>
              </a:lnSpc>
              <a:spcBef>
                <a:spcPts val="480"/>
              </a:spcBef>
              <a:buClr>
                <a:schemeClr val="dk1"/>
              </a:buClr>
              <a:buSzPct val="100000"/>
            </a:pPr>
            <a:r>
              <a:rPr lang="en-US" sz="2400" dirty="0"/>
              <a:t>When the FF-DNN is used as a classifier, the input and output nodes will match the input features and output classes.</a:t>
            </a:r>
            <a:endParaRPr sz="2400" dirty="0"/>
          </a:p>
          <a:p>
            <a:pPr marL="342900" indent="-342931">
              <a:lnSpc>
                <a:spcPct val="150000"/>
              </a:lnSpc>
              <a:spcBef>
                <a:spcPts val="480"/>
              </a:spcBef>
              <a:buClr>
                <a:schemeClr val="dk1"/>
              </a:buClr>
              <a:buSzPct val="100000"/>
            </a:pPr>
            <a:r>
              <a:rPr lang="en-US" sz="2400" dirty="0"/>
              <a:t>The most important concepts in a FF-DNN are weights, biases, nonlinear activation and backpropagation. </a:t>
            </a:r>
            <a:endParaRPr sz="2400" dirty="0"/>
          </a:p>
          <a:p>
            <a:pPr marL="342900" indent="-185420">
              <a:spcBef>
                <a:spcPts val="496"/>
              </a:spcBef>
              <a:buClr>
                <a:schemeClr val="dk1"/>
              </a:buClr>
              <a:buSzPct val="100000"/>
              <a:buNone/>
            </a:pPr>
            <a:endParaRPr dirty="0"/>
          </a:p>
          <a:p>
            <a:pPr marL="342900" indent="-185420">
              <a:spcBef>
                <a:spcPts val="496"/>
              </a:spcBef>
              <a:buClr>
                <a:schemeClr val="dk1"/>
              </a:buClr>
              <a:buSzPct val="100000"/>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sz="3600" b="1" dirty="0">
                <a:latin typeface="Abadi" panose="020B0604020104020204" pitchFamily="34" charset="0"/>
              </a:rPr>
              <a:t>How DNN works</a:t>
            </a:r>
            <a:endParaRPr sz="3600" dirty="0">
              <a:latin typeface="Abadi" panose="020B0604020104020204" pitchFamily="34" charset="0"/>
            </a:endParaRPr>
          </a:p>
        </p:txBody>
      </p:sp>
      <p:pic>
        <p:nvPicPr>
          <p:cNvPr id="180" name="Google Shape;180;p13"/>
          <p:cNvPicPr preferRelativeResize="0"/>
          <p:nvPr/>
        </p:nvPicPr>
        <p:blipFill rotWithShape="1">
          <a:blip r:embed="rId3">
            <a:alphaModFix/>
          </a:blip>
          <a:srcRect/>
          <a:stretch/>
        </p:blipFill>
        <p:spPr>
          <a:xfrm>
            <a:off x="611698" y="5651385"/>
            <a:ext cx="6381215" cy="739545"/>
          </a:xfrm>
          <a:prstGeom prst="rect">
            <a:avLst/>
          </a:prstGeom>
          <a:noFill/>
          <a:ln>
            <a:noFill/>
          </a:ln>
        </p:spPr>
      </p:pic>
      <p:pic>
        <p:nvPicPr>
          <p:cNvPr id="181" name="Google Shape;181;p13"/>
          <p:cNvPicPr preferRelativeResize="0">
            <a:picLocks noGrp="1"/>
          </p:cNvPicPr>
          <p:nvPr>
            <p:ph type="body" idx="1"/>
          </p:nvPr>
        </p:nvPicPr>
        <p:blipFill rotWithShape="1">
          <a:blip r:embed="rId4">
            <a:alphaModFix/>
          </a:blip>
          <a:srcRect/>
          <a:stretch/>
        </p:blipFill>
        <p:spPr>
          <a:xfrm>
            <a:off x="6024873" y="2033678"/>
            <a:ext cx="5741565" cy="1143000"/>
          </a:xfrm>
          <a:prstGeom prst="rect">
            <a:avLst/>
          </a:prstGeom>
          <a:noFill/>
          <a:ln>
            <a:noFill/>
          </a:ln>
        </p:spPr>
      </p:pic>
      <p:pic>
        <p:nvPicPr>
          <p:cNvPr id="9" name="Google Shape;124;p5">
            <a:extLst>
              <a:ext uri="{FF2B5EF4-FFF2-40B4-BE49-F238E27FC236}">
                <a16:creationId xmlns:a16="http://schemas.microsoft.com/office/drawing/2014/main" id="{0CC2AA2E-DFAE-4732-89E6-921262D6436F}"/>
              </a:ext>
            </a:extLst>
          </p:cNvPr>
          <p:cNvPicPr preferRelativeResize="0">
            <a:picLocks/>
          </p:cNvPicPr>
          <p:nvPr/>
        </p:nvPicPr>
        <p:blipFill rotWithShape="1">
          <a:blip r:embed="rId5">
            <a:alphaModFix/>
          </a:blip>
          <a:srcRect/>
          <a:stretch/>
        </p:blipFill>
        <p:spPr>
          <a:xfrm>
            <a:off x="341353" y="1426286"/>
            <a:ext cx="5322028" cy="30375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0"/>
          <p:cNvSpPr txBox="1">
            <a:spLocks noGrp="1"/>
          </p:cNvSpPr>
          <p:nvPr>
            <p:ph type="title"/>
          </p:nvPr>
        </p:nvSpPr>
        <p:spPr>
          <a:xfrm>
            <a:off x="1981200" y="274638"/>
            <a:ext cx="8229600" cy="765597"/>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sz="3600" b="1" dirty="0">
                <a:latin typeface="Abadi" panose="020B0604020104020204" pitchFamily="34" charset="0"/>
              </a:rPr>
              <a:t>Back-</a:t>
            </a:r>
            <a:r>
              <a:rPr lang="en-US" sz="3600" b="1" dirty="0" err="1">
                <a:latin typeface="Abadi" panose="020B0604020104020204" pitchFamily="34" charset="0"/>
              </a:rPr>
              <a:t>propogation</a:t>
            </a:r>
            <a:r>
              <a:rPr lang="en-US" sz="3600" b="1" dirty="0">
                <a:latin typeface="Abadi" panose="020B0604020104020204" pitchFamily="34" charset="0"/>
              </a:rPr>
              <a:t> algorithm</a:t>
            </a:r>
            <a:endParaRPr sz="3600" dirty="0">
              <a:latin typeface="Abadi" panose="020B0604020104020204" pitchFamily="34" charset="0"/>
            </a:endParaRPr>
          </a:p>
        </p:txBody>
      </p:sp>
      <p:sp>
        <p:nvSpPr>
          <p:cNvPr id="163" name="Google Shape;163;p10"/>
          <p:cNvSpPr txBox="1">
            <a:spLocks noGrp="1"/>
          </p:cNvSpPr>
          <p:nvPr>
            <p:ph type="body" idx="1"/>
          </p:nvPr>
        </p:nvSpPr>
        <p:spPr>
          <a:xfrm>
            <a:off x="167779" y="1600201"/>
            <a:ext cx="11576807" cy="4525963"/>
          </a:xfrm>
          <a:prstGeom prst="rect">
            <a:avLst/>
          </a:prstGeom>
          <a:noFill/>
          <a:ln>
            <a:noFill/>
          </a:ln>
        </p:spPr>
        <p:txBody>
          <a:bodyPr spcFirstLastPara="1" vert="horz" wrap="square" lIns="91425" tIns="45700" rIns="91425" bIns="45700" rtlCol="0" anchor="t" anchorCtr="0">
            <a:normAutofit/>
          </a:bodyPr>
          <a:lstStyle/>
          <a:p>
            <a:pPr marL="0" indent="0">
              <a:spcBef>
                <a:spcPts val="0"/>
              </a:spcBef>
              <a:buClr>
                <a:schemeClr val="dk1"/>
              </a:buClr>
              <a:buSzPct val="100000"/>
              <a:buNone/>
            </a:pPr>
            <a:r>
              <a:rPr lang="en-US" sz="2400" b="1" dirty="0"/>
              <a:t>Phase 1:propagation </a:t>
            </a:r>
            <a:endParaRPr sz="2400" dirty="0"/>
          </a:p>
          <a:p>
            <a:pPr marL="0" indent="0">
              <a:spcBef>
                <a:spcPts val="448"/>
              </a:spcBef>
              <a:buClr>
                <a:schemeClr val="dk1"/>
              </a:buClr>
              <a:buSzPct val="100000"/>
              <a:buNone/>
            </a:pPr>
            <a:r>
              <a:rPr lang="en-US" sz="2400" b="1" dirty="0"/>
              <a:t> </a:t>
            </a:r>
            <a:r>
              <a:rPr lang="en-US" sz="2400" dirty="0"/>
              <a:t>Each propagation involves the following steps</a:t>
            </a:r>
            <a:endParaRPr sz="2400" dirty="0"/>
          </a:p>
          <a:p>
            <a:pPr marL="971550" lvl="1" indent="-514350">
              <a:spcBef>
                <a:spcPts val="392"/>
              </a:spcBef>
              <a:buClr>
                <a:schemeClr val="dk1"/>
              </a:buClr>
              <a:buSzPct val="100000"/>
              <a:buFont typeface="Calibri"/>
              <a:buAutoNum type="arabicPeriod"/>
            </a:pPr>
            <a:r>
              <a:rPr lang="en-US" dirty="0"/>
              <a:t>Propagation forwards to the network to generate the output values</a:t>
            </a:r>
            <a:endParaRPr dirty="0"/>
          </a:p>
          <a:p>
            <a:pPr marL="971550" lvl="1" indent="-514350">
              <a:spcBef>
                <a:spcPts val="392"/>
              </a:spcBef>
              <a:buClr>
                <a:schemeClr val="dk1"/>
              </a:buClr>
              <a:buSzPct val="100000"/>
              <a:buFont typeface="Calibri"/>
              <a:buAutoNum type="arabicPeriod"/>
            </a:pPr>
            <a:r>
              <a:rPr lang="en-US" dirty="0"/>
              <a:t>Calculation of the cost(error term)</a:t>
            </a:r>
            <a:endParaRPr dirty="0"/>
          </a:p>
          <a:p>
            <a:pPr marL="971550" lvl="1" indent="-514350">
              <a:spcBef>
                <a:spcPts val="392"/>
              </a:spcBef>
              <a:buClr>
                <a:schemeClr val="dk1"/>
              </a:buClr>
              <a:buSzPct val="100000"/>
              <a:buFont typeface="Calibri"/>
              <a:buAutoNum type="arabicPeriod"/>
            </a:pPr>
            <a:r>
              <a:rPr lang="en-US" dirty="0"/>
              <a:t>Propagation of the output activations back through the network  using the training pattern target in order to generate the deltas (difference between the targeted and actual outputs) of all outputs and hidden neurons</a:t>
            </a:r>
            <a:endParaRPr dirty="0"/>
          </a:p>
          <a:p>
            <a:pPr marL="0" indent="0">
              <a:spcBef>
                <a:spcPts val="448"/>
              </a:spcBef>
              <a:buClr>
                <a:schemeClr val="dk1"/>
              </a:buClr>
              <a:buSzPct val="100000"/>
              <a:buNone/>
            </a:pPr>
            <a:r>
              <a:rPr lang="en-US" sz="2400" b="1" dirty="0"/>
              <a:t>Phase 2: weight update</a:t>
            </a:r>
            <a:endParaRPr sz="2400" dirty="0"/>
          </a:p>
          <a:p>
            <a:pPr marL="0" indent="0">
              <a:spcBef>
                <a:spcPts val="448"/>
              </a:spcBef>
              <a:buClr>
                <a:schemeClr val="dk1"/>
              </a:buClr>
              <a:buSzPct val="100000"/>
              <a:buNone/>
            </a:pPr>
            <a:r>
              <a:rPr lang="en-US" sz="2400" dirty="0"/>
              <a:t>Following steps must be followed for each weight</a:t>
            </a:r>
            <a:endParaRPr sz="2400" dirty="0"/>
          </a:p>
          <a:p>
            <a:pPr marL="971550" lvl="1" indent="-514350">
              <a:spcBef>
                <a:spcPts val="392"/>
              </a:spcBef>
              <a:buClr>
                <a:schemeClr val="dk1"/>
              </a:buClr>
              <a:buSzPct val="100000"/>
              <a:buFont typeface="Calibri"/>
              <a:buAutoNum type="arabicPeriod"/>
            </a:pPr>
            <a:r>
              <a:rPr lang="en-US" dirty="0"/>
              <a:t>The weights output delta and input activations are multiplied to find the gradient of the weight</a:t>
            </a:r>
            <a:endParaRPr dirty="0"/>
          </a:p>
          <a:p>
            <a:pPr marL="971550" lvl="1" indent="-514350">
              <a:spcBef>
                <a:spcPts val="392"/>
              </a:spcBef>
              <a:buClr>
                <a:schemeClr val="dk1"/>
              </a:buClr>
              <a:buSzPct val="100000"/>
              <a:buFont typeface="Calibri"/>
              <a:buAutoNum type="arabicPeriod"/>
            </a:pPr>
            <a:r>
              <a:rPr lang="en-US" dirty="0"/>
              <a:t>Ratio of the weight gradient is subtracted from weight</a:t>
            </a:r>
            <a:endParaRPr dirty="0"/>
          </a:p>
          <a:p>
            <a:pPr marL="971550" lvl="1" indent="-389890">
              <a:spcBef>
                <a:spcPts val="392"/>
              </a:spcBef>
              <a:buClr>
                <a:schemeClr val="dk1"/>
              </a:buClr>
              <a:buSzPct val="100000"/>
              <a:buNone/>
            </a:pPr>
            <a:endParaRPr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8"/>
          <p:cNvSpPr txBox="1">
            <a:spLocks noGrp="1"/>
          </p:cNvSpPr>
          <p:nvPr>
            <p:ph type="title"/>
          </p:nvPr>
        </p:nvSpPr>
        <p:spPr>
          <a:xfrm>
            <a:off x="1981200" y="274638"/>
            <a:ext cx="8229600" cy="606206"/>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sz="3600" b="1" dirty="0">
                <a:latin typeface="Abadi" panose="020B0604020104020204" pitchFamily="34" charset="0"/>
              </a:rPr>
              <a:t>Other aspects</a:t>
            </a:r>
            <a:endParaRPr sz="3600" b="1" dirty="0">
              <a:latin typeface="Abadi" panose="020B0604020104020204" pitchFamily="34" charset="0"/>
            </a:endParaRPr>
          </a:p>
        </p:txBody>
      </p:sp>
      <p:sp>
        <p:nvSpPr>
          <p:cNvPr id="223" name="Google Shape;223;p18"/>
          <p:cNvSpPr txBox="1">
            <a:spLocks noGrp="1"/>
          </p:cNvSpPr>
          <p:nvPr>
            <p:ph type="body" idx="1"/>
          </p:nvPr>
        </p:nvSpPr>
        <p:spPr>
          <a:xfrm>
            <a:off x="469783" y="1759592"/>
            <a:ext cx="4219663"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sz="2400" dirty="0"/>
              <a:t>H2o</a:t>
            </a:r>
            <a:endParaRPr sz="2400" dirty="0"/>
          </a:p>
          <a:p>
            <a:pPr marL="342900" indent="-342900">
              <a:spcBef>
                <a:spcPts val="640"/>
              </a:spcBef>
              <a:buClr>
                <a:schemeClr val="dk1"/>
              </a:buClr>
              <a:buSzPts val="3200"/>
            </a:pPr>
            <a:r>
              <a:rPr lang="en-US" sz="2400" dirty="0" err="1"/>
              <a:t>Tensorflow</a:t>
            </a:r>
            <a:endParaRPr sz="2400" dirty="0"/>
          </a:p>
          <a:p>
            <a:pPr marL="342900" indent="-342900">
              <a:spcBef>
                <a:spcPts val="640"/>
              </a:spcBef>
              <a:buClr>
                <a:schemeClr val="dk1"/>
              </a:buClr>
              <a:buSzPts val="3200"/>
            </a:pPr>
            <a:r>
              <a:rPr lang="en-US" sz="2400" dirty="0" err="1"/>
              <a:t>Deepnet</a:t>
            </a:r>
            <a:endParaRPr sz="2400" dirty="0"/>
          </a:p>
          <a:p>
            <a:pPr marL="342900" indent="-342900">
              <a:spcBef>
                <a:spcPts val="640"/>
              </a:spcBef>
              <a:buClr>
                <a:schemeClr val="dk1"/>
              </a:buClr>
              <a:buSzPts val="3200"/>
            </a:pPr>
            <a:r>
              <a:rPr lang="en-US" sz="2400" dirty="0" err="1"/>
              <a:t>nnet</a:t>
            </a:r>
            <a:endParaRPr sz="2400" dirty="0"/>
          </a:p>
          <a:p>
            <a:pPr marL="342900" indent="-342900">
              <a:spcBef>
                <a:spcPts val="640"/>
              </a:spcBef>
              <a:buClr>
                <a:schemeClr val="dk1"/>
              </a:buClr>
              <a:buSzPts val="3200"/>
            </a:pPr>
            <a:r>
              <a:rPr lang="en-US" sz="2400" dirty="0" err="1"/>
              <a:t>neuralnet</a:t>
            </a:r>
            <a:endParaRPr sz="2400" dirty="0"/>
          </a:p>
          <a:p>
            <a:pPr marL="342900" indent="-342900">
              <a:spcBef>
                <a:spcPts val="640"/>
              </a:spcBef>
              <a:buClr>
                <a:schemeClr val="dk1"/>
              </a:buClr>
              <a:buSzPts val="3200"/>
            </a:pPr>
            <a:r>
              <a:rPr lang="en-US" sz="2400" dirty="0" err="1"/>
              <a:t>kerasR</a:t>
            </a:r>
            <a:endParaRPr sz="2400" dirty="0"/>
          </a:p>
          <a:p>
            <a:pPr marL="342900" indent="-342900">
              <a:spcBef>
                <a:spcPts val="640"/>
              </a:spcBef>
              <a:buClr>
                <a:schemeClr val="dk1"/>
              </a:buClr>
              <a:buSzPts val="3200"/>
            </a:pPr>
            <a:r>
              <a:rPr lang="en-US" sz="2400" dirty="0" err="1"/>
              <a:t>Keras</a:t>
            </a:r>
            <a:r>
              <a:rPr lang="en-US" sz="2400" dirty="0"/>
              <a:t> </a:t>
            </a:r>
            <a:r>
              <a:rPr lang="en-GB" sz="2400" dirty="0"/>
              <a:t>(uses TensorFlow as a backend)</a:t>
            </a:r>
          </a:p>
          <a:p>
            <a:pPr marL="342900" indent="-342900">
              <a:spcBef>
                <a:spcPts val="640"/>
              </a:spcBef>
              <a:buClr>
                <a:schemeClr val="dk1"/>
              </a:buClr>
              <a:buSzPts val="3200"/>
            </a:pPr>
            <a:endParaRPr dirty="0"/>
          </a:p>
        </p:txBody>
      </p:sp>
      <p:sp>
        <p:nvSpPr>
          <p:cNvPr id="4" name="Rectangle 3">
            <a:extLst>
              <a:ext uri="{FF2B5EF4-FFF2-40B4-BE49-F238E27FC236}">
                <a16:creationId xmlns:a16="http://schemas.microsoft.com/office/drawing/2014/main" id="{17BFF92E-56A8-4A74-B271-8D2E9076BD77}"/>
              </a:ext>
            </a:extLst>
          </p:cNvPr>
          <p:cNvSpPr/>
          <p:nvPr/>
        </p:nvSpPr>
        <p:spPr>
          <a:xfrm>
            <a:off x="5058561" y="1600201"/>
            <a:ext cx="6568579" cy="1200329"/>
          </a:xfrm>
          <a:prstGeom prst="rect">
            <a:avLst/>
          </a:prstGeom>
        </p:spPr>
        <p:txBody>
          <a:bodyPr wrap="square">
            <a:spAutoFit/>
          </a:bodyPr>
          <a:lstStyle/>
          <a:p>
            <a:pPr>
              <a:defRPr/>
            </a:pPr>
            <a:r>
              <a:rPr lang="en-GB" sz="2400" b="1" dirty="0">
                <a:solidFill>
                  <a:srgbClr val="0070C0"/>
                </a:solidFill>
                <a:latin typeface="Abadi" panose="020B0604020104020204" pitchFamily="34" charset="0"/>
              </a:rPr>
              <a:t>Why is it generally better than other methods on image, speech and certain other types of data? </a:t>
            </a:r>
          </a:p>
          <a:p>
            <a:pPr>
              <a:defRPr/>
            </a:pPr>
            <a:endParaRPr lang="en-GB" sz="2400" dirty="0">
              <a:latin typeface="Abadi" panose="020B0604020104020204" pitchFamily="34" charset="0"/>
            </a:endParaRPr>
          </a:p>
        </p:txBody>
      </p:sp>
      <p:sp>
        <p:nvSpPr>
          <p:cNvPr id="6" name="TextBox 5">
            <a:extLst>
              <a:ext uri="{FF2B5EF4-FFF2-40B4-BE49-F238E27FC236}">
                <a16:creationId xmlns:a16="http://schemas.microsoft.com/office/drawing/2014/main" id="{7D3E1FC6-C0CE-40E4-A185-A5EB550EFD60}"/>
              </a:ext>
            </a:extLst>
          </p:cNvPr>
          <p:cNvSpPr txBox="1"/>
          <p:nvPr/>
        </p:nvSpPr>
        <p:spPr>
          <a:xfrm>
            <a:off x="0" y="1295831"/>
            <a:ext cx="2430710" cy="461665"/>
          </a:xfrm>
          <a:prstGeom prst="rect">
            <a:avLst/>
          </a:prstGeom>
          <a:noFill/>
        </p:spPr>
        <p:txBody>
          <a:bodyPr wrap="square">
            <a:spAutoFit/>
          </a:bodyPr>
          <a:lstStyle/>
          <a:p>
            <a:r>
              <a:rPr lang="en-US" sz="2400" b="1" dirty="0">
                <a:solidFill>
                  <a:srgbClr val="0070C0"/>
                </a:solidFill>
                <a:latin typeface="Abadi" panose="020B0604020104020204" pitchFamily="34" charset="0"/>
              </a:rPr>
              <a:t>Deep learning R</a:t>
            </a:r>
            <a:endParaRPr lang="en-GB" sz="2400" dirty="0">
              <a:solidFill>
                <a:srgbClr val="0070C0"/>
              </a:solidFill>
            </a:endParaRPr>
          </a:p>
        </p:txBody>
      </p:sp>
      <p:sp>
        <p:nvSpPr>
          <p:cNvPr id="8" name="TextBox 7">
            <a:extLst>
              <a:ext uri="{FF2B5EF4-FFF2-40B4-BE49-F238E27FC236}">
                <a16:creationId xmlns:a16="http://schemas.microsoft.com/office/drawing/2014/main" id="{2355C035-2FDC-4F20-8937-D241C646C4F7}"/>
              </a:ext>
            </a:extLst>
          </p:cNvPr>
          <p:cNvSpPr txBox="1"/>
          <p:nvPr/>
        </p:nvSpPr>
        <p:spPr>
          <a:xfrm>
            <a:off x="5404607" y="2857142"/>
            <a:ext cx="6144936" cy="1938992"/>
          </a:xfrm>
          <a:prstGeom prst="rect">
            <a:avLst/>
          </a:prstGeom>
          <a:noFill/>
        </p:spPr>
        <p:txBody>
          <a:bodyPr wrap="square">
            <a:spAutoFit/>
          </a:bodyPr>
          <a:lstStyle/>
          <a:p>
            <a:pPr marL="342900" indent="-342900">
              <a:buFont typeface="Arial" panose="020B0604020202020204" pitchFamily="34" charset="0"/>
              <a:buChar char="•"/>
              <a:defRPr/>
            </a:pPr>
            <a:r>
              <a:rPr lang="en-GB" sz="2400" dirty="0">
                <a:latin typeface="Abadi" panose="020B0604020104020204" pitchFamily="34" charset="0"/>
              </a:rPr>
              <a:t>Series of layers between input &amp; output involved in </a:t>
            </a:r>
          </a:p>
          <a:p>
            <a:pPr marL="342900" indent="-342900">
              <a:buFont typeface="Arial" panose="020B0604020202020204" pitchFamily="34" charset="0"/>
              <a:buChar char="•"/>
              <a:defRPr/>
            </a:pPr>
            <a:r>
              <a:rPr lang="en-GB" sz="2400" dirty="0">
                <a:latin typeface="Abadi" panose="020B0604020104020204" pitchFamily="34" charset="0"/>
              </a:rPr>
              <a:t>Feature identification </a:t>
            </a:r>
          </a:p>
          <a:p>
            <a:pPr marL="342900" indent="-342900">
              <a:buFont typeface="Arial" panose="020B0604020202020204" pitchFamily="34" charset="0"/>
              <a:buChar char="•"/>
              <a:defRPr/>
            </a:pPr>
            <a:r>
              <a:rPr lang="en-GB" sz="2400" dirty="0">
                <a:latin typeface="Abadi" panose="020B0604020104020204" pitchFamily="34" charset="0"/>
              </a:rPr>
              <a:t>Processing in a series of stages  </a:t>
            </a:r>
          </a:p>
          <a:p>
            <a:pPr marL="342900" indent="-342900">
              <a:buFont typeface="Arial" panose="020B0604020202020204" pitchFamily="34" charset="0"/>
              <a:buChar char="•"/>
              <a:defRPr/>
            </a:pPr>
            <a:r>
              <a:rPr lang="en-GB" sz="2400" dirty="0">
                <a:latin typeface="Abadi" panose="020B0604020104020204" pitchFamily="34" charset="0"/>
              </a:rPr>
              <a:t>Very similar with  our brains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11"/>
          <p:cNvPicPr preferRelativeResize="0">
            <a:picLocks noGrp="1"/>
          </p:cNvPicPr>
          <p:nvPr>
            <p:ph type="body" idx="1"/>
          </p:nvPr>
        </p:nvPicPr>
        <p:blipFill rotWithShape="1">
          <a:blip r:embed="rId3">
            <a:alphaModFix/>
          </a:blip>
          <a:srcRect/>
          <a:stretch/>
        </p:blipFill>
        <p:spPr>
          <a:xfrm>
            <a:off x="1601658" y="533400"/>
            <a:ext cx="8837743" cy="5943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A42FEA-FB26-44B6-AC43-D4F9D9C589AB}"/>
              </a:ext>
            </a:extLst>
          </p:cNvPr>
          <p:cNvPicPr>
            <a:picLocks noChangeAspect="1"/>
          </p:cNvPicPr>
          <p:nvPr/>
        </p:nvPicPr>
        <p:blipFill>
          <a:blip r:embed="rId2"/>
          <a:stretch>
            <a:fillRect/>
          </a:stretch>
        </p:blipFill>
        <p:spPr>
          <a:xfrm>
            <a:off x="494580" y="897116"/>
            <a:ext cx="4849207" cy="5390413"/>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8E51B4BE-F878-40BD-88D1-BBD6AA90B8DE}"/>
              </a:ext>
            </a:extLst>
          </p:cNvPr>
          <p:cNvPicPr>
            <a:picLocks noChangeAspect="1"/>
          </p:cNvPicPr>
          <p:nvPr/>
        </p:nvPicPr>
        <p:blipFill>
          <a:blip r:embed="rId3"/>
          <a:stretch>
            <a:fillRect/>
          </a:stretch>
        </p:blipFill>
        <p:spPr>
          <a:xfrm>
            <a:off x="5967019" y="897116"/>
            <a:ext cx="4944261" cy="32961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78822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6556</TotalTime>
  <Words>896</Words>
  <Application>Microsoft Office PowerPoint</Application>
  <PresentationFormat>Widescreen</PresentationFormat>
  <Paragraphs>101</Paragraphs>
  <Slides>18</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 Light</vt:lpstr>
      <vt:lpstr>Abadi</vt:lpstr>
      <vt:lpstr>Arial</vt:lpstr>
      <vt:lpstr>Candara</vt:lpstr>
      <vt:lpstr>Calibri</vt:lpstr>
      <vt:lpstr>Lato Extended</vt:lpstr>
      <vt:lpstr>Cambria Math</vt:lpstr>
      <vt:lpstr>Office Theme</vt:lpstr>
      <vt:lpstr>LM Big Data Management in Finance (36320) Birmingham Business School </vt:lpstr>
      <vt:lpstr>Artificial Neural Network-Basics (ANN) </vt:lpstr>
      <vt:lpstr>PowerPoint Presentation</vt:lpstr>
      <vt:lpstr>PowerPoint Presentation</vt:lpstr>
      <vt:lpstr>Artificial neural networks</vt:lpstr>
      <vt:lpstr>Activation functions</vt:lpstr>
      <vt:lpstr>PowerPoint Presentation</vt:lpstr>
      <vt:lpstr>Deep learning</vt:lpstr>
      <vt:lpstr>Why deep learning</vt:lpstr>
      <vt:lpstr>PowerPoint Presentation</vt:lpstr>
      <vt:lpstr>Types of DNN</vt:lpstr>
      <vt:lpstr>How DNN works</vt:lpstr>
      <vt:lpstr>Feed forward deep neural network (FF-DNN)</vt:lpstr>
      <vt:lpstr>How DNN works</vt:lpstr>
      <vt:lpstr>Back-propogation algorithm</vt:lpstr>
      <vt:lpstr>Other aspects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Animesh Acharjee (Cancer and Genomic Sciences)</dc:creator>
  <cp:lastModifiedBy>Animesh Acharjee (Cancer and Genomic Sciences)</cp:lastModifiedBy>
  <cp:revision>226</cp:revision>
  <dcterms:created xsi:type="dcterms:W3CDTF">2021-10-16T23:34:08Z</dcterms:created>
  <dcterms:modified xsi:type="dcterms:W3CDTF">2025-03-11T11:50:12Z</dcterms:modified>
</cp:coreProperties>
</file>