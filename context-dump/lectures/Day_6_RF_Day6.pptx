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433" r:id="rId2"/>
    <p:sldId id="1440" r:id="rId3"/>
    <p:sldId id="256" r:id="rId4"/>
    <p:sldId id="319" r:id="rId5"/>
    <p:sldId id="262" r:id="rId6"/>
    <p:sldId id="263" r:id="rId7"/>
    <p:sldId id="1459" r:id="rId8"/>
    <p:sldId id="305" r:id="rId9"/>
    <p:sldId id="306" r:id="rId10"/>
    <p:sldId id="303" r:id="rId11"/>
    <p:sldId id="1221" r:id="rId12"/>
    <p:sldId id="1222" r:id="rId13"/>
    <p:sldId id="265" r:id="rId14"/>
    <p:sldId id="266" r:id="rId15"/>
    <p:sldId id="307" r:id="rId16"/>
    <p:sldId id="308" r:id="rId17"/>
    <p:sldId id="268" r:id="rId18"/>
    <p:sldId id="14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31D9A-BB73-4012-87FD-85A349F9D66F}" type="doc">
      <dgm:prSet loTypeId="urn:microsoft.com/office/officeart/2005/8/layout/orgChart1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6450B6E7-7CF2-4BD5-A8BC-65550E8EF0C3}">
      <dgm:prSet phldrT="[Text]" custT="1"/>
      <dgm:spPr/>
      <dgm:t>
        <a:bodyPr/>
        <a:lstStyle/>
        <a:p>
          <a:r>
            <a:rPr lang="en-GB" sz="2400" dirty="0">
              <a:latin typeface="Abadi" panose="020B0604020104020204" pitchFamily="34" charset="0"/>
            </a:rPr>
            <a:t>Machine learning methods</a:t>
          </a:r>
        </a:p>
      </dgm:t>
    </dgm:pt>
    <dgm:pt modelId="{4E5110BB-1019-4C4F-A5AE-31DA76EA1336}" type="parTrans" cxnId="{5E2F6803-9607-47F4-88A8-4F65597E9F7E}">
      <dgm:prSet/>
      <dgm:spPr/>
      <dgm:t>
        <a:bodyPr/>
        <a:lstStyle/>
        <a:p>
          <a:endParaRPr lang="en-GB"/>
        </a:p>
      </dgm:t>
    </dgm:pt>
    <dgm:pt modelId="{2D7B3271-352E-4235-9728-A978BBB4E8BC}" type="sibTrans" cxnId="{5E2F6803-9607-47F4-88A8-4F65597E9F7E}">
      <dgm:prSet/>
      <dgm:spPr/>
      <dgm:t>
        <a:bodyPr/>
        <a:lstStyle/>
        <a:p>
          <a:endParaRPr lang="en-GB"/>
        </a:p>
      </dgm:t>
    </dgm:pt>
    <dgm:pt modelId="{6219936C-01E5-4E03-8C77-48D95B5740FC}">
      <dgm:prSet phldrT="[Text]" custT="1"/>
      <dgm:spPr/>
      <dgm:t>
        <a:bodyPr/>
        <a:lstStyle/>
        <a:p>
          <a:pPr algn="ctr">
            <a:buNone/>
          </a:pPr>
          <a:endParaRPr lang="en-GB" sz="1800" dirty="0">
            <a:latin typeface="Abadi" panose="020B0604020104020204" pitchFamily="34" charset="0"/>
          </a:endParaRPr>
        </a:p>
        <a:p>
          <a:pPr algn="ctr">
            <a:buNone/>
          </a:pPr>
          <a:r>
            <a:rPr lang="en-GB" sz="1800" dirty="0">
              <a:latin typeface="Abadi" panose="020B0604020104020204" pitchFamily="34" charset="0"/>
            </a:rPr>
            <a:t>Regularization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Abadi" panose="020B0604020104020204" pitchFamily="34" charset="0"/>
            </a:rPr>
            <a:t>LASSO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Abadi" panose="020B0604020104020204" pitchFamily="34" charset="0"/>
            </a:rPr>
            <a:t>Elastic Net</a:t>
          </a:r>
        </a:p>
        <a:p>
          <a:pPr algn="ctr">
            <a:buNone/>
          </a:pPr>
          <a:r>
            <a:rPr lang="en-GB" sz="1600" dirty="0"/>
            <a:t> </a:t>
          </a:r>
        </a:p>
      </dgm:t>
    </dgm:pt>
    <dgm:pt modelId="{76C23C45-CFA4-40FD-9D6B-6C361C2017A6}" type="parTrans" cxnId="{5A1A3001-8072-4835-A08B-E5322CBB660E}">
      <dgm:prSet/>
      <dgm:spPr/>
      <dgm:t>
        <a:bodyPr/>
        <a:lstStyle/>
        <a:p>
          <a:endParaRPr lang="en-GB"/>
        </a:p>
      </dgm:t>
    </dgm:pt>
    <dgm:pt modelId="{CBA3A2CB-01E8-44EF-9BB5-2A6E4761C238}" type="sibTrans" cxnId="{5A1A3001-8072-4835-A08B-E5322CBB660E}">
      <dgm:prSet/>
      <dgm:spPr/>
      <dgm:t>
        <a:bodyPr/>
        <a:lstStyle/>
        <a:p>
          <a:endParaRPr lang="en-GB"/>
        </a:p>
      </dgm:t>
    </dgm:pt>
    <dgm:pt modelId="{6B5320EB-D880-42E9-9C07-AA9B178E1B33}">
      <dgm:prSet phldrT="[Text]" custT="1"/>
      <dgm:spPr/>
      <dgm:t>
        <a:bodyPr/>
        <a:lstStyle/>
        <a:p>
          <a:r>
            <a:rPr lang="en-GB" sz="1800" dirty="0">
              <a:latin typeface="Abadi" panose="020B0604020104020204" pitchFamily="34" charset="0"/>
            </a:rPr>
            <a:t>Decision tree</a:t>
          </a:r>
        </a:p>
        <a:p>
          <a:r>
            <a:rPr lang="en-GB" sz="1800" dirty="0">
              <a:latin typeface="Abadi" panose="020B0604020104020204" pitchFamily="34" charset="0"/>
            </a:rPr>
            <a:t>Random Forest </a:t>
          </a:r>
        </a:p>
        <a:p>
          <a:r>
            <a:rPr lang="en-GB" sz="1800" dirty="0" err="1">
              <a:latin typeface="Abadi" panose="020B0604020104020204" pitchFamily="34" charset="0"/>
            </a:rPr>
            <a:t>XGBoost</a:t>
          </a:r>
          <a:r>
            <a:rPr lang="en-GB" sz="1800" dirty="0">
              <a:latin typeface="Abadi" panose="020B0604020104020204" pitchFamily="34" charset="0"/>
            </a:rPr>
            <a:t> </a:t>
          </a:r>
        </a:p>
      </dgm:t>
    </dgm:pt>
    <dgm:pt modelId="{0F64C0DA-F157-45C3-984D-B77CAB20F86D}" type="parTrans" cxnId="{9EE1CAE8-FB47-4E3D-888C-99CDA57C6F1F}">
      <dgm:prSet/>
      <dgm:spPr/>
      <dgm:t>
        <a:bodyPr/>
        <a:lstStyle/>
        <a:p>
          <a:endParaRPr lang="en-GB"/>
        </a:p>
      </dgm:t>
    </dgm:pt>
    <dgm:pt modelId="{D128F8AD-DA6F-4A9E-A9FF-0D3AE02DDCF7}" type="sibTrans" cxnId="{9EE1CAE8-FB47-4E3D-888C-99CDA57C6F1F}">
      <dgm:prSet/>
      <dgm:spPr/>
      <dgm:t>
        <a:bodyPr/>
        <a:lstStyle/>
        <a:p>
          <a:endParaRPr lang="en-GB"/>
        </a:p>
      </dgm:t>
    </dgm:pt>
    <dgm:pt modelId="{8E9924AE-70F3-424C-BD67-FF6BE4F690CC}">
      <dgm:prSet phldrT="[Text]" custT="1"/>
      <dgm:spPr/>
      <dgm:t>
        <a:bodyPr/>
        <a:lstStyle/>
        <a:p>
          <a:r>
            <a:rPr lang="en-GB" sz="1800" dirty="0">
              <a:latin typeface="Abadi" panose="020B0604020104020204" pitchFamily="34" charset="0"/>
            </a:rPr>
            <a:t>Kernel Based</a:t>
          </a:r>
        </a:p>
        <a:p>
          <a:r>
            <a:rPr lang="en-GB" sz="1800" dirty="0">
              <a:latin typeface="Abadi" panose="020B0604020104020204" pitchFamily="34" charset="0"/>
            </a:rPr>
            <a:t>SVM</a:t>
          </a:r>
        </a:p>
      </dgm:t>
    </dgm:pt>
    <dgm:pt modelId="{56EAA160-41FD-4A92-A678-A69B3DD2A2DD}" type="parTrans" cxnId="{3F360BBA-434A-4E5A-90D9-3C869682B588}">
      <dgm:prSet/>
      <dgm:spPr/>
      <dgm:t>
        <a:bodyPr/>
        <a:lstStyle/>
        <a:p>
          <a:endParaRPr lang="en-GB"/>
        </a:p>
      </dgm:t>
    </dgm:pt>
    <dgm:pt modelId="{EE0848EF-1B9A-4D42-9DC4-1C8A113CA28D}" type="sibTrans" cxnId="{3F360BBA-434A-4E5A-90D9-3C869682B588}">
      <dgm:prSet/>
      <dgm:spPr/>
      <dgm:t>
        <a:bodyPr/>
        <a:lstStyle/>
        <a:p>
          <a:endParaRPr lang="en-GB"/>
        </a:p>
      </dgm:t>
    </dgm:pt>
    <dgm:pt modelId="{75068E3C-1E0A-4F20-A5E4-1928D7EC44F6}">
      <dgm:prSet phldrT="[Text]" custT="1"/>
      <dgm:spPr/>
      <dgm:t>
        <a:bodyPr/>
        <a:lstStyle/>
        <a:p>
          <a:r>
            <a:rPr lang="en-GB" sz="1800" dirty="0">
              <a:latin typeface="Abadi" panose="020B0604020104020204" pitchFamily="34" charset="0"/>
            </a:rPr>
            <a:t>Neural Network based</a:t>
          </a:r>
        </a:p>
        <a:p>
          <a:r>
            <a:rPr lang="en-GB" sz="1800" dirty="0">
              <a:latin typeface="Abadi" panose="020B0604020104020204" pitchFamily="34" charset="0"/>
            </a:rPr>
            <a:t>ANN</a:t>
          </a:r>
        </a:p>
        <a:p>
          <a:r>
            <a:rPr lang="en-GB" sz="1800" dirty="0">
              <a:latin typeface="Abadi" panose="020B0604020104020204" pitchFamily="34" charset="0"/>
            </a:rPr>
            <a:t>Deep learning </a:t>
          </a:r>
        </a:p>
        <a:p>
          <a:r>
            <a:rPr lang="en-GB" sz="1800" dirty="0">
              <a:latin typeface="Abadi" panose="020B0604020104020204" pitchFamily="34" charset="0"/>
            </a:rPr>
            <a:t>LSTM </a:t>
          </a:r>
        </a:p>
      </dgm:t>
    </dgm:pt>
    <dgm:pt modelId="{65C80777-C28B-4706-A6D2-2A92D68FB1EE}" type="parTrans" cxnId="{FAF9257C-28BA-4030-904B-6004E0E4512F}">
      <dgm:prSet/>
      <dgm:spPr/>
      <dgm:t>
        <a:bodyPr/>
        <a:lstStyle/>
        <a:p>
          <a:endParaRPr lang="en-GB"/>
        </a:p>
      </dgm:t>
    </dgm:pt>
    <dgm:pt modelId="{20D056E5-1C39-4184-83C8-6344437C5D7E}" type="sibTrans" cxnId="{FAF9257C-28BA-4030-904B-6004E0E4512F}">
      <dgm:prSet/>
      <dgm:spPr/>
      <dgm:t>
        <a:bodyPr/>
        <a:lstStyle/>
        <a:p>
          <a:endParaRPr lang="en-GB"/>
        </a:p>
      </dgm:t>
    </dgm:pt>
    <dgm:pt modelId="{9362B65E-B104-4189-BA7B-4AF63640F0B4}" type="pres">
      <dgm:prSet presAssocID="{CB931D9A-BB73-4012-87FD-85A349F9D6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D1AB36-06E6-462F-9B7D-DE5F5617C685}" type="pres">
      <dgm:prSet presAssocID="{6450B6E7-7CF2-4BD5-A8BC-65550E8EF0C3}" presName="hierRoot1" presStyleCnt="0">
        <dgm:presLayoutVars>
          <dgm:hierBranch val="init"/>
        </dgm:presLayoutVars>
      </dgm:prSet>
      <dgm:spPr/>
    </dgm:pt>
    <dgm:pt modelId="{E1A94AF8-3A80-452F-BB96-5729FC64C116}" type="pres">
      <dgm:prSet presAssocID="{6450B6E7-7CF2-4BD5-A8BC-65550E8EF0C3}" presName="rootComposite1" presStyleCnt="0"/>
      <dgm:spPr/>
    </dgm:pt>
    <dgm:pt modelId="{61AE04A0-B44B-41B1-B533-B907F2FFD5BB}" type="pres">
      <dgm:prSet presAssocID="{6450B6E7-7CF2-4BD5-A8BC-65550E8EF0C3}" presName="rootText1" presStyleLbl="node0" presStyleIdx="0" presStyleCnt="1">
        <dgm:presLayoutVars>
          <dgm:chPref val="3"/>
        </dgm:presLayoutVars>
      </dgm:prSet>
      <dgm:spPr/>
    </dgm:pt>
    <dgm:pt modelId="{5DE89BB1-56AA-4059-82A8-4BEE28145EAB}" type="pres">
      <dgm:prSet presAssocID="{6450B6E7-7CF2-4BD5-A8BC-65550E8EF0C3}" presName="rootConnector1" presStyleLbl="node1" presStyleIdx="0" presStyleCnt="0"/>
      <dgm:spPr/>
    </dgm:pt>
    <dgm:pt modelId="{D03F1031-C0C5-4B26-B036-621FF9E532AC}" type="pres">
      <dgm:prSet presAssocID="{6450B6E7-7CF2-4BD5-A8BC-65550E8EF0C3}" presName="hierChild2" presStyleCnt="0"/>
      <dgm:spPr/>
    </dgm:pt>
    <dgm:pt modelId="{82E8D05C-71CD-49B3-914A-BC01B0859463}" type="pres">
      <dgm:prSet presAssocID="{76C23C45-CFA4-40FD-9D6B-6C361C2017A6}" presName="Name37" presStyleLbl="parChTrans1D2" presStyleIdx="0" presStyleCnt="4"/>
      <dgm:spPr/>
    </dgm:pt>
    <dgm:pt modelId="{B7B9221C-B178-4842-B28F-B966B56C951C}" type="pres">
      <dgm:prSet presAssocID="{6219936C-01E5-4E03-8C77-48D95B5740FC}" presName="hierRoot2" presStyleCnt="0">
        <dgm:presLayoutVars>
          <dgm:hierBranch val="init"/>
        </dgm:presLayoutVars>
      </dgm:prSet>
      <dgm:spPr/>
    </dgm:pt>
    <dgm:pt modelId="{A093FBE0-221F-4FAB-B1BC-E160E8D7D5A2}" type="pres">
      <dgm:prSet presAssocID="{6219936C-01E5-4E03-8C77-48D95B5740FC}" presName="rootComposite" presStyleCnt="0"/>
      <dgm:spPr/>
    </dgm:pt>
    <dgm:pt modelId="{B41CBAF2-9D15-42EB-97EA-21F13B2C0777}" type="pres">
      <dgm:prSet presAssocID="{6219936C-01E5-4E03-8C77-48D95B5740FC}" presName="rootText" presStyleLbl="node2" presStyleIdx="0" presStyleCnt="4">
        <dgm:presLayoutVars>
          <dgm:chPref val="3"/>
        </dgm:presLayoutVars>
      </dgm:prSet>
      <dgm:spPr/>
    </dgm:pt>
    <dgm:pt modelId="{103422B0-4E05-4D2A-9AFC-0B486B48C77D}" type="pres">
      <dgm:prSet presAssocID="{6219936C-01E5-4E03-8C77-48D95B5740FC}" presName="rootConnector" presStyleLbl="node2" presStyleIdx="0" presStyleCnt="4"/>
      <dgm:spPr/>
    </dgm:pt>
    <dgm:pt modelId="{4A2F4521-FDF7-4282-BBA3-EE1DFF9E995F}" type="pres">
      <dgm:prSet presAssocID="{6219936C-01E5-4E03-8C77-48D95B5740FC}" presName="hierChild4" presStyleCnt="0"/>
      <dgm:spPr/>
    </dgm:pt>
    <dgm:pt modelId="{A2D84EA5-F0D3-4C20-AE3B-A96D5726980F}" type="pres">
      <dgm:prSet presAssocID="{6219936C-01E5-4E03-8C77-48D95B5740FC}" presName="hierChild5" presStyleCnt="0"/>
      <dgm:spPr/>
    </dgm:pt>
    <dgm:pt modelId="{160389C1-0D45-4E6E-9C3F-37D7893DAFC3}" type="pres">
      <dgm:prSet presAssocID="{0F64C0DA-F157-45C3-984D-B77CAB20F86D}" presName="Name37" presStyleLbl="parChTrans1D2" presStyleIdx="1" presStyleCnt="4"/>
      <dgm:spPr/>
    </dgm:pt>
    <dgm:pt modelId="{FF62818D-B868-4741-81E3-C67E5240BC0D}" type="pres">
      <dgm:prSet presAssocID="{6B5320EB-D880-42E9-9C07-AA9B178E1B33}" presName="hierRoot2" presStyleCnt="0">
        <dgm:presLayoutVars>
          <dgm:hierBranch val="init"/>
        </dgm:presLayoutVars>
      </dgm:prSet>
      <dgm:spPr/>
    </dgm:pt>
    <dgm:pt modelId="{9078C799-94A7-4273-AECD-8C2835DA1DB9}" type="pres">
      <dgm:prSet presAssocID="{6B5320EB-D880-42E9-9C07-AA9B178E1B33}" presName="rootComposite" presStyleCnt="0"/>
      <dgm:spPr/>
    </dgm:pt>
    <dgm:pt modelId="{B6AFBDD3-ED1B-414C-B338-A84FC14B3247}" type="pres">
      <dgm:prSet presAssocID="{6B5320EB-D880-42E9-9C07-AA9B178E1B33}" presName="rootText" presStyleLbl="node2" presStyleIdx="1" presStyleCnt="4">
        <dgm:presLayoutVars>
          <dgm:chPref val="3"/>
        </dgm:presLayoutVars>
      </dgm:prSet>
      <dgm:spPr/>
    </dgm:pt>
    <dgm:pt modelId="{2C6503C3-13FD-4CFD-BC38-F827F95E2C30}" type="pres">
      <dgm:prSet presAssocID="{6B5320EB-D880-42E9-9C07-AA9B178E1B33}" presName="rootConnector" presStyleLbl="node2" presStyleIdx="1" presStyleCnt="4"/>
      <dgm:spPr/>
    </dgm:pt>
    <dgm:pt modelId="{3EFAF44E-18E7-4C28-A0C4-E10626D885AE}" type="pres">
      <dgm:prSet presAssocID="{6B5320EB-D880-42E9-9C07-AA9B178E1B33}" presName="hierChild4" presStyleCnt="0"/>
      <dgm:spPr/>
    </dgm:pt>
    <dgm:pt modelId="{CBB95CD6-F001-4CC1-9389-D18529A9BB25}" type="pres">
      <dgm:prSet presAssocID="{6B5320EB-D880-42E9-9C07-AA9B178E1B33}" presName="hierChild5" presStyleCnt="0"/>
      <dgm:spPr/>
    </dgm:pt>
    <dgm:pt modelId="{9C13B5A4-4194-465F-9199-D0453724504B}" type="pres">
      <dgm:prSet presAssocID="{56EAA160-41FD-4A92-A678-A69B3DD2A2DD}" presName="Name37" presStyleLbl="parChTrans1D2" presStyleIdx="2" presStyleCnt="4"/>
      <dgm:spPr/>
    </dgm:pt>
    <dgm:pt modelId="{7F02932C-7035-4160-ABD0-5D51493C2E64}" type="pres">
      <dgm:prSet presAssocID="{8E9924AE-70F3-424C-BD67-FF6BE4F690CC}" presName="hierRoot2" presStyleCnt="0">
        <dgm:presLayoutVars>
          <dgm:hierBranch val="init"/>
        </dgm:presLayoutVars>
      </dgm:prSet>
      <dgm:spPr/>
    </dgm:pt>
    <dgm:pt modelId="{AE72AAAB-AB94-4FDD-A59C-F306B21305F2}" type="pres">
      <dgm:prSet presAssocID="{8E9924AE-70F3-424C-BD67-FF6BE4F690CC}" presName="rootComposite" presStyleCnt="0"/>
      <dgm:spPr/>
    </dgm:pt>
    <dgm:pt modelId="{B5C51D1C-228A-4B23-9361-D717B6A7152B}" type="pres">
      <dgm:prSet presAssocID="{8E9924AE-70F3-424C-BD67-FF6BE4F690CC}" presName="rootText" presStyleLbl="node2" presStyleIdx="2" presStyleCnt="4">
        <dgm:presLayoutVars>
          <dgm:chPref val="3"/>
        </dgm:presLayoutVars>
      </dgm:prSet>
      <dgm:spPr/>
    </dgm:pt>
    <dgm:pt modelId="{96C113FB-7DE5-410A-A127-482B83578894}" type="pres">
      <dgm:prSet presAssocID="{8E9924AE-70F3-424C-BD67-FF6BE4F690CC}" presName="rootConnector" presStyleLbl="node2" presStyleIdx="2" presStyleCnt="4"/>
      <dgm:spPr/>
    </dgm:pt>
    <dgm:pt modelId="{BD9C68AD-1DAF-46BD-93AD-24F72103DAA0}" type="pres">
      <dgm:prSet presAssocID="{8E9924AE-70F3-424C-BD67-FF6BE4F690CC}" presName="hierChild4" presStyleCnt="0"/>
      <dgm:spPr/>
    </dgm:pt>
    <dgm:pt modelId="{819FC781-7A2C-4381-9740-E846516DDF28}" type="pres">
      <dgm:prSet presAssocID="{8E9924AE-70F3-424C-BD67-FF6BE4F690CC}" presName="hierChild5" presStyleCnt="0"/>
      <dgm:spPr/>
    </dgm:pt>
    <dgm:pt modelId="{AFBCA6E8-2694-43B3-A087-A8AC6BBBF5FE}" type="pres">
      <dgm:prSet presAssocID="{65C80777-C28B-4706-A6D2-2A92D68FB1EE}" presName="Name37" presStyleLbl="parChTrans1D2" presStyleIdx="3" presStyleCnt="4"/>
      <dgm:spPr/>
    </dgm:pt>
    <dgm:pt modelId="{82641FC6-C0E8-4FA9-A04B-3A2E256B911C}" type="pres">
      <dgm:prSet presAssocID="{75068E3C-1E0A-4F20-A5E4-1928D7EC44F6}" presName="hierRoot2" presStyleCnt="0">
        <dgm:presLayoutVars>
          <dgm:hierBranch val="init"/>
        </dgm:presLayoutVars>
      </dgm:prSet>
      <dgm:spPr/>
    </dgm:pt>
    <dgm:pt modelId="{4B9760DA-0385-41AE-A687-355A94220D59}" type="pres">
      <dgm:prSet presAssocID="{75068E3C-1E0A-4F20-A5E4-1928D7EC44F6}" presName="rootComposite" presStyleCnt="0"/>
      <dgm:spPr/>
    </dgm:pt>
    <dgm:pt modelId="{FC9E5436-F165-46FF-B4CA-5112263F2CD6}" type="pres">
      <dgm:prSet presAssocID="{75068E3C-1E0A-4F20-A5E4-1928D7EC44F6}" presName="rootText" presStyleLbl="node2" presStyleIdx="3" presStyleCnt="4" custLinFactNeighborX="-1348" custLinFactNeighborY="5394">
        <dgm:presLayoutVars>
          <dgm:chPref val="3"/>
        </dgm:presLayoutVars>
      </dgm:prSet>
      <dgm:spPr/>
    </dgm:pt>
    <dgm:pt modelId="{709B3824-964F-489C-9C40-FEBF6CACFBFE}" type="pres">
      <dgm:prSet presAssocID="{75068E3C-1E0A-4F20-A5E4-1928D7EC44F6}" presName="rootConnector" presStyleLbl="node2" presStyleIdx="3" presStyleCnt="4"/>
      <dgm:spPr/>
    </dgm:pt>
    <dgm:pt modelId="{31B1412C-149D-4847-A6A5-AA4FA41DD21F}" type="pres">
      <dgm:prSet presAssocID="{75068E3C-1E0A-4F20-A5E4-1928D7EC44F6}" presName="hierChild4" presStyleCnt="0"/>
      <dgm:spPr/>
    </dgm:pt>
    <dgm:pt modelId="{C1D4192F-92D1-410F-B41E-C4E2527F5DAD}" type="pres">
      <dgm:prSet presAssocID="{75068E3C-1E0A-4F20-A5E4-1928D7EC44F6}" presName="hierChild5" presStyleCnt="0"/>
      <dgm:spPr/>
    </dgm:pt>
    <dgm:pt modelId="{C440E21C-FA5B-4523-AAA6-4C1EB6548433}" type="pres">
      <dgm:prSet presAssocID="{6450B6E7-7CF2-4BD5-A8BC-65550E8EF0C3}" presName="hierChild3" presStyleCnt="0"/>
      <dgm:spPr/>
    </dgm:pt>
  </dgm:ptLst>
  <dgm:cxnLst>
    <dgm:cxn modelId="{5A1A3001-8072-4835-A08B-E5322CBB660E}" srcId="{6450B6E7-7CF2-4BD5-A8BC-65550E8EF0C3}" destId="{6219936C-01E5-4E03-8C77-48D95B5740FC}" srcOrd="0" destOrd="0" parTransId="{76C23C45-CFA4-40FD-9D6B-6C361C2017A6}" sibTransId="{CBA3A2CB-01E8-44EF-9BB5-2A6E4761C238}"/>
    <dgm:cxn modelId="{5E2F6803-9607-47F4-88A8-4F65597E9F7E}" srcId="{CB931D9A-BB73-4012-87FD-85A349F9D66F}" destId="{6450B6E7-7CF2-4BD5-A8BC-65550E8EF0C3}" srcOrd="0" destOrd="0" parTransId="{4E5110BB-1019-4C4F-A5AE-31DA76EA1336}" sibTransId="{2D7B3271-352E-4235-9728-A978BBB4E8BC}"/>
    <dgm:cxn modelId="{24C5CD09-0598-4D61-8247-87054216A933}" type="presOf" srcId="{8E9924AE-70F3-424C-BD67-FF6BE4F690CC}" destId="{B5C51D1C-228A-4B23-9361-D717B6A7152B}" srcOrd="0" destOrd="0" presId="urn:microsoft.com/office/officeart/2005/8/layout/orgChart1"/>
    <dgm:cxn modelId="{E4A7D519-23FD-4D05-AED6-6B426F0B95C9}" type="presOf" srcId="{0F64C0DA-F157-45C3-984D-B77CAB20F86D}" destId="{160389C1-0D45-4E6E-9C3F-37D7893DAFC3}" srcOrd="0" destOrd="0" presId="urn:microsoft.com/office/officeart/2005/8/layout/orgChart1"/>
    <dgm:cxn modelId="{CFCDDB2A-6D70-4E2F-82D6-4B6F0FCBB0C6}" type="presOf" srcId="{6450B6E7-7CF2-4BD5-A8BC-65550E8EF0C3}" destId="{5DE89BB1-56AA-4059-82A8-4BEE28145EAB}" srcOrd="1" destOrd="0" presId="urn:microsoft.com/office/officeart/2005/8/layout/orgChart1"/>
    <dgm:cxn modelId="{34639B2D-6878-4A7A-9C8E-C91B8D06C378}" type="presOf" srcId="{56EAA160-41FD-4A92-A678-A69B3DD2A2DD}" destId="{9C13B5A4-4194-465F-9199-D0453724504B}" srcOrd="0" destOrd="0" presId="urn:microsoft.com/office/officeart/2005/8/layout/orgChart1"/>
    <dgm:cxn modelId="{01E2213B-82DB-487C-B124-8B98BC080D63}" type="presOf" srcId="{8E9924AE-70F3-424C-BD67-FF6BE4F690CC}" destId="{96C113FB-7DE5-410A-A127-482B83578894}" srcOrd="1" destOrd="0" presId="urn:microsoft.com/office/officeart/2005/8/layout/orgChart1"/>
    <dgm:cxn modelId="{A221C85F-4536-4380-8D89-01CCB48FFF41}" type="presOf" srcId="{76C23C45-CFA4-40FD-9D6B-6C361C2017A6}" destId="{82E8D05C-71CD-49B3-914A-BC01B0859463}" srcOrd="0" destOrd="0" presId="urn:microsoft.com/office/officeart/2005/8/layout/orgChart1"/>
    <dgm:cxn modelId="{8AFE1644-886E-4D5C-822F-C003B95EB6FC}" type="presOf" srcId="{6B5320EB-D880-42E9-9C07-AA9B178E1B33}" destId="{2C6503C3-13FD-4CFD-BC38-F827F95E2C30}" srcOrd="1" destOrd="0" presId="urn:microsoft.com/office/officeart/2005/8/layout/orgChart1"/>
    <dgm:cxn modelId="{90B8506A-9140-4DCD-A262-EF41D5DC4510}" type="presOf" srcId="{65C80777-C28B-4706-A6D2-2A92D68FB1EE}" destId="{AFBCA6E8-2694-43B3-A087-A8AC6BBBF5FE}" srcOrd="0" destOrd="0" presId="urn:microsoft.com/office/officeart/2005/8/layout/orgChart1"/>
    <dgm:cxn modelId="{FAF9257C-28BA-4030-904B-6004E0E4512F}" srcId="{6450B6E7-7CF2-4BD5-A8BC-65550E8EF0C3}" destId="{75068E3C-1E0A-4F20-A5E4-1928D7EC44F6}" srcOrd="3" destOrd="0" parTransId="{65C80777-C28B-4706-A6D2-2A92D68FB1EE}" sibTransId="{20D056E5-1C39-4184-83C8-6344437C5D7E}"/>
    <dgm:cxn modelId="{B5C66089-0B71-4FC2-A270-8EA06959CADB}" type="presOf" srcId="{6B5320EB-D880-42E9-9C07-AA9B178E1B33}" destId="{B6AFBDD3-ED1B-414C-B338-A84FC14B3247}" srcOrd="0" destOrd="0" presId="urn:microsoft.com/office/officeart/2005/8/layout/orgChart1"/>
    <dgm:cxn modelId="{76BA4AA6-6368-41A6-9D88-F3AFB2F71BFD}" type="presOf" srcId="{CB931D9A-BB73-4012-87FD-85A349F9D66F}" destId="{9362B65E-B104-4189-BA7B-4AF63640F0B4}" srcOrd="0" destOrd="0" presId="urn:microsoft.com/office/officeart/2005/8/layout/orgChart1"/>
    <dgm:cxn modelId="{1869A6A6-0851-4609-95F9-B2C95939B471}" type="presOf" srcId="{75068E3C-1E0A-4F20-A5E4-1928D7EC44F6}" destId="{709B3824-964F-489C-9C40-FEBF6CACFBFE}" srcOrd="1" destOrd="0" presId="urn:microsoft.com/office/officeart/2005/8/layout/orgChart1"/>
    <dgm:cxn modelId="{9991F8AB-67E8-48B6-A57A-4C1F37B7BC4E}" type="presOf" srcId="{6219936C-01E5-4E03-8C77-48D95B5740FC}" destId="{B41CBAF2-9D15-42EB-97EA-21F13B2C0777}" srcOrd="0" destOrd="0" presId="urn:microsoft.com/office/officeart/2005/8/layout/orgChart1"/>
    <dgm:cxn modelId="{CDCBBFB3-D229-4275-AA6B-C2F9154DAD10}" type="presOf" srcId="{6219936C-01E5-4E03-8C77-48D95B5740FC}" destId="{103422B0-4E05-4D2A-9AFC-0B486B48C77D}" srcOrd="1" destOrd="0" presId="urn:microsoft.com/office/officeart/2005/8/layout/orgChart1"/>
    <dgm:cxn modelId="{3F360BBA-434A-4E5A-90D9-3C869682B588}" srcId="{6450B6E7-7CF2-4BD5-A8BC-65550E8EF0C3}" destId="{8E9924AE-70F3-424C-BD67-FF6BE4F690CC}" srcOrd="2" destOrd="0" parTransId="{56EAA160-41FD-4A92-A678-A69B3DD2A2DD}" sibTransId="{EE0848EF-1B9A-4D42-9DC4-1C8A113CA28D}"/>
    <dgm:cxn modelId="{4C2720BA-8EEE-4927-BB49-E95725A5BE93}" type="presOf" srcId="{6450B6E7-7CF2-4BD5-A8BC-65550E8EF0C3}" destId="{61AE04A0-B44B-41B1-B533-B907F2FFD5BB}" srcOrd="0" destOrd="0" presId="urn:microsoft.com/office/officeart/2005/8/layout/orgChart1"/>
    <dgm:cxn modelId="{824CC6BE-51E6-43F7-AF67-10A115E2E8A1}" type="presOf" srcId="{75068E3C-1E0A-4F20-A5E4-1928D7EC44F6}" destId="{FC9E5436-F165-46FF-B4CA-5112263F2CD6}" srcOrd="0" destOrd="0" presId="urn:microsoft.com/office/officeart/2005/8/layout/orgChart1"/>
    <dgm:cxn modelId="{9EE1CAE8-FB47-4E3D-888C-99CDA57C6F1F}" srcId="{6450B6E7-7CF2-4BD5-A8BC-65550E8EF0C3}" destId="{6B5320EB-D880-42E9-9C07-AA9B178E1B33}" srcOrd="1" destOrd="0" parTransId="{0F64C0DA-F157-45C3-984D-B77CAB20F86D}" sibTransId="{D128F8AD-DA6F-4A9E-A9FF-0D3AE02DDCF7}"/>
    <dgm:cxn modelId="{2FDD527D-31A0-4A55-9656-A7A24380C270}" type="presParOf" srcId="{9362B65E-B104-4189-BA7B-4AF63640F0B4}" destId="{01D1AB36-06E6-462F-9B7D-DE5F5617C685}" srcOrd="0" destOrd="0" presId="urn:microsoft.com/office/officeart/2005/8/layout/orgChart1"/>
    <dgm:cxn modelId="{3D9C94A2-37B9-428B-9A8D-076CD09F7A83}" type="presParOf" srcId="{01D1AB36-06E6-462F-9B7D-DE5F5617C685}" destId="{E1A94AF8-3A80-452F-BB96-5729FC64C116}" srcOrd="0" destOrd="0" presId="urn:microsoft.com/office/officeart/2005/8/layout/orgChart1"/>
    <dgm:cxn modelId="{2FC8B062-46A3-457F-A298-98F210F08CCE}" type="presParOf" srcId="{E1A94AF8-3A80-452F-BB96-5729FC64C116}" destId="{61AE04A0-B44B-41B1-B533-B907F2FFD5BB}" srcOrd="0" destOrd="0" presId="urn:microsoft.com/office/officeart/2005/8/layout/orgChart1"/>
    <dgm:cxn modelId="{7AE33198-E735-427C-926E-6C73B850309E}" type="presParOf" srcId="{E1A94AF8-3A80-452F-BB96-5729FC64C116}" destId="{5DE89BB1-56AA-4059-82A8-4BEE28145EAB}" srcOrd="1" destOrd="0" presId="urn:microsoft.com/office/officeart/2005/8/layout/orgChart1"/>
    <dgm:cxn modelId="{A316D86F-0C63-4EDA-973B-6C2EC3BE804D}" type="presParOf" srcId="{01D1AB36-06E6-462F-9B7D-DE5F5617C685}" destId="{D03F1031-C0C5-4B26-B036-621FF9E532AC}" srcOrd="1" destOrd="0" presId="urn:microsoft.com/office/officeart/2005/8/layout/orgChart1"/>
    <dgm:cxn modelId="{0EA7F831-560E-4A16-9A5F-CD086527BF82}" type="presParOf" srcId="{D03F1031-C0C5-4B26-B036-621FF9E532AC}" destId="{82E8D05C-71CD-49B3-914A-BC01B0859463}" srcOrd="0" destOrd="0" presId="urn:microsoft.com/office/officeart/2005/8/layout/orgChart1"/>
    <dgm:cxn modelId="{97510CDA-4D8D-4CFE-8AE2-95FEFEF079A7}" type="presParOf" srcId="{D03F1031-C0C5-4B26-B036-621FF9E532AC}" destId="{B7B9221C-B178-4842-B28F-B966B56C951C}" srcOrd="1" destOrd="0" presId="urn:microsoft.com/office/officeart/2005/8/layout/orgChart1"/>
    <dgm:cxn modelId="{0A697EC8-B59A-47E6-B421-D2438AADC7C8}" type="presParOf" srcId="{B7B9221C-B178-4842-B28F-B966B56C951C}" destId="{A093FBE0-221F-4FAB-B1BC-E160E8D7D5A2}" srcOrd="0" destOrd="0" presId="urn:microsoft.com/office/officeart/2005/8/layout/orgChart1"/>
    <dgm:cxn modelId="{18432FAD-CF25-4276-B029-F46BCC5400ED}" type="presParOf" srcId="{A093FBE0-221F-4FAB-B1BC-E160E8D7D5A2}" destId="{B41CBAF2-9D15-42EB-97EA-21F13B2C0777}" srcOrd="0" destOrd="0" presId="urn:microsoft.com/office/officeart/2005/8/layout/orgChart1"/>
    <dgm:cxn modelId="{81797D7A-91D9-4327-987B-421091E0CDDE}" type="presParOf" srcId="{A093FBE0-221F-4FAB-B1BC-E160E8D7D5A2}" destId="{103422B0-4E05-4D2A-9AFC-0B486B48C77D}" srcOrd="1" destOrd="0" presId="urn:microsoft.com/office/officeart/2005/8/layout/orgChart1"/>
    <dgm:cxn modelId="{C7A08881-5B2E-4FD7-9356-EDBA2616F8D2}" type="presParOf" srcId="{B7B9221C-B178-4842-B28F-B966B56C951C}" destId="{4A2F4521-FDF7-4282-BBA3-EE1DFF9E995F}" srcOrd="1" destOrd="0" presId="urn:microsoft.com/office/officeart/2005/8/layout/orgChart1"/>
    <dgm:cxn modelId="{0FF4367B-70CB-4DFD-9730-4FE3579C17C9}" type="presParOf" srcId="{B7B9221C-B178-4842-B28F-B966B56C951C}" destId="{A2D84EA5-F0D3-4C20-AE3B-A96D5726980F}" srcOrd="2" destOrd="0" presId="urn:microsoft.com/office/officeart/2005/8/layout/orgChart1"/>
    <dgm:cxn modelId="{C4F91029-A6B8-44DE-B28C-255538F7E3C1}" type="presParOf" srcId="{D03F1031-C0C5-4B26-B036-621FF9E532AC}" destId="{160389C1-0D45-4E6E-9C3F-37D7893DAFC3}" srcOrd="2" destOrd="0" presId="urn:microsoft.com/office/officeart/2005/8/layout/orgChart1"/>
    <dgm:cxn modelId="{5173ED7E-07DE-4432-B4E4-21C5718B9450}" type="presParOf" srcId="{D03F1031-C0C5-4B26-B036-621FF9E532AC}" destId="{FF62818D-B868-4741-81E3-C67E5240BC0D}" srcOrd="3" destOrd="0" presId="urn:microsoft.com/office/officeart/2005/8/layout/orgChart1"/>
    <dgm:cxn modelId="{0A9AE109-2CB3-4B33-83F9-22D64C37AD35}" type="presParOf" srcId="{FF62818D-B868-4741-81E3-C67E5240BC0D}" destId="{9078C799-94A7-4273-AECD-8C2835DA1DB9}" srcOrd="0" destOrd="0" presId="urn:microsoft.com/office/officeart/2005/8/layout/orgChart1"/>
    <dgm:cxn modelId="{1328E509-CBD6-4CD2-B4DF-5620CA052032}" type="presParOf" srcId="{9078C799-94A7-4273-AECD-8C2835DA1DB9}" destId="{B6AFBDD3-ED1B-414C-B338-A84FC14B3247}" srcOrd="0" destOrd="0" presId="urn:microsoft.com/office/officeart/2005/8/layout/orgChart1"/>
    <dgm:cxn modelId="{41AF9311-F2FF-49AC-ADD6-39A7FF4002B7}" type="presParOf" srcId="{9078C799-94A7-4273-AECD-8C2835DA1DB9}" destId="{2C6503C3-13FD-4CFD-BC38-F827F95E2C30}" srcOrd="1" destOrd="0" presId="urn:microsoft.com/office/officeart/2005/8/layout/orgChart1"/>
    <dgm:cxn modelId="{FDBA6A36-A0BA-4C03-8E42-98C6E2E522B4}" type="presParOf" srcId="{FF62818D-B868-4741-81E3-C67E5240BC0D}" destId="{3EFAF44E-18E7-4C28-A0C4-E10626D885AE}" srcOrd="1" destOrd="0" presId="urn:microsoft.com/office/officeart/2005/8/layout/orgChart1"/>
    <dgm:cxn modelId="{3C0A6359-4729-4354-951F-F73B834A325C}" type="presParOf" srcId="{FF62818D-B868-4741-81E3-C67E5240BC0D}" destId="{CBB95CD6-F001-4CC1-9389-D18529A9BB25}" srcOrd="2" destOrd="0" presId="urn:microsoft.com/office/officeart/2005/8/layout/orgChart1"/>
    <dgm:cxn modelId="{C0BB13F1-DDFF-4495-9EA5-4F335ACDDA82}" type="presParOf" srcId="{D03F1031-C0C5-4B26-B036-621FF9E532AC}" destId="{9C13B5A4-4194-465F-9199-D0453724504B}" srcOrd="4" destOrd="0" presId="urn:microsoft.com/office/officeart/2005/8/layout/orgChart1"/>
    <dgm:cxn modelId="{5BF96A8C-3D54-4A90-89A1-37612C700A31}" type="presParOf" srcId="{D03F1031-C0C5-4B26-B036-621FF9E532AC}" destId="{7F02932C-7035-4160-ABD0-5D51493C2E64}" srcOrd="5" destOrd="0" presId="urn:microsoft.com/office/officeart/2005/8/layout/orgChart1"/>
    <dgm:cxn modelId="{94882468-8286-4868-9DA4-90CD60CC22C3}" type="presParOf" srcId="{7F02932C-7035-4160-ABD0-5D51493C2E64}" destId="{AE72AAAB-AB94-4FDD-A59C-F306B21305F2}" srcOrd="0" destOrd="0" presId="urn:microsoft.com/office/officeart/2005/8/layout/orgChart1"/>
    <dgm:cxn modelId="{212E0306-BFDD-455A-8EDC-4F7EE865D9BB}" type="presParOf" srcId="{AE72AAAB-AB94-4FDD-A59C-F306B21305F2}" destId="{B5C51D1C-228A-4B23-9361-D717B6A7152B}" srcOrd="0" destOrd="0" presId="urn:microsoft.com/office/officeart/2005/8/layout/orgChart1"/>
    <dgm:cxn modelId="{0528682E-39C9-4E66-AF37-962723C96252}" type="presParOf" srcId="{AE72AAAB-AB94-4FDD-A59C-F306B21305F2}" destId="{96C113FB-7DE5-410A-A127-482B83578894}" srcOrd="1" destOrd="0" presId="urn:microsoft.com/office/officeart/2005/8/layout/orgChart1"/>
    <dgm:cxn modelId="{C17DA8A3-8EF3-4195-B1AE-8B7ECEB739FD}" type="presParOf" srcId="{7F02932C-7035-4160-ABD0-5D51493C2E64}" destId="{BD9C68AD-1DAF-46BD-93AD-24F72103DAA0}" srcOrd="1" destOrd="0" presId="urn:microsoft.com/office/officeart/2005/8/layout/orgChart1"/>
    <dgm:cxn modelId="{A2A7A800-E3E5-463B-B7ED-FDBCF2B7A09D}" type="presParOf" srcId="{7F02932C-7035-4160-ABD0-5D51493C2E64}" destId="{819FC781-7A2C-4381-9740-E846516DDF28}" srcOrd="2" destOrd="0" presId="urn:microsoft.com/office/officeart/2005/8/layout/orgChart1"/>
    <dgm:cxn modelId="{503C1BAA-8B30-4ED5-9C90-6A75406ABD50}" type="presParOf" srcId="{D03F1031-C0C5-4B26-B036-621FF9E532AC}" destId="{AFBCA6E8-2694-43B3-A087-A8AC6BBBF5FE}" srcOrd="6" destOrd="0" presId="urn:microsoft.com/office/officeart/2005/8/layout/orgChart1"/>
    <dgm:cxn modelId="{15D19490-1E92-4B9E-8355-3D513CD4093A}" type="presParOf" srcId="{D03F1031-C0C5-4B26-B036-621FF9E532AC}" destId="{82641FC6-C0E8-4FA9-A04B-3A2E256B911C}" srcOrd="7" destOrd="0" presId="urn:microsoft.com/office/officeart/2005/8/layout/orgChart1"/>
    <dgm:cxn modelId="{A35A7EF0-93AB-404E-B0D8-E5B30178EDE9}" type="presParOf" srcId="{82641FC6-C0E8-4FA9-A04B-3A2E256B911C}" destId="{4B9760DA-0385-41AE-A687-355A94220D59}" srcOrd="0" destOrd="0" presId="urn:microsoft.com/office/officeart/2005/8/layout/orgChart1"/>
    <dgm:cxn modelId="{9E09F747-806C-43CC-9DD4-595BFB1C63B4}" type="presParOf" srcId="{4B9760DA-0385-41AE-A687-355A94220D59}" destId="{FC9E5436-F165-46FF-B4CA-5112263F2CD6}" srcOrd="0" destOrd="0" presId="urn:microsoft.com/office/officeart/2005/8/layout/orgChart1"/>
    <dgm:cxn modelId="{02868B5D-DA17-4FAC-928C-738175F4D423}" type="presParOf" srcId="{4B9760DA-0385-41AE-A687-355A94220D59}" destId="{709B3824-964F-489C-9C40-FEBF6CACFBFE}" srcOrd="1" destOrd="0" presId="urn:microsoft.com/office/officeart/2005/8/layout/orgChart1"/>
    <dgm:cxn modelId="{81C05D5E-3B86-447B-9017-B04CDBEA4C3E}" type="presParOf" srcId="{82641FC6-C0E8-4FA9-A04B-3A2E256B911C}" destId="{31B1412C-149D-4847-A6A5-AA4FA41DD21F}" srcOrd="1" destOrd="0" presId="urn:microsoft.com/office/officeart/2005/8/layout/orgChart1"/>
    <dgm:cxn modelId="{B4492B63-00C0-4C69-B8A8-12DE952D11F5}" type="presParOf" srcId="{82641FC6-C0E8-4FA9-A04B-3A2E256B911C}" destId="{C1D4192F-92D1-410F-B41E-C4E2527F5DAD}" srcOrd="2" destOrd="0" presId="urn:microsoft.com/office/officeart/2005/8/layout/orgChart1"/>
    <dgm:cxn modelId="{B82DA490-F51F-499C-ABEB-8029F3EB3DFF}" type="presParOf" srcId="{01D1AB36-06E6-462F-9B7D-DE5F5617C685}" destId="{C440E21C-FA5B-4523-AAA6-4C1EB654843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CA6E8-2694-43B3-A087-A8AC6BBBF5FE}">
      <dsp:nvSpPr>
        <dsp:cNvPr id="0" name=""/>
        <dsp:cNvSpPr/>
      </dsp:nvSpPr>
      <dsp:spPr>
        <a:xfrm>
          <a:off x="5219263" y="2639557"/>
          <a:ext cx="4057399" cy="533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7223"/>
              </a:lnTo>
              <a:lnTo>
                <a:pt x="4057399" y="297223"/>
              </a:lnTo>
              <a:lnTo>
                <a:pt x="4057399" y="53370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3B5A4-4194-465F-9199-D0453724504B}">
      <dsp:nvSpPr>
        <dsp:cNvPr id="0" name=""/>
        <dsp:cNvSpPr/>
      </dsp:nvSpPr>
      <dsp:spPr>
        <a:xfrm>
          <a:off x="5219263" y="2639557"/>
          <a:ext cx="1362586" cy="4729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481"/>
              </a:lnTo>
              <a:lnTo>
                <a:pt x="1362586" y="236481"/>
              </a:lnTo>
              <a:lnTo>
                <a:pt x="1362586" y="47296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0389C1-0D45-4E6E-9C3F-37D7893DAFC3}">
      <dsp:nvSpPr>
        <dsp:cNvPr id="0" name=""/>
        <dsp:cNvSpPr/>
      </dsp:nvSpPr>
      <dsp:spPr>
        <a:xfrm>
          <a:off x="3856676" y="2639557"/>
          <a:ext cx="1362586" cy="472963"/>
        </a:xfrm>
        <a:custGeom>
          <a:avLst/>
          <a:gdLst/>
          <a:ahLst/>
          <a:cxnLst/>
          <a:rect l="0" t="0" r="0" b="0"/>
          <a:pathLst>
            <a:path>
              <a:moveTo>
                <a:pt x="1362586" y="0"/>
              </a:moveTo>
              <a:lnTo>
                <a:pt x="1362586" y="236481"/>
              </a:lnTo>
              <a:lnTo>
                <a:pt x="0" y="236481"/>
              </a:lnTo>
              <a:lnTo>
                <a:pt x="0" y="47296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E8D05C-71CD-49B3-914A-BC01B0859463}">
      <dsp:nvSpPr>
        <dsp:cNvPr id="0" name=""/>
        <dsp:cNvSpPr/>
      </dsp:nvSpPr>
      <dsp:spPr>
        <a:xfrm>
          <a:off x="1131503" y="2639557"/>
          <a:ext cx="4087759" cy="472963"/>
        </a:xfrm>
        <a:custGeom>
          <a:avLst/>
          <a:gdLst/>
          <a:ahLst/>
          <a:cxnLst/>
          <a:rect l="0" t="0" r="0" b="0"/>
          <a:pathLst>
            <a:path>
              <a:moveTo>
                <a:pt x="4087759" y="0"/>
              </a:moveTo>
              <a:lnTo>
                <a:pt x="4087759" y="236481"/>
              </a:lnTo>
              <a:lnTo>
                <a:pt x="0" y="236481"/>
              </a:lnTo>
              <a:lnTo>
                <a:pt x="0" y="47296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E04A0-B44B-41B1-B533-B907F2FFD5BB}">
      <dsp:nvSpPr>
        <dsp:cNvPr id="0" name=""/>
        <dsp:cNvSpPr/>
      </dsp:nvSpPr>
      <dsp:spPr>
        <a:xfrm>
          <a:off x="4093158" y="1513453"/>
          <a:ext cx="2252208" cy="112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badi" panose="020B0604020104020204" pitchFamily="34" charset="0"/>
            </a:rPr>
            <a:t>Machine learning methods</a:t>
          </a:r>
        </a:p>
      </dsp:txBody>
      <dsp:txXfrm>
        <a:off x="4093158" y="1513453"/>
        <a:ext cx="2252208" cy="1126104"/>
      </dsp:txXfrm>
    </dsp:sp>
    <dsp:sp modelId="{B41CBAF2-9D15-42EB-97EA-21F13B2C0777}">
      <dsp:nvSpPr>
        <dsp:cNvPr id="0" name=""/>
        <dsp:cNvSpPr/>
      </dsp:nvSpPr>
      <dsp:spPr>
        <a:xfrm>
          <a:off x="5399" y="3112521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>
            <a:latin typeface="Abadi" panose="020B0604020104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Regularization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badi" panose="020B0604020104020204" pitchFamily="34" charset="0"/>
            </a:rPr>
            <a:t>LASSO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badi" panose="020B0604020104020204" pitchFamily="34" charset="0"/>
            </a:rPr>
            <a:t>Elastic Net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 </a:t>
          </a:r>
        </a:p>
      </dsp:txBody>
      <dsp:txXfrm>
        <a:off x="5399" y="3112521"/>
        <a:ext cx="2252208" cy="1126104"/>
      </dsp:txXfrm>
    </dsp:sp>
    <dsp:sp modelId="{B6AFBDD3-ED1B-414C-B338-A84FC14B3247}">
      <dsp:nvSpPr>
        <dsp:cNvPr id="0" name=""/>
        <dsp:cNvSpPr/>
      </dsp:nvSpPr>
      <dsp:spPr>
        <a:xfrm>
          <a:off x="2730572" y="3112521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Decision tree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Random Forest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>
              <a:latin typeface="Abadi" panose="020B0604020104020204" pitchFamily="34" charset="0"/>
            </a:rPr>
            <a:t>XGBoost</a:t>
          </a:r>
          <a:r>
            <a:rPr lang="en-GB" sz="1800" kern="1200" dirty="0">
              <a:latin typeface="Abadi" panose="020B0604020104020204" pitchFamily="34" charset="0"/>
            </a:rPr>
            <a:t> </a:t>
          </a:r>
        </a:p>
      </dsp:txBody>
      <dsp:txXfrm>
        <a:off x="2730572" y="3112521"/>
        <a:ext cx="2252208" cy="1126104"/>
      </dsp:txXfrm>
    </dsp:sp>
    <dsp:sp modelId="{B5C51D1C-228A-4B23-9361-D717B6A7152B}">
      <dsp:nvSpPr>
        <dsp:cNvPr id="0" name=""/>
        <dsp:cNvSpPr/>
      </dsp:nvSpPr>
      <dsp:spPr>
        <a:xfrm>
          <a:off x="5455744" y="3112521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Kernel Based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SVM</a:t>
          </a:r>
        </a:p>
      </dsp:txBody>
      <dsp:txXfrm>
        <a:off x="5455744" y="3112521"/>
        <a:ext cx="2252208" cy="1126104"/>
      </dsp:txXfrm>
    </dsp:sp>
    <dsp:sp modelId="{FC9E5436-F165-46FF-B4CA-5112263F2CD6}">
      <dsp:nvSpPr>
        <dsp:cNvPr id="0" name=""/>
        <dsp:cNvSpPr/>
      </dsp:nvSpPr>
      <dsp:spPr>
        <a:xfrm>
          <a:off x="8150557" y="3173263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Neural Network based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ANN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Deep learning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LSTM </a:t>
          </a:r>
        </a:p>
      </dsp:txBody>
      <dsp:txXfrm>
        <a:off x="8150557" y="3173263"/>
        <a:ext cx="2252208" cy="1126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E224C-128D-456A-A4F4-65D190DF7DD3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362CC-BD67-4709-A014-638E88006A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31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362CC-BD67-4709-A014-638E88006AE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32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D021-FA61-4DF5-9AEE-86CE54C67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56DA3-42EC-4490-A5AB-D429EC28E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109A-E55F-4A1E-BBA4-F5F9E0CC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06EC-071B-4FAC-BDFB-0CB0E2153C75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AC8E-129E-49A7-AC2F-54C6F7A7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92DB4-620E-4D61-AC13-248AD66C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66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CFF0-9A3A-44CF-9D51-38276818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E322-360A-4B6E-B893-897407749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3C2CC-8213-4458-8363-5221404B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8A3B-BDB8-444B-B2A0-9D4F0EB91944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73433-DE65-48CB-8218-5773258B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99C2-3B97-4818-BC4D-6E404AE1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2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A91E-F0A2-4C8E-B9F8-4AEE834B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A5E67-D9FA-4C9C-AA12-C3FD44D0E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A990-87F1-4930-9DAC-42F32B5E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5590B-804C-43FE-A533-BD4DC20DC9AC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0673-D490-4784-97C2-F9443C1A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52AF9-B23D-4BD1-97F5-6BD2DF4B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00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FADB-25CF-4787-B11A-36BFBB7F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D744-0A07-45C4-A854-88E11AD7E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579A6-8114-4786-B67F-58DC7B5AE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72DF5-2AF6-4C55-9397-02196E0E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F78C-2BC2-43D4-9BE6-CEC6AAFCF5D2}" type="datetime1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DFCF5-9DA9-4C0F-8791-DE5412B4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A5AE4-F7AC-4022-ABF8-7F61FF71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5A4E-22F8-4EB9-AC08-82F204A8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76BE-B81D-4072-9748-A4DFB7048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E5E9E-C0EC-44D4-8C75-19C9C72D7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252C2-F124-4F3F-9D7A-138B4E806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BDA60-4A68-4918-9D35-022B2FFA9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B3987-FF07-4633-9DF4-76076C53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7CAB-DA9C-4E58-AE0C-4E50A23BDFE7}" type="datetime1">
              <a:rPr lang="en-GB" smtClean="0"/>
              <a:t>09/03/2025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DDD5D-C131-472D-BA1F-D461BA73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0C21F-B0BC-464D-8E0C-B0708108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86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A3FF-5EC9-4630-B957-18BF1008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7540-2B0D-429E-9DF4-5AA355DC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3E9-0154-442D-846A-CBA72B4A3C82}" type="datetime1">
              <a:rPr lang="en-GB" smtClean="0"/>
              <a:t>09/03/2025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CF9AA-309C-4FEA-8F31-A5D76277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09102-6437-49DB-B818-F0EA1D85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83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8B534-D509-47FF-8AFF-78F08AA4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2C03C-5254-441A-A423-94D3AAC51EDB}" type="datetime1">
              <a:rPr lang="en-GB" smtClean="0"/>
              <a:t>09/03/2025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252AD-4B30-4AA8-985F-E31D2243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047F7-20F4-42C4-B326-3078FB1B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76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9AB6-88E4-47D5-8302-B29A0D66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3A85-EBA3-4C56-951B-5513CD4C4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EB638-C205-464C-8C2C-DCFD9CEC8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980B-B4F7-4096-9368-8EA4D0FB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AF7DC-830C-4AA7-80D5-AE86C7057FC3}" type="datetime1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00B30-951D-4770-9383-D395744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722EC-190E-451E-831F-D78AF11C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8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CE81-6CE1-490C-8E9B-B0CD5A65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0EBF4-97DD-4E7A-A2A9-A22E8D686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137AE-2BEB-4D7D-BE02-251856542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1DFA5-5125-4AF2-A7E5-B56EFACD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6B026-4542-499F-9A1D-A721DF2FFC20}" type="datetime1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B42B2-6B0B-4CBF-8E3C-1D247832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7D182-51CD-4A84-88CC-B8EAC17D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77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CD44-5DF9-483F-9FE2-5E21B235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B9E2E-C598-42CB-85BF-92A5A0F8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AB771-2910-40A5-AF24-70696D29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616E-0D47-4B31-A704-2B6013569931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EB6F3-10A9-4F97-A55F-54DBAFCD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C9F26-88B1-4A68-81B1-9F6635C0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30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F4710-C43C-4930-98B6-3F350F9E2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C17B7-C2DF-4510-96AA-B0DF696CF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6639F-5AEE-4D67-913A-718020CC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5F61-46F7-4C03-A365-B69D6F1C2835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CC79-9E04-4BBA-B819-73FCF614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F9845-A630-4755-AC4A-6DDE60B4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57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CC2FB-3387-4817-AA29-0AF90F95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A60DA-4AB1-4055-9BB2-8D7AA55F3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3867-B67C-43B9-9B78-ECABB505C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FB243-0F96-4CDD-8A9A-8745CC9885B4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0401-B907-4180-9E7B-7008DCEFD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21ED-C270-4B01-B79D-992BEDAA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63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BE84-9302-4ACF-A44E-EB6B7C49C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508" y="2397489"/>
            <a:ext cx="11232859" cy="22919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r>
              <a:rPr lang="en-GB" sz="3200" b="1" i="0" dirty="0">
                <a:effectLst/>
                <a:latin typeface="Abadi" panose="020B0604020104020204" pitchFamily="34" charset="0"/>
              </a:rPr>
              <a:t>LM Big Data Management in Finance (36320)</a:t>
            </a:r>
            <a:br>
              <a:rPr lang="en-GB" sz="3200" b="1" i="0" dirty="0">
                <a:solidFill>
                  <a:srgbClr val="666666"/>
                </a:solidFill>
                <a:effectLst/>
                <a:latin typeface="Lato Extended"/>
              </a:rPr>
            </a:br>
            <a:r>
              <a:rPr lang="en-GB" sz="2800" b="0" i="0" dirty="0">
                <a:effectLst/>
                <a:latin typeface="Abadi" panose="020B0604020104020204" pitchFamily="34" charset="0"/>
              </a:rPr>
              <a:t>Birmingham Business School</a:t>
            </a: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endParaRPr lang="en-GB" sz="2800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A3B7B-82CD-44D2-AD75-A12E51C7D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944" y="4840020"/>
            <a:ext cx="9144000" cy="1035174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  <a:latin typeface="Abadi" panose="020B0604020104020204" pitchFamily="34" charset="0"/>
              </a:rPr>
              <a:t>Dr.</a:t>
            </a:r>
            <a:r>
              <a:rPr lang="en-GB" b="0" i="0" dirty="0">
                <a:effectLst/>
                <a:latin typeface="Abadi" panose="020B0604020104020204" pitchFamily="34" charset="0"/>
              </a:rPr>
              <a:t> Animesh Acharjee </a:t>
            </a:r>
          </a:p>
        </p:txBody>
      </p:sp>
      <p:pic>
        <p:nvPicPr>
          <p:cNvPr id="1026" name="Picture 2" descr="On the Move to the University of Birmingham – Professor Fiona de Londras">
            <a:extLst>
              <a:ext uri="{FF2B5EF4-FFF2-40B4-BE49-F238E27FC236}">
                <a16:creationId xmlns:a16="http://schemas.microsoft.com/office/drawing/2014/main" id="{EE19BDDD-C5EE-4128-9385-990B24C2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124" y="118144"/>
            <a:ext cx="2403183" cy="212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68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67FB-0D21-34C1-8C77-E3F710066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399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Abadi" panose="020B0604020104020204" pitchFamily="34" charset="0"/>
              </a:rPr>
              <a:t>Methods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501D22-637A-C10B-AD66-688AB253A5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732225"/>
              </p:ext>
            </p:extLst>
          </p:nvPr>
        </p:nvGraphicFramePr>
        <p:xfrm>
          <a:off x="770757" y="365125"/>
          <a:ext cx="10438526" cy="5752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496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5319-3AE8-924D-96BA-865A7C8B7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badi" panose="020B0604020104020204" pitchFamily="34" charset="0"/>
              </a:rPr>
              <a:t>Decision Tree &amp; Random Forest </a:t>
            </a:r>
          </a:p>
        </p:txBody>
      </p:sp>
    </p:spTree>
    <p:extLst>
      <p:ext uri="{BB962C8B-B14F-4D97-AF65-F5344CB8AC3E}">
        <p14:creationId xmlns:p14="http://schemas.microsoft.com/office/powerpoint/2010/main" val="374779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611"/>
          </a:xfrm>
        </p:spPr>
        <p:txBody>
          <a:bodyPr/>
          <a:lstStyle/>
          <a:p>
            <a:pPr algn="ctr"/>
            <a:r>
              <a:rPr lang="en-GB" dirty="0">
                <a:latin typeface="Abadi" panose="020B0604020104020204" pitchFamily="34" charset="0"/>
              </a:rPr>
              <a:t>What is a decision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85" y="1425233"/>
            <a:ext cx="11493845" cy="5432767"/>
          </a:xfrm>
        </p:spPr>
        <p:txBody>
          <a:bodyPr>
            <a:normAutofit/>
          </a:bodyPr>
          <a:lstStyle/>
          <a:p>
            <a:r>
              <a:rPr lang="en-GB" dirty="0"/>
              <a:t>A decision tree consists of three different building blocks:</a:t>
            </a:r>
          </a:p>
          <a:p>
            <a:pPr lvl="1"/>
            <a:r>
              <a:rPr lang="en-GB" sz="2800" dirty="0"/>
              <a:t>Nodes </a:t>
            </a:r>
          </a:p>
          <a:p>
            <a:pPr lvl="2"/>
            <a:r>
              <a:rPr lang="en-GB" sz="2800" dirty="0"/>
              <a:t>The nodes identify the splitting feature and implement the partitioning operation on the input subset of data</a:t>
            </a:r>
          </a:p>
          <a:p>
            <a:pPr lvl="1"/>
            <a:r>
              <a:rPr lang="en-GB" sz="2800" dirty="0"/>
              <a:t>Branches </a:t>
            </a:r>
          </a:p>
          <a:p>
            <a:pPr lvl="2"/>
            <a:r>
              <a:rPr lang="en-GB" sz="2800" dirty="0"/>
              <a:t>the branches depart from a node and identify the different subsets of data produced by the partitioning operation</a:t>
            </a:r>
          </a:p>
          <a:p>
            <a:pPr lvl="1"/>
            <a:r>
              <a:rPr lang="en-GB" sz="2800" dirty="0"/>
              <a:t>Leaves. </a:t>
            </a:r>
          </a:p>
          <a:p>
            <a:pPr lvl="2"/>
            <a:r>
              <a:rPr lang="en-GB" sz="2800" dirty="0"/>
              <a:t>The leaves, at the end of a path, identify a final subset of data and associate a class with that specific decision path</a:t>
            </a:r>
          </a:p>
        </p:txBody>
      </p:sp>
    </p:spTree>
    <p:extLst>
      <p:ext uri="{BB962C8B-B14F-4D97-AF65-F5344CB8AC3E}">
        <p14:creationId xmlns:p14="http://schemas.microsoft.com/office/powerpoint/2010/main" val="100701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73" name="Rectangle 61"/>
          <p:cNvSpPr>
            <a:spLocks noChangeArrowheads="1"/>
          </p:cNvSpPr>
          <p:nvPr/>
        </p:nvSpPr>
        <p:spPr bwMode="auto">
          <a:xfrm>
            <a:off x="5690593" y="4957782"/>
            <a:ext cx="2977158" cy="2482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 sz="1013">
              <a:latin typeface="Abadi" panose="020B0604020104020204" pitchFamily="34" charset="0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title"/>
          </p:nvPr>
        </p:nvSpPr>
        <p:spPr>
          <a:xfrm>
            <a:off x="2865588" y="114934"/>
            <a:ext cx="7056784" cy="74562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>
                <a:latin typeface="Abadi" panose="020B0604020104020204" pitchFamily="34" charset="0"/>
              </a:rPr>
              <a:t>Example binary classification tree</a:t>
            </a:r>
          </a:p>
        </p:txBody>
      </p:sp>
      <p:sp>
        <p:nvSpPr>
          <p:cNvPr id="115742" name="Text Box 30"/>
          <p:cNvSpPr txBox="1">
            <a:spLocks noChangeArrowheads="1"/>
          </p:cNvSpPr>
          <p:nvPr/>
        </p:nvSpPr>
        <p:spPr bwMode="auto">
          <a:xfrm>
            <a:off x="3952755" y="1047141"/>
            <a:ext cx="8015468" cy="6075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buFontTx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The root contains all samples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Each subsequent node contains a subset of the samples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Each decision rule splits up the samples into </a:t>
            </a:r>
            <a:r>
              <a:rPr lang="en-US" altLang="en-US" sz="2400" i="1" dirty="0">
                <a:latin typeface="Abadi" panose="020B0604020104020204" pitchFamily="34" charset="0"/>
              </a:rPr>
              <a:t>two  </a:t>
            </a:r>
            <a:r>
              <a:rPr lang="en-US" altLang="en-US" sz="2400" dirty="0">
                <a:latin typeface="Abadi" panose="020B0604020104020204" pitchFamily="34" charset="0"/>
              </a:rPr>
              <a:t>subgroups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Every rule is of the form</a:t>
            </a:r>
          </a:p>
          <a:p>
            <a:pPr lvl="1">
              <a:spcBef>
                <a:spcPct val="10000"/>
              </a:spcBef>
              <a:buFontTx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x &gt; t  for continuous x</a:t>
            </a:r>
          </a:p>
          <a:p>
            <a:pPr lvl="1">
              <a:spcBef>
                <a:spcPct val="10000"/>
              </a:spcBef>
              <a:buFontTx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x </a:t>
            </a:r>
            <a:r>
              <a:rPr lang="en-GB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 A for categorical x</a:t>
            </a:r>
          </a:p>
          <a:p>
            <a:pPr lvl="1">
              <a:spcBef>
                <a:spcPct val="10000"/>
              </a:spcBef>
              <a:buFontTx/>
              <a:buChar char="•"/>
            </a:pPr>
            <a:endParaRPr lang="en-GB" altLang="en-US" sz="2400" dirty="0">
              <a:latin typeface="Abadi" panose="020B0604020104020204" pitchFamily="34" charset="0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GB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 Only one variable per rule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GB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 Same variable can be used again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GB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 Each leaf more or less ‘pure’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GB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 A new sample is run through the tree and one looks for the leaf it ends up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en-GB" altLang="en-US" sz="2400" i="1" dirty="0">
                <a:latin typeface="Abadi" panose="020B0604020104020204" pitchFamily="34" charset="0"/>
                <a:sym typeface="Symbol" panose="05050102010706020507" pitchFamily="18" charset="2"/>
              </a:rPr>
              <a:t>Regression Trees: </a:t>
            </a:r>
            <a:r>
              <a:rPr lang="en-GB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average of the values at that leaf</a:t>
            </a:r>
          </a:p>
          <a:p>
            <a:pPr>
              <a:spcBef>
                <a:spcPct val="10000"/>
              </a:spcBef>
              <a:buFontTx/>
              <a:buChar char="•"/>
            </a:pPr>
            <a:endParaRPr lang="en-US" altLang="en-US" sz="2400" dirty="0">
              <a:latin typeface="Abadi" panose="020B0604020104020204" pitchFamily="34" charset="0"/>
              <a:sym typeface="Symbol" panose="05050102010706020507" pitchFamily="18" charset="2"/>
            </a:endParaRPr>
          </a:p>
        </p:txBody>
      </p:sp>
      <p:sp>
        <p:nvSpPr>
          <p:cNvPr id="115753" name="Rectangle 41"/>
          <p:cNvSpPr>
            <a:spLocks noChangeArrowheads="1"/>
          </p:cNvSpPr>
          <p:nvPr/>
        </p:nvSpPr>
        <p:spPr bwMode="auto">
          <a:xfrm>
            <a:off x="3524253" y="3270071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>
              <a:latin typeface="Abadi" panose="020B0604020104020204" pitchFamily="34" charset="0"/>
            </a:endParaRPr>
          </a:p>
        </p:txBody>
      </p:sp>
      <p:sp>
        <p:nvSpPr>
          <p:cNvPr id="115755" name="Rectangle 43"/>
          <p:cNvSpPr>
            <a:spLocks noChangeArrowheads="1"/>
          </p:cNvSpPr>
          <p:nvPr/>
        </p:nvSpPr>
        <p:spPr bwMode="auto">
          <a:xfrm>
            <a:off x="3524253" y="3270071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>
              <a:latin typeface="Abadi" panose="020B0604020104020204" pitchFamily="34" charset="0"/>
            </a:endParaRPr>
          </a:p>
        </p:txBody>
      </p:sp>
      <p:sp>
        <p:nvSpPr>
          <p:cNvPr id="115763" name="Rectangle 51"/>
          <p:cNvSpPr>
            <a:spLocks noChangeArrowheads="1"/>
          </p:cNvSpPr>
          <p:nvPr/>
        </p:nvSpPr>
        <p:spPr bwMode="auto">
          <a:xfrm>
            <a:off x="3524253" y="1376084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>
              <a:latin typeface="Abadi" panose="020B0604020104020204" pitchFamily="34" charset="0"/>
            </a:endParaRPr>
          </a:p>
        </p:txBody>
      </p:sp>
      <p:sp>
        <p:nvSpPr>
          <p:cNvPr id="115765" name="Rectangle 53"/>
          <p:cNvSpPr>
            <a:spLocks noChangeArrowheads="1"/>
          </p:cNvSpPr>
          <p:nvPr/>
        </p:nvSpPr>
        <p:spPr bwMode="auto">
          <a:xfrm>
            <a:off x="3524253" y="1376084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>
              <a:latin typeface="Abadi" panose="020B0604020104020204" pitchFamily="34" charset="0"/>
            </a:endParaRPr>
          </a:p>
        </p:txBody>
      </p:sp>
      <p:sp>
        <p:nvSpPr>
          <p:cNvPr id="115769" name="Rectangle 57"/>
          <p:cNvSpPr>
            <a:spLocks noChangeArrowheads="1"/>
          </p:cNvSpPr>
          <p:nvPr/>
        </p:nvSpPr>
        <p:spPr bwMode="auto">
          <a:xfrm>
            <a:off x="3524253" y="3173631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>
              <a:latin typeface="Abadi" panose="020B0604020104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61" y="1780647"/>
            <a:ext cx="3477339" cy="299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1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2501696" y="5443005"/>
            <a:ext cx="6790138" cy="2482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2" name="Line 6"/>
          <p:cNvSpPr>
            <a:spLocks noChangeShapeType="1"/>
          </p:cNvSpPr>
          <p:nvPr/>
        </p:nvSpPr>
        <p:spPr bwMode="auto">
          <a:xfrm flipH="1">
            <a:off x="4131755" y="2590491"/>
            <a:ext cx="1123242" cy="369969"/>
          </a:xfrm>
          <a:prstGeom prst="line">
            <a:avLst/>
          </a:prstGeom>
          <a:ln w="50800">
            <a:headEnd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3" name="Line 7"/>
          <p:cNvSpPr>
            <a:spLocks noChangeShapeType="1"/>
          </p:cNvSpPr>
          <p:nvPr/>
        </p:nvSpPr>
        <p:spPr bwMode="auto">
          <a:xfrm flipH="1">
            <a:off x="3009689" y="4068039"/>
            <a:ext cx="641179" cy="634066"/>
          </a:xfrm>
          <a:prstGeom prst="line">
            <a:avLst/>
          </a:prstGeom>
          <a:ln w="50800">
            <a:headEnd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4" name="Line 8"/>
          <p:cNvSpPr>
            <a:spLocks noChangeShapeType="1"/>
          </p:cNvSpPr>
          <p:nvPr/>
        </p:nvSpPr>
        <p:spPr bwMode="auto">
          <a:xfrm rot="16200000" flipH="1">
            <a:off x="4055753" y="4091002"/>
            <a:ext cx="634066" cy="588141"/>
          </a:xfrm>
          <a:prstGeom prst="line">
            <a:avLst/>
          </a:prstGeom>
          <a:ln w="50800">
            <a:headEnd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5" name="Line 9"/>
          <p:cNvSpPr>
            <a:spLocks noChangeShapeType="1"/>
          </p:cNvSpPr>
          <p:nvPr/>
        </p:nvSpPr>
        <p:spPr bwMode="auto">
          <a:xfrm rot="16200000" flipH="1">
            <a:off x="6571103" y="2024026"/>
            <a:ext cx="474677" cy="1602949"/>
          </a:xfrm>
          <a:prstGeom prst="line">
            <a:avLst/>
          </a:prstGeom>
          <a:ln w="50800">
            <a:headEnd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6" name="Line 10"/>
          <p:cNvSpPr>
            <a:spLocks noChangeShapeType="1"/>
          </p:cNvSpPr>
          <p:nvPr/>
        </p:nvSpPr>
        <p:spPr bwMode="auto">
          <a:xfrm flipH="1">
            <a:off x="6859124" y="4065712"/>
            <a:ext cx="694218" cy="741101"/>
          </a:xfrm>
          <a:prstGeom prst="line">
            <a:avLst/>
          </a:prstGeom>
          <a:ln w="50800">
            <a:headEnd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7" name="Line 11"/>
          <p:cNvSpPr>
            <a:spLocks noChangeShapeType="1"/>
          </p:cNvSpPr>
          <p:nvPr/>
        </p:nvSpPr>
        <p:spPr bwMode="auto">
          <a:xfrm rot="16200000" flipH="1">
            <a:off x="7770932" y="4166384"/>
            <a:ext cx="741101" cy="535102"/>
          </a:xfrm>
          <a:prstGeom prst="line">
            <a:avLst/>
          </a:prstGeom>
          <a:ln w="50800">
            <a:headEnd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2501697" y="3159786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69" name="Rectangle 13"/>
          <p:cNvSpPr>
            <a:spLocks noChangeArrowheads="1"/>
          </p:cNvSpPr>
          <p:nvPr/>
        </p:nvSpPr>
        <p:spPr bwMode="auto">
          <a:xfrm>
            <a:off x="2501697" y="4212684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70" name="Rectangle 14"/>
          <p:cNvSpPr>
            <a:spLocks noChangeArrowheads="1"/>
          </p:cNvSpPr>
          <p:nvPr/>
        </p:nvSpPr>
        <p:spPr bwMode="auto">
          <a:xfrm>
            <a:off x="2501697" y="692162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71" name="Rectangle 15"/>
          <p:cNvSpPr>
            <a:spLocks noChangeArrowheads="1"/>
          </p:cNvSpPr>
          <p:nvPr/>
        </p:nvSpPr>
        <p:spPr bwMode="auto">
          <a:xfrm>
            <a:off x="2501697" y="692162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3072" name="Rectangle 16"/>
          <p:cNvSpPr>
            <a:spLocks noChangeArrowheads="1"/>
          </p:cNvSpPr>
          <p:nvPr/>
        </p:nvSpPr>
        <p:spPr bwMode="auto">
          <a:xfrm>
            <a:off x="2501697" y="4087035"/>
            <a:ext cx="18473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013" b="1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pic>
        <p:nvPicPr>
          <p:cNvPr id="173073" name="Picture 17" descr="elephant-si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893" y="1641135"/>
            <a:ext cx="641179" cy="42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74" name="Picture 18" descr="800px-Mus_Musculus-huismui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290" y="1112939"/>
            <a:ext cx="802653" cy="55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75" name="Picture 19" descr="m_005-giraff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900" y="1734208"/>
            <a:ext cx="490314" cy="64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76" name="Picture 20" descr="jagua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393" y="1693489"/>
            <a:ext cx="801474" cy="54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077" name="Text Box 21"/>
          <p:cNvSpPr txBox="1">
            <a:spLocks noChangeArrowheads="1"/>
          </p:cNvSpPr>
          <p:nvPr/>
        </p:nvSpPr>
        <p:spPr bwMode="auto">
          <a:xfrm>
            <a:off x="5251459" y="2426447"/>
            <a:ext cx="908731" cy="40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 err="1">
                <a:solidFill>
                  <a:srgbClr val="000000"/>
                </a:solidFill>
                <a:latin typeface="Abadi" panose="020B0604020104020204" pitchFamily="34" charset="0"/>
              </a:rPr>
              <a:t>Colour</a:t>
            </a:r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 Grey ?</a:t>
            </a:r>
          </a:p>
        </p:txBody>
      </p:sp>
      <p:sp>
        <p:nvSpPr>
          <p:cNvPr id="173078" name="Text Box 22"/>
          <p:cNvSpPr txBox="1">
            <a:spLocks noChangeArrowheads="1"/>
          </p:cNvSpPr>
          <p:nvPr/>
        </p:nvSpPr>
        <p:spPr bwMode="auto">
          <a:xfrm>
            <a:off x="4131753" y="2379908"/>
            <a:ext cx="5881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No</a:t>
            </a:r>
          </a:p>
        </p:txBody>
      </p:sp>
      <p:sp>
        <p:nvSpPr>
          <p:cNvPr id="173079" name="Text Box 23"/>
          <p:cNvSpPr txBox="1">
            <a:spLocks noChangeArrowheads="1"/>
          </p:cNvSpPr>
          <p:nvPr/>
        </p:nvSpPr>
        <p:spPr bwMode="auto">
          <a:xfrm>
            <a:off x="6644610" y="2463675"/>
            <a:ext cx="5881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Yes</a:t>
            </a:r>
          </a:p>
        </p:txBody>
      </p:sp>
      <p:pic>
        <p:nvPicPr>
          <p:cNvPr id="173080" name="Picture 24" descr="elephant-sid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203" y="3257131"/>
            <a:ext cx="718969" cy="47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81" name="Picture 25" descr="800px-Mus_Musculus-huismui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171" y="2719629"/>
            <a:ext cx="885157" cy="61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084" name="Text Box 28"/>
          <p:cNvSpPr txBox="1">
            <a:spLocks noChangeArrowheads="1"/>
          </p:cNvSpPr>
          <p:nvPr/>
        </p:nvSpPr>
        <p:spPr bwMode="auto">
          <a:xfrm>
            <a:off x="6751867" y="3696904"/>
            <a:ext cx="24586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Mass &gt; 2000 kg ?</a:t>
            </a:r>
          </a:p>
        </p:txBody>
      </p:sp>
      <p:sp>
        <p:nvSpPr>
          <p:cNvPr id="173085" name="Text Box 29"/>
          <p:cNvSpPr txBox="1">
            <a:spLocks noChangeArrowheads="1"/>
          </p:cNvSpPr>
          <p:nvPr/>
        </p:nvSpPr>
        <p:spPr bwMode="auto">
          <a:xfrm>
            <a:off x="3223022" y="3646878"/>
            <a:ext cx="1764423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Neck &gt; 1.5 m ?</a:t>
            </a:r>
          </a:p>
        </p:txBody>
      </p:sp>
      <p:sp>
        <p:nvSpPr>
          <p:cNvPr id="173086" name="Text Box 30"/>
          <p:cNvSpPr txBox="1">
            <a:spLocks noChangeArrowheads="1"/>
          </p:cNvSpPr>
          <p:nvPr/>
        </p:nvSpPr>
        <p:spPr bwMode="auto">
          <a:xfrm>
            <a:off x="8141482" y="4155294"/>
            <a:ext cx="5881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Yes</a:t>
            </a:r>
          </a:p>
        </p:txBody>
      </p:sp>
      <p:sp>
        <p:nvSpPr>
          <p:cNvPr id="173088" name="Text Box 32"/>
          <p:cNvSpPr txBox="1">
            <a:spLocks noChangeArrowheads="1"/>
          </p:cNvSpPr>
          <p:nvPr/>
        </p:nvSpPr>
        <p:spPr bwMode="auto">
          <a:xfrm>
            <a:off x="6697650" y="4155294"/>
            <a:ext cx="5881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No</a:t>
            </a:r>
          </a:p>
        </p:txBody>
      </p:sp>
      <p:sp>
        <p:nvSpPr>
          <p:cNvPr id="173090" name="Text Box 34"/>
          <p:cNvSpPr txBox="1">
            <a:spLocks noChangeArrowheads="1"/>
          </p:cNvSpPr>
          <p:nvPr/>
        </p:nvSpPr>
        <p:spPr bwMode="auto">
          <a:xfrm>
            <a:off x="2742139" y="4173909"/>
            <a:ext cx="5881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>
                <a:solidFill>
                  <a:srgbClr val="000000"/>
                </a:solidFill>
                <a:latin typeface="Abadi" panose="020B0604020104020204" pitchFamily="34" charset="0"/>
              </a:rPr>
              <a:t>No</a:t>
            </a:r>
          </a:p>
        </p:txBody>
      </p:sp>
      <p:sp>
        <p:nvSpPr>
          <p:cNvPr id="173091" name="Text Box 35"/>
          <p:cNvSpPr txBox="1">
            <a:spLocks noChangeArrowheads="1"/>
          </p:cNvSpPr>
          <p:nvPr/>
        </p:nvSpPr>
        <p:spPr bwMode="auto">
          <a:xfrm>
            <a:off x="4399305" y="4155294"/>
            <a:ext cx="5881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Yes</a:t>
            </a:r>
          </a:p>
        </p:txBody>
      </p:sp>
      <p:pic>
        <p:nvPicPr>
          <p:cNvPr id="173094" name="Picture 38" descr="olifant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483" y="1112940"/>
            <a:ext cx="429025" cy="59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95" name="Picture 39" descr="giraf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33" y="2115812"/>
            <a:ext cx="472634" cy="46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4399304" y="4700940"/>
            <a:ext cx="1015986" cy="897002"/>
            <a:chOff x="4399304" y="4700940"/>
            <a:chExt cx="1015986" cy="897002"/>
          </a:xfrm>
        </p:grpSpPr>
        <p:pic>
          <p:nvPicPr>
            <p:cNvPr id="173092" name="Picture 36" descr="m_005-giraffe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257" y="4859167"/>
              <a:ext cx="561033" cy="738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097" name="Picture 41" descr="giraf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9304" y="4700940"/>
              <a:ext cx="472634" cy="465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3098" name="Picture 42" descr="olifant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54" y="3171038"/>
            <a:ext cx="429025" cy="59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7980009" y="4629972"/>
            <a:ext cx="1124421" cy="1073841"/>
            <a:chOff x="7980009" y="4629972"/>
            <a:chExt cx="1124421" cy="1073841"/>
          </a:xfrm>
        </p:grpSpPr>
        <p:pic>
          <p:nvPicPr>
            <p:cNvPr id="173087" name="Picture 31" descr="elephant-sid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009" y="5106976"/>
              <a:ext cx="908731" cy="596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099" name="Picture 43" descr="olifant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75405" y="4629972"/>
              <a:ext cx="429025" cy="596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3100" name="Picture 44" descr="mui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022" y="1323519"/>
            <a:ext cx="558675" cy="382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101" name="Picture 45" descr="mui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149" y="2379908"/>
            <a:ext cx="558675" cy="382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6056470" y="4648586"/>
            <a:ext cx="1205748" cy="949356"/>
            <a:chOff x="6056470" y="4648586"/>
            <a:chExt cx="1205748" cy="949356"/>
          </a:xfrm>
        </p:grpSpPr>
        <p:pic>
          <p:nvPicPr>
            <p:cNvPr id="173089" name="Picture 33" descr="800px-Mus_Musculus-huismui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7060" y="4982491"/>
              <a:ext cx="885158" cy="615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102" name="Picture 46" descr="muis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6470" y="4648586"/>
              <a:ext cx="558675" cy="382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3103" name="Picture 47" descr="jaguar_01t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150" y="2011104"/>
            <a:ext cx="641179" cy="42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687920" y="2748714"/>
            <a:ext cx="1978937" cy="897001"/>
            <a:chOff x="2687920" y="2748714"/>
            <a:chExt cx="1978937" cy="897001"/>
          </a:xfrm>
        </p:grpSpPr>
        <p:pic>
          <p:nvPicPr>
            <p:cNvPr id="173082" name="Picture 26" descr="m_005-giraffe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3243" y="2906940"/>
              <a:ext cx="561033" cy="738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083" name="Picture 27" descr="jaguar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4996" y="3031428"/>
              <a:ext cx="691861" cy="473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096" name="Picture 40" descr="giraf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2434" y="2748714"/>
              <a:ext cx="472634" cy="465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104" name="Picture 48" descr="jaguar_01tk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7920" y="3223392"/>
              <a:ext cx="641179" cy="422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2687921" y="4806814"/>
            <a:ext cx="1443832" cy="950518"/>
            <a:chOff x="2687921" y="4806814"/>
            <a:chExt cx="1443832" cy="950518"/>
          </a:xfrm>
        </p:grpSpPr>
        <p:pic>
          <p:nvPicPr>
            <p:cNvPr id="173093" name="Picture 37" descr="jaguar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7921" y="4806814"/>
              <a:ext cx="855692" cy="585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105" name="Picture 49" descr="jaguar_01tk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0574" y="5335009"/>
              <a:ext cx="641179" cy="422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3106" name="Text Box 50"/>
          <p:cNvSpPr txBox="1">
            <a:spLocks noChangeArrowheads="1"/>
          </p:cNvSpPr>
          <p:nvPr/>
        </p:nvSpPr>
        <p:spPr bwMode="auto">
          <a:xfrm>
            <a:off x="1657850" y="43227"/>
            <a:ext cx="88763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rgbClr val="000000"/>
                </a:solidFill>
                <a:latin typeface="Abadi" panose="020B0604020104020204" pitchFamily="34" charset="0"/>
              </a:rPr>
              <a:t>Example-1: Identify / separate species  </a:t>
            </a:r>
          </a:p>
        </p:txBody>
      </p:sp>
      <p:sp>
        <p:nvSpPr>
          <p:cNvPr id="61" name="Text Box 28"/>
          <p:cNvSpPr txBox="1">
            <a:spLocks noChangeArrowheads="1"/>
          </p:cNvSpPr>
          <p:nvPr/>
        </p:nvSpPr>
        <p:spPr bwMode="auto">
          <a:xfrm>
            <a:off x="6750688" y="3696904"/>
            <a:ext cx="2458641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13" b="1" dirty="0">
                <a:solidFill>
                  <a:srgbClr val="000000"/>
                </a:solidFill>
                <a:latin typeface="Abadi" panose="020B0604020104020204" pitchFamily="34" charset="0"/>
              </a:rPr>
              <a:t>Mass &gt; 2000 kg ?</a:t>
            </a:r>
          </a:p>
        </p:txBody>
      </p:sp>
    </p:spTree>
    <p:extLst>
      <p:ext uri="{BB962C8B-B14F-4D97-AF65-F5344CB8AC3E}">
        <p14:creationId xmlns:p14="http://schemas.microsoft.com/office/powerpoint/2010/main" val="38406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2" grpId="0" animBg="1"/>
      <p:bldP spid="173063" grpId="0" animBg="1"/>
      <p:bldP spid="173064" grpId="0" animBg="1"/>
      <p:bldP spid="173065" grpId="0" animBg="1"/>
      <p:bldP spid="173066" grpId="0" animBg="1"/>
      <p:bldP spid="173067" grpId="0" animBg="1"/>
      <p:bldP spid="173077" grpId="0"/>
      <p:bldP spid="173078" grpId="0"/>
      <p:bldP spid="173079" grpId="0"/>
      <p:bldP spid="173085" grpId="0"/>
      <p:bldP spid="173086" grpId="0"/>
      <p:bldP spid="173088" grpId="0"/>
      <p:bldP spid="173090" grpId="0"/>
      <p:bldP spid="1730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62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86613" y="886408"/>
            <a:ext cx="11596678" cy="534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latin typeface="Abadi" panose="020B0604020104020204" pitchFamily="34" charset="0"/>
              </a:rPr>
              <a:t>Search, per step, ‘best’ variable and split point</a:t>
            </a:r>
          </a:p>
          <a:p>
            <a:pPr lvl="1"/>
            <a:r>
              <a:rPr lang="en-US" altLang="en-US" sz="3200" dirty="0">
                <a:latin typeface="Abadi" panose="020B0604020104020204" pitchFamily="34" charset="0"/>
              </a:rPr>
              <a:t>Each step: splitting only one of the nodes into two</a:t>
            </a:r>
          </a:p>
          <a:p>
            <a:pPr lvl="1"/>
            <a:r>
              <a:rPr lang="en-GB" altLang="en-US" sz="3200" dirty="0">
                <a:latin typeface="Abadi" panose="020B0604020104020204" pitchFamily="34" charset="0"/>
              </a:rPr>
              <a:t>There are different ways to control how many splits are generated</a:t>
            </a:r>
          </a:p>
          <a:p>
            <a:pPr lvl="2"/>
            <a:r>
              <a:rPr lang="en-US" altLang="en-US" sz="3200" dirty="0">
                <a:latin typeface="Abadi" panose="020B0604020104020204" pitchFamily="34" charset="0"/>
              </a:rPr>
              <a:t>Gini Index</a:t>
            </a:r>
          </a:p>
          <a:p>
            <a:pPr lvl="3"/>
            <a:r>
              <a:rPr lang="en-GB" dirty="0">
                <a:latin typeface="Abadi" panose="020B0604020104020204" pitchFamily="34" charset="0"/>
              </a:rPr>
              <a:t>The Gini index is based on Gini impurity. Gini impurity is defined as 1 minus the sum of the squares of the class probabilities in a dataset.</a:t>
            </a:r>
            <a:endParaRPr lang="en-US" altLang="en-US" sz="3000" dirty="0">
              <a:latin typeface="Abadi" panose="020B0604020104020204" pitchFamily="34" charset="0"/>
            </a:endParaRPr>
          </a:p>
          <a:p>
            <a:pPr lvl="2"/>
            <a:r>
              <a:rPr lang="en-US" altLang="en-US" sz="3200" dirty="0">
                <a:latin typeface="Abadi" panose="020B0604020104020204" pitchFamily="34" charset="0"/>
              </a:rPr>
              <a:t>Entropy </a:t>
            </a:r>
          </a:p>
          <a:p>
            <a:pPr lvl="3"/>
            <a:r>
              <a:rPr lang="en-GB" dirty="0">
                <a:latin typeface="Abadi" panose="020B0604020104020204" pitchFamily="34" charset="0"/>
              </a:rPr>
              <a:t>Entropy is a concept that is used to measure information </a:t>
            </a:r>
            <a:endParaRPr lang="en-US" altLang="en-US" sz="3000" dirty="0">
              <a:latin typeface="Abadi" panose="020B0604020104020204" pitchFamily="34" charset="0"/>
            </a:endParaRPr>
          </a:p>
          <a:p>
            <a:pPr lvl="2"/>
            <a:r>
              <a:rPr lang="en-US" altLang="en-US" sz="3200" dirty="0">
                <a:latin typeface="Abadi" panose="020B0604020104020204" pitchFamily="34" charset="0"/>
              </a:rPr>
              <a:t>Information Gain</a:t>
            </a:r>
          </a:p>
          <a:p>
            <a:pPr lvl="3"/>
            <a:r>
              <a:rPr lang="en-GB" dirty="0">
                <a:latin typeface="Abadi" panose="020B0604020104020204" pitchFamily="34" charset="0"/>
              </a:rPr>
              <a:t>How good a feature is for splitting, the difference in entropy before and after the split is calculated.</a:t>
            </a:r>
            <a:endParaRPr lang="en-US" altLang="en-US" sz="3000" dirty="0">
              <a:latin typeface="Abadi" panose="020B060402010402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57493" y="130536"/>
            <a:ext cx="8229600" cy="10017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dirty="0">
                <a:latin typeface="Abadi" panose="020B0604020104020204" pitchFamily="34" charset="0"/>
              </a:rPr>
              <a:t>Criteria for splitting</a:t>
            </a:r>
          </a:p>
        </p:txBody>
      </p:sp>
    </p:spTree>
    <p:extLst>
      <p:ext uri="{BB962C8B-B14F-4D97-AF65-F5344CB8AC3E}">
        <p14:creationId xmlns:p14="http://schemas.microsoft.com/office/powerpoint/2010/main" val="60633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103926" y="74733"/>
            <a:ext cx="5496063" cy="10017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dirty="0">
                <a:latin typeface="Abadi" panose="020B0604020104020204" pitchFamily="34" charset="0"/>
              </a:rPr>
              <a:t>Stopping criteria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08344" y="1076445"/>
            <a:ext cx="11800390" cy="50821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dirty="0">
                <a:latin typeface="Abadi" panose="020B0604020104020204" pitchFamily="34" charset="0"/>
              </a:rPr>
              <a:t>All nodes are pure (single class) or have a ‘final’ number of elements, </a:t>
            </a:r>
            <a:r>
              <a:rPr lang="en-US" altLang="en-US" sz="3600" i="1" dirty="0">
                <a:latin typeface="Abadi" panose="020B0604020104020204" pitchFamily="34" charset="0"/>
              </a:rPr>
              <a:t>e.g.</a:t>
            </a:r>
            <a:r>
              <a:rPr lang="en-US" altLang="en-US" sz="3600" dirty="0">
                <a:latin typeface="Abadi" panose="020B0604020104020204" pitchFamily="34" charset="0"/>
              </a:rPr>
              <a:t> 5</a:t>
            </a:r>
          </a:p>
          <a:p>
            <a:r>
              <a:rPr lang="en-US" altLang="en-US" sz="3600" dirty="0">
                <a:latin typeface="Abadi" panose="020B0604020104020204" pitchFamily="34" charset="0"/>
              </a:rPr>
              <a:t>Prune the tree back somewhat</a:t>
            </a:r>
          </a:p>
          <a:p>
            <a:pPr lvl="1"/>
            <a:r>
              <a:rPr lang="en-US" altLang="en-US" sz="3200" dirty="0">
                <a:latin typeface="Abadi" panose="020B0604020104020204" pitchFamily="34" charset="0"/>
              </a:rPr>
              <a:t>Remove splits with low decrease in impurity</a:t>
            </a:r>
          </a:p>
          <a:p>
            <a:pPr lvl="1"/>
            <a:r>
              <a:rPr lang="en-US" altLang="en-US" sz="3200" dirty="0">
                <a:latin typeface="Abadi" panose="020B0604020104020204" pitchFamily="34" charset="0"/>
              </a:rPr>
              <a:t>To protect against overfitting</a:t>
            </a:r>
          </a:p>
          <a:p>
            <a:r>
              <a:rPr lang="en-US" altLang="en-US" sz="3600" dirty="0">
                <a:latin typeface="Abadi" panose="020B0604020104020204" pitchFamily="34" charset="0"/>
              </a:rPr>
              <a:t>Unpruned trees</a:t>
            </a:r>
          </a:p>
          <a:p>
            <a:pPr lvl="1"/>
            <a:r>
              <a:rPr lang="en-US" altLang="en-US" sz="3200" dirty="0">
                <a:latin typeface="Abadi" panose="020B0604020104020204" pitchFamily="34" charset="0"/>
              </a:rPr>
              <a:t>Low bias (end nodes have maximum purity)</a:t>
            </a:r>
          </a:p>
          <a:p>
            <a:pPr lvl="1"/>
            <a:r>
              <a:rPr lang="en-US" altLang="en-US" sz="3200" dirty="0">
                <a:latin typeface="Abadi" panose="020B0604020104020204" pitchFamily="34" charset="0"/>
              </a:rPr>
              <a:t>High variance</a:t>
            </a:r>
          </a:p>
          <a:p>
            <a:pPr lvl="2"/>
            <a:r>
              <a:rPr lang="en-US" altLang="en-US" sz="2800" dirty="0">
                <a:latin typeface="Abadi" panose="020B0604020104020204" pitchFamily="34" charset="0"/>
              </a:rPr>
              <a:t>Widely different rules if the data or the samples change a little</a:t>
            </a:r>
          </a:p>
        </p:txBody>
      </p:sp>
    </p:spTree>
    <p:extLst>
      <p:ext uri="{BB962C8B-B14F-4D97-AF65-F5344CB8AC3E}">
        <p14:creationId xmlns:p14="http://schemas.microsoft.com/office/powerpoint/2010/main" val="17836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33" y="946481"/>
            <a:ext cx="10375338" cy="5310344"/>
          </a:xfrm>
          <a:prstGeom prst="rect">
            <a:avLst/>
          </a:prstGeom>
        </p:spPr>
      </p:pic>
      <p:sp>
        <p:nvSpPr>
          <p:cNvPr id="4" name="Rectangle 122"/>
          <p:cNvSpPr txBox="1">
            <a:spLocks noChangeArrowheads="1"/>
          </p:cNvSpPr>
          <p:nvPr/>
        </p:nvSpPr>
        <p:spPr>
          <a:xfrm>
            <a:off x="2151085" y="190309"/>
            <a:ext cx="8229600" cy="10017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Abadi" panose="020B0604020104020204" pitchFamily="34" charset="0"/>
              </a:rPr>
              <a:t>Example 2: Spielberg movies</a:t>
            </a:r>
          </a:p>
        </p:txBody>
      </p:sp>
      <p:sp>
        <p:nvSpPr>
          <p:cNvPr id="5" name="Text Box 23"/>
          <p:cNvSpPr txBox="1">
            <a:spLocks noChangeArrowheads="1"/>
          </p:cNvSpPr>
          <p:nvPr/>
        </p:nvSpPr>
        <p:spPr bwMode="auto">
          <a:xfrm>
            <a:off x="6350539" y="3023512"/>
            <a:ext cx="5881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 dirty="0">
                <a:solidFill>
                  <a:schemeClr val="bg1"/>
                </a:solidFill>
                <a:latin typeface="Abadi" panose="020B0604020104020204" pitchFamily="34" charset="0"/>
              </a:rPr>
              <a:t>yes</a:t>
            </a:r>
          </a:p>
        </p:txBody>
      </p:sp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3190571" y="3023512"/>
            <a:ext cx="5881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 dirty="0">
                <a:solidFill>
                  <a:schemeClr val="bg1"/>
                </a:solidFill>
                <a:latin typeface="Abadi" panose="020B0604020104020204" pitchFamily="34" charset="0"/>
              </a:rPr>
              <a:t>yes</a:t>
            </a:r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5215315" y="4491528"/>
            <a:ext cx="5881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1" dirty="0">
                <a:solidFill>
                  <a:schemeClr val="bg1"/>
                </a:solidFill>
                <a:latin typeface="Abadi" panose="020B060402010402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40930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B26F3B-2B55-4142-ADA4-DFC704495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7997" y="2699843"/>
            <a:ext cx="3706594" cy="7291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Random Forest </a:t>
            </a:r>
          </a:p>
        </p:txBody>
      </p:sp>
    </p:spTree>
    <p:extLst>
      <p:ext uri="{BB962C8B-B14F-4D97-AF65-F5344CB8AC3E}">
        <p14:creationId xmlns:p14="http://schemas.microsoft.com/office/powerpoint/2010/main" val="1285874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74727" y="0"/>
            <a:ext cx="6552728" cy="74562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>
                <a:solidFill>
                  <a:srgbClr val="000000"/>
                </a:solidFill>
                <a:latin typeface="Abadi" panose="020B0604020104020204" pitchFamily="34" charset="0"/>
              </a:rPr>
              <a:t>Random forests (</a:t>
            </a:r>
            <a:r>
              <a:rPr lang="en-US" altLang="en-US" sz="3600" dirty="0" err="1">
                <a:solidFill>
                  <a:srgbClr val="000000"/>
                </a:solidFill>
                <a:latin typeface="Abadi" panose="020B0604020104020204" pitchFamily="34" charset="0"/>
              </a:rPr>
              <a:t>Breiman</a:t>
            </a:r>
            <a:r>
              <a:rPr lang="en-US" altLang="en-US" sz="3600" dirty="0">
                <a:solidFill>
                  <a:srgbClr val="000000"/>
                </a:solidFill>
                <a:latin typeface="Abadi" panose="020B0604020104020204" pitchFamily="34" charset="0"/>
              </a:rPr>
              <a:t> 2001)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754" y="1085730"/>
            <a:ext cx="11007603" cy="521089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Both classification and multiple regression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Handles high numbers of variables (p &gt;&gt; n)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Handles categorical and continuous predictors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Two-class and multi-class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Robust to large numbers of noise variables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Incorporates interactions between variables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Internal cross validation</a:t>
            </a:r>
          </a:p>
          <a:p>
            <a:pPr>
              <a:lnSpc>
                <a:spcPct val="90000"/>
              </a:lnSpc>
            </a:pPr>
            <a:r>
              <a:rPr lang="en-US" altLang="en-US" i="1" dirty="0">
                <a:solidFill>
                  <a:srgbClr val="000000"/>
                </a:solidFill>
              </a:rPr>
              <a:t>Variable importance</a:t>
            </a:r>
            <a:r>
              <a:rPr lang="en-US" altLang="en-US" dirty="0">
                <a:solidFill>
                  <a:srgbClr val="000000"/>
                </a:solidFill>
              </a:rPr>
              <a:t>  is estimated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Proximities between cases are computed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solidFill>
                  <a:srgbClr val="000000"/>
                </a:solidFill>
              </a:rPr>
              <a:t>can be used to do clustering (unsupervised)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Extension of ‘Classification and regression trees’ (CART)</a:t>
            </a:r>
          </a:p>
          <a:p>
            <a:pPr>
              <a:lnSpc>
                <a:spcPct val="90000"/>
              </a:lnSpc>
            </a:pPr>
            <a:endParaRPr lang="en-US" altLang="en-US" sz="1350" b="1" dirty="0">
              <a:solidFill>
                <a:srgbClr val="000000"/>
              </a:solidFill>
            </a:endParaRPr>
          </a:p>
        </p:txBody>
      </p:sp>
      <p:pic>
        <p:nvPicPr>
          <p:cNvPr id="5" name="Picture 4" descr="washington-rain-forest"/>
          <p:cNvPicPr>
            <a:picLocks noChangeAspect="1" noChangeArrowheads="1"/>
          </p:cNvPicPr>
          <p:nvPr/>
        </p:nvPicPr>
        <p:blipFill>
          <a:blip r:embed="rId2">
            <a:lum bright="62000" contras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886" y="815641"/>
            <a:ext cx="4097021" cy="271854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485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60494" y="101747"/>
            <a:ext cx="3227686" cy="745629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Abadi" panose="020B0604020104020204" pitchFamily="34" charset="0"/>
              </a:rPr>
              <a:t>Random forest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10" y="1111170"/>
            <a:ext cx="11707792" cy="527226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625" dirty="0">
                <a:solidFill>
                  <a:srgbClr val="000000"/>
                </a:solidFill>
              </a:rPr>
              <a:t>Ensemble method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not one tree, but many</a:t>
            </a:r>
          </a:p>
          <a:p>
            <a:pPr>
              <a:lnSpc>
                <a:spcPct val="90000"/>
              </a:lnSpc>
            </a:pPr>
            <a:r>
              <a:rPr lang="en-US" altLang="en-US" sz="2625" dirty="0">
                <a:solidFill>
                  <a:srgbClr val="000000"/>
                </a:solidFill>
              </a:rPr>
              <a:t>Each single tree unpruned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Low bias, high variance</a:t>
            </a:r>
          </a:p>
          <a:p>
            <a:pPr>
              <a:lnSpc>
                <a:spcPct val="90000"/>
              </a:lnSpc>
            </a:pPr>
            <a:r>
              <a:rPr lang="en-US" altLang="en-US" sz="2625" dirty="0">
                <a:solidFill>
                  <a:srgbClr val="000000"/>
                </a:solidFill>
              </a:rPr>
              <a:t>Introduce two forms of ‘randomness’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Random training sets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Random variable selection at each node</a:t>
            </a:r>
          </a:p>
          <a:p>
            <a:pPr>
              <a:lnSpc>
                <a:spcPct val="90000"/>
              </a:lnSpc>
            </a:pPr>
            <a:r>
              <a:rPr lang="en-US" altLang="en-US" sz="2625" dirty="0">
                <a:solidFill>
                  <a:srgbClr val="000000"/>
                </a:solidFill>
              </a:rPr>
              <a:t>Effects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Individual trees are weak learners</a:t>
            </a:r>
          </a:p>
          <a:p>
            <a:pPr lvl="2">
              <a:lnSpc>
                <a:spcPct val="90000"/>
              </a:lnSpc>
            </a:pPr>
            <a:r>
              <a:rPr lang="en-US" altLang="en-US" sz="2625" dirty="0">
                <a:solidFill>
                  <a:srgbClr val="000000"/>
                </a:solidFill>
              </a:rPr>
              <a:t>Low bias, low correlation, high variance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Averaging over the trees retains low bias and reduces variance !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25" dirty="0">
                <a:solidFill>
                  <a:srgbClr val="000000"/>
                </a:solidFill>
              </a:rPr>
              <a:t>‘Bagging’ = </a:t>
            </a:r>
            <a:r>
              <a:rPr lang="en-US" altLang="en-US" sz="2625" b="1" dirty="0">
                <a:solidFill>
                  <a:srgbClr val="000000"/>
                </a:solidFill>
              </a:rPr>
              <a:t>b</a:t>
            </a:r>
            <a:r>
              <a:rPr lang="en-US" altLang="en-US" sz="2625" dirty="0">
                <a:solidFill>
                  <a:srgbClr val="000000"/>
                </a:solidFill>
              </a:rPr>
              <a:t>ootstrap </a:t>
            </a:r>
            <a:r>
              <a:rPr lang="en-US" altLang="en-US" sz="2625" b="1" dirty="0">
                <a:solidFill>
                  <a:srgbClr val="000000"/>
                </a:solidFill>
              </a:rPr>
              <a:t>ag</a:t>
            </a:r>
            <a:r>
              <a:rPr lang="en-US" altLang="en-US" sz="2625" dirty="0">
                <a:solidFill>
                  <a:srgbClr val="000000"/>
                </a:solidFill>
              </a:rPr>
              <a:t>gregation</a:t>
            </a:r>
          </a:p>
          <a:p>
            <a:pPr>
              <a:lnSpc>
                <a:spcPct val="90000"/>
              </a:lnSpc>
            </a:pPr>
            <a:endParaRPr lang="en-US" altLang="en-US" sz="135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31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353887" y="117896"/>
            <a:ext cx="2810312" cy="702078"/>
          </a:xfrm>
        </p:spPr>
        <p:txBody>
          <a:bodyPr>
            <a:noAutofit/>
          </a:bodyPr>
          <a:lstStyle/>
          <a:p>
            <a:r>
              <a:rPr lang="en-US" altLang="en-US" sz="4000" dirty="0">
                <a:latin typeface="Abadi" panose="020B0604020104020204" pitchFamily="34" charset="0"/>
              </a:rPr>
              <a:t>Bootstrap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9" y="1191545"/>
            <a:ext cx="9543327" cy="519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69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5444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Abadi" panose="020B0604020104020204" pitchFamily="34" charset="0"/>
              </a:rPr>
              <a:t>Internal cross validation using ‘out of bag’ samples</a:t>
            </a:r>
            <a:endParaRPr lang="en-GB" sz="3600" dirty="0">
              <a:latin typeface="Abadi" panose="020B06040201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6324"/>
            <a:ext cx="9694674" cy="547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61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78" y="88085"/>
            <a:ext cx="10788941" cy="855911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latin typeface="Abadi" panose="020B0604020104020204" pitchFamily="34" charset="0"/>
              </a:rPr>
              <a:t>New sample: each tree casts vote, then majority voting</a:t>
            </a:r>
            <a:endParaRPr lang="en-GB" sz="3600" dirty="0">
              <a:latin typeface="Abadi" panose="020B06040201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4" y="1313111"/>
            <a:ext cx="9983473" cy="54568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39417" y="3064476"/>
            <a:ext cx="1049110" cy="1076803"/>
          </a:xfrm>
          <a:prstGeom prst="rect">
            <a:avLst/>
          </a:prstGeom>
          <a:solidFill>
            <a:srgbClr val="FFFF00">
              <a:alpha val="38000"/>
            </a:srgbClr>
          </a:solidFill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9044247" y="1932709"/>
            <a:ext cx="453044" cy="446809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30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493460" y="0"/>
            <a:ext cx="4743082" cy="745629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Abadi" panose="020B0604020104020204" pitchFamily="34" charset="0"/>
              </a:rPr>
              <a:t>Variable importance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511" y="989635"/>
            <a:ext cx="11648981" cy="534750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Idea: change values of a variable and check whether the OOB error changes dramatically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For each variable x do the following: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For each tree of a forest permute the values of x for the ‘out of bag’ samples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Redo the classification for the OOB samples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Compare the OOB error with original OOB error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If unchanged, or just a bit: variable was not so important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If error increases a lot: variable was  important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Also: quantify the increase in impurity </a:t>
            </a:r>
          </a:p>
        </p:txBody>
      </p:sp>
    </p:spTree>
    <p:extLst>
      <p:ext uri="{BB962C8B-B14F-4D97-AF65-F5344CB8AC3E}">
        <p14:creationId xmlns:p14="http://schemas.microsoft.com/office/powerpoint/2010/main" val="1919416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E04C-AEC1-465F-9D4D-A7D1287D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Random Forest using caret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A799D-45D5-4C61-A1CF-419BAA984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>
                <a:solidFill>
                  <a:srgbClr val="FF0000"/>
                </a:solidFill>
              </a:rPr>
              <a:t>fit.rf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&lt;- train(</a:t>
            </a:r>
            <a:r>
              <a:rPr lang="en-GB" dirty="0" err="1"/>
              <a:t>medv</a:t>
            </a:r>
            <a:r>
              <a:rPr lang="en-GB" dirty="0"/>
              <a:t>~., data=training, method</a:t>
            </a:r>
            <a:r>
              <a:rPr lang="en-GB" dirty="0">
                <a:solidFill>
                  <a:srgbClr val="FF0000"/>
                </a:solidFill>
              </a:rPr>
              <a:t>="rf", </a:t>
            </a:r>
            <a:r>
              <a:rPr lang="en-GB" dirty="0"/>
              <a:t>metric="RMSE", </a:t>
            </a:r>
            <a:r>
              <a:rPr lang="en-GB" dirty="0" err="1"/>
              <a:t>preProc</a:t>
            </a:r>
            <a:r>
              <a:rPr lang="en-GB" dirty="0"/>
              <a:t>=c("</a:t>
            </a:r>
            <a:r>
              <a:rPr lang="en-GB" dirty="0" err="1"/>
              <a:t>center</a:t>
            </a:r>
            <a:r>
              <a:rPr lang="en-GB" dirty="0"/>
              <a:t>", "scale"), </a:t>
            </a:r>
            <a:r>
              <a:rPr lang="en-GB" dirty="0" err="1"/>
              <a:t>trControl</a:t>
            </a:r>
            <a:r>
              <a:rPr lang="en-GB" dirty="0"/>
              <a:t>=control)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63CA9-30D1-4250-B9BB-1F43F93C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35" y="3558275"/>
            <a:ext cx="8383994" cy="28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9238</TotalTime>
  <Words>728</Words>
  <Application>Microsoft Office PowerPoint</Application>
  <PresentationFormat>Widescreen</PresentationFormat>
  <Paragraphs>116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Abadi</vt:lpstr>
      <vt:lpstr>Arial</vt:lpstr>
      <vt:lpstr>Calibri</vt:lpstr>
      <vt:lpstr>Calibri Light</vt:lpstr>
      <vt:lpstr>Candara</vt:lpstr>
      <vt:lpstr>Lato Extended</vt:lpstr>
      <vt:lpstr>Office Theme</vt:lpstr>
      <vt:lpstr>     LM Big Data Management in Finance (36320) Birmingham Business School  </vt:lpstr>
      <vt:lpstr>Methods </vt:lpstr>
      <vt:lpstr>Decision Tree &amp; Random Forest </vt:lpstr>
      <vt:lpstr>What is a decision tree?</vt:lpstr>
      <vt:lpstr>Example binary classification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Random forests (Breiman 2001)</vt:lpstr>
      <vt:lpstr>Random forest</vt:lpstr>
      <vt:lpstr>Bootstrap</vt:lpstr>
      <vt:lpstr>Internal cross validation using ‘out of bag’ samples</vt:lpstr>
      <vt:lpstr>New sample: each tree casts vote, then majority voting</vt:lpstr>
      <vt:lpstr>Variable importance</vt:lpstr>
      <vt:lpstr>Random Forest using caret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Animesh Acharjee (Cancer and Genomic Sciences)</dc:creator>
  <cp:lastModifiedBy>Animesh Acharjee (Cancer and Genomic Sciences)</cp:lastModifiedBy>
  <cp:revision>300</cp:revision>
  <dcterms:created xsi:type="dcterms:W3CDTF">2021-10-16T23:34:08Z</dcterms:created>
  <dcterms:modified xsi:type="dcterms:W3CDTF">2025-03-09T22:04:18Z</dcterms:modified>
</cp:coreProperties>
</file>